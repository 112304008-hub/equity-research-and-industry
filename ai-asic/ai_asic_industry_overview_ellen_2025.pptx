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 id="2147483682" r:id="rId2"/>
    <p:sldMasterId id="2147483683" r:id="rId3"/>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83" r:id="rId13"/>
    <p:sldId id="282"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63B"/>
    <a:srgbClr val="FFF6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8B4CA2D-0E5A-42F5-86FC-584F03F9C6D9}">
  <a:tblStyle styleId="{C8B4CA2D-0E5A-42F5-86FC-584F03F9C6D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5B3F1780-09E0-4DCD-8390-57DA732C40BE}"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b="off" i="off"/>
      <a:tcStyle>
        <a:tcBdr/>
      </a:tcStyle>
    </a:seCell>
    <a:swCell>
      <a:tcTxStyle b="off" i="off"/>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b="off" i="off"/>
      <a:tcStyle>
        <a:tcBdr/>
      </a:tcStyle>
    </a:neCell>
    <a:nwCell>
      <a:tcTxStyle b="off" i="off"/>
      <a:tcStyle>
        <a:tcBdr/>
      </a:tcStyle>
    </a:nwCell>
  </a:tblStyle>
  <a:tblStyle styleId="{B77ADD4D-7306-4690-B546-0812AD84124E}"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256CC70-5E59-4EEF-B231-C3554830DDD7}"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96311397806027"/>
          <c:y val="7.1729270973424783E-2"/>
          <c:w val="0.85876667886943459"/>
          <c:h val="0.63595258216113137"/>
        </c:manualLayout>
      </c:layout>
      <c:barChart>
        <c:barDir val="col"/>
        <c:grouping val="clustered"/>
        <c:varyColors val="0"/>
        <c:ser>
          <c:idx val="0"/>
          <c:order val="0"/>
          <c:tx>
            <c:strRef>
              <c:f>工作表1!$B$1</c:f>
              <c:strCache>
                <c:ptCount val="1"/>
                <c:pt idx="0">
                  <c:v>16× TPU</c:v>
                </c:pt>
              </c:strCache>
            </c:strRef>
          </c:tx>
          <c:spPr>
            <a:solidFill>
              <a:srgbClr val="F1A63B"/>
            </a:solidFill>
            <a:ln>
              <a:noFill/>
            </a:ln>
            <a:effectLst/>
          </c:spPr>
          <c:invertIfNegative val="0"/>
          <c:cat>
            <c:strRef>
              <c:f>工作表1!$A$2:$A$6</c:f>
              <c:strCache>
                <c:ptCount val="5"/>
                <c:pt idx="0">
                  <c:v>ResNet-50 v1.5</c:v>
                </c:pt>
                <c:pt idx="1">
                  <c:v>SSD w/ ResNet-34</c:v>
                </c:pt>
                <c:pt idx="2">
                  <c:v>Mask-R-CNN</c:v>
                </c:pt>
                <c:pt idx="3">
                  <c:v>NMT</c:v>
                </c:pt>
                <c:pt idx="4">
                  <c:v>Transformer</c:v>
                </c:pt>
              </c:strCache>
            </c:strRef>
          </c:cat>
          <c:val>
            <c:numRef>
              <c:f>工作表1!$B$2:$B$6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0-3335-4F95-A39C-3BF52AB8F9A8}"/>
            </c:ext>
          </c:extLst>
        </c:ser>
        <c:ser>
          <c:idx val="1"/>
          <c:order val="1"/>
          <c:tx>
            <c:strRef>
              <c:f>工作表1!$C$1</c:f>
              <c:strCache>
                <c:ptCount val="1"/>
                <c:pt idx="0">
                  <c:v>16× GPU</c:v>
                </c:pt>
              </c:strCache>
            </c:strRef>
          </c:tx>
          <c:spPr>
            <a:solidFill>
              <a:schemeClr val="accent2"/>
            </a:solidFill>
            <a:ln>
              <a:noFill/>
            </a:ln>
            <a:effectLst/>
          </c:spPr>
          <c:invertIfNegative val="0"/>
          <c:cat>
            <c:strRef>
              <c:f>工作表1!$A$2:$A$6</c:f>
              <c:strCache>
                <c:ptCount val="5"/>
                <c:pt idx="0">
                  <c:v>ResNet-50 v1.5</c:v>
                </c:pt>
                <c:pt idx="1">
                  <c:v>SSD w/ ResNet-34</c:v>
                </c:pt>
                <c:pt idx="2">
                  <c:v>Mask-R-CNN</c:v>
                </c:pt>
                <c:pt idx="3">
                  <c:v>NMT</c:v>
                </c:pt>
                <c:pt idx="4">
                  <c:v>Transformer</c:v>
                </c:pt>
              </c:strCache>
            </c:strRef>
          </c:cat>
          <c:val>
            <c:numRef>
              <c:f>工作表1!$C$2:$C$6</c:f>
              <c:numCache>
                <c:formatCode>General</c:formatCode>
                <c:ptCount val="5"/>
                <c:pt idx="0">
                  <c:v>0.85</c:v>
                </c:pt>
                <c:pt idx="1">
                  <c:v>1.03</c:v>
                </c:pt>
                <c:pt idx="2">
                  <c:v>1.05</c:v>
                </c:pt>
                <c:pt idx="3">
                  <c:v>1.1200000000000001</c:v>
                </c:pt>
                <c:pt idx="4">
                  <c:v>0.92</c:v>
                </c:pt>
              </c:numCache>
            </c:numRef>
          </c:val>
          <c:extLst>
            <c:ext xmlns:c16="http://schemas.microsoft.com/office/drawing/2014/chart" uri="{C3380CC4-5D6E-409C-BE32-E72D297353CC}">
              <c16:uniqueId val="{00000001-3335-4F95-A39C-3BF52AB8F9A8}"/>
            </c:ext>
          </c:extLst>
        </c:ser>
        <c:dLbls>
          <c:showLegendKey val="0"/>
          <c:showVal val="0"/>
          <c:showCatName val="0"/>
          <c:showSerName val="0"/>
          <c:showPercent val="0"/>
          <c:showBubbleSize val="0"/>
        </c:dLbls>
        <c:gapWidth val="219"/>
        <c:overlap val="-27"/>
        <c:axId val="422241167"/>
        <c:axId val="422244047"/>
      </c:barChart>
      <c:catAx>
        <c:axId val="422241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422244047"/>
        <c:crosses val="autoZero"/>
        <c:auto val="1"/>
        <c:lblAlgn val="ctr"/>
        <c:lblOffset val="100"/>
        <c:noMultiLvlLbl val="0"/>
      </c:catAx>
      <c:valAx>
        <c:axId val="4222440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422241167"/>
        <c:crosses val="autoZero"/>
        <c:crossBetween val="between"/>
      </c:valAx>
      <c:spPr>
        <a:noFill/>
        <a:ln>
          <a:noFill/>
        </a:ln>
        <a:effectLst/>
      </c:spPr>
    </c:plotArea>
    <c:legend>
      <c:legendPos val="b"/>
      <c:layout>
        <c:manualLayout>
          <c:xMode val="edge"/>
          <c:yMode val="edge"/>
          <c:x val="0.27423229862277038"/>
          <c:y val="0.85739387133649136"/>
          <c:w val="0.45153540275445925"/>
          <c:h val="0.11931264033982815"/>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工作表1!$B$1</c:f>
              <c:strCache>
                <c:ptCount val="1"/>
                <c:pt idx="0">
                  <c:v>數列 1</c:v>
                </c:pt>
              </c:strCache>
            </c:strRef>
          </c:tx>
          <c:spPr>
            <a:solidFill>
              <a:srgbClr val="F1A63B"/>
            </a:solidFill>
            <a:ln>
              <a:noFill/>
            </a:ln>
            <a:effectLst/>
          </c:spPr>
          <c:invertIfNegative val="0"/>
          <c:cat>
            <c:strRef>
              <c:f>工作表1!$A$2:$A$6</c:f>
              <c:strCache>
                <c:ptCount val="5"/>
                <c:pt idx="0">
                  <c:v>世芯</c:v>
                </c:pt>
                <c:pt idx="1">
                  <c:v>創意</c:v>
                </c:pt>
                <c:pt idx="2">
                  <c:v>聯發科</c:v>
                </c:pt>
                <c:pt idx="3">
                  <c:v>Marwell</c:v>
                </c:pt>
                <c:pt idx="4">
                  <c:v>Booadcom</c:v>
                </c:pt>
              </c:strCache>
            </c:strRef>
          </c:cat>
          <c:val>
            <c:numRef>
              <c:f>工作表1!$B$2:$B$6</c:f>
              <c:numCache>
                <c:formatCode>General</c:formatCode>
                <c:ptCount val="5"/>
                <c:pt idx="0">
                  <c:v>23.5</c:v>
                </c:pt>
                <c:pt idx="1">
                  <c:v>30</c:v>
                </c:pt>
                <c:pt idx="2">
                  <c:v>48.4</c:v>
                </c:pt>
                <c:pt idx="3">
                  <c:v>50.38</c:v>
                </c:pt>
                <c:pt idx="4">
                  <c:v>67.260000000000005</c:v>
                </c:pt>
              </c:numCache>
            </c:numRef>
          </c:val>
          <c:extLst>
            <c:ext xmlns:c16="http://schemas.microsoft.com/office/drawing/2014/chart" uri="{C3380CC4-5D6E-409C-BE32-E72D297353CC}">
              <c16:uniqueId val="{00000000-E1E9-46D9-90AF-15402DB62936}"/>
            </c:ext>
          </c:extLst>
        </c:ser>
        <c:dLbls>
          <c:showLegendKey val="0"/>
          <c:showVal val="0"/>
          <c:showCatName val="0"/>
          <c:showSerName val="0"/>
          <c:showPercent val="0"/>
          <c:showBubbleSize val="0"/>
        </c:dLbls>
        <c:gapWidth val="219"/>
        <c:overlap val="-27"/>
        <c:axId val="692506991"/>
        <c:axId val="692507471"/>
      </c:barChart>
      <c:catAx>
        <c:axId val="692506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692507471"/>
        <c:crosses val="autoZero"/>
        <c:auto val="1"/>
        <c:lblAlgn val="ctr"/>
        <c:lblOffset val="100"/>
        <c:noMultiLvlLbl val="0"/>
      </c:catAx>
      <c:valAx>
        <c:axId val="692507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69250699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830672273395867"/>
          <c:y val="7.3643408809480754E-2"/>
          <c:w val="0.85014362544253352"/>
          <c:h val="0.72945825968553146"/>
        </c:manualLayout>
      </c:layout>
      <c:barChart>
        <c:barDir val="col"/>
        <c:grouping val="stacked"/>
        <c:varyColors val="0"/>
        <c:ser>
          <c:idx val="0"/>
          <c:order val="0"/>
          <c:tx>
            <c:strRef>
              <c:f>工作表1!$B$1</c:f>
              <c:strCache>
                <c:ptCount val="1"/>
                <c:pt idx="0">
                  <c:v>26Q1</c:v>
                </c:pt>
              </c:strCache>
            </c:strRef>
          </c:tx>
          <c:spPr>
            <a:solidFill>
              <a:schemeClr val="accent1"/>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工作表1!$B$2:$B$7</c:f>
              <c:numCache>
                <c:formatCode>General</c:formatCode>
                <c:ptCount val="6"/>
                <c:pt idx="0">
                  <c:v>10000</c:v>
                </c:pt>
                <c:pt idx="1">
                  <c:v>0</c:v>
                </c:pt>
                <c:pt idx="2">
                  <c:v>0</c:v>
                </c:pt>
                <c:pt idx="3">
                  <c:v>3000</c:v>
                </c:pt>
                <c:pt idx="4">
                  <c:v>0</c:v>
                </c:pt>
                <c:pt idx="5">
                  <c:v>0</c:v>
                </c:pt>
              </c:numCache>
            </c:numRef>
          </c:val>
          <c:extLst>
            <c:ext xmlns:c16="http://schemas.microsoft.com/office/drawing/2014/chart" uri="{C3380CC4-5D6E-409C-BE32-E72D297353CC}">
              <c16:uniqueId val="{00000000-E767-4147-8462-C1A0B2526BDD}"/>
            </c:ext>
          </c:extLst>
        </c:ser>
        <c:ser>
          <c:idx val="1"/>
          <c:order val="1"/>
          <c:tx>
            <c:strRef>
              <c:f>工作表1!$C$1</c:f>
              <c:strCache>
                <c:ptCount val="1"/>
                <c:pt idx="0">
                  <c:v>26Q2</c:v>
                </c:pt>
              </c:strCache>
            </c:strRef>
          </c:tx>
          <c:spPr>
            <a:solidFill>
              <a:schemeClr val="accent2"/>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工作表1!$C$2:$C$7</c:f>
              <c:numCache>
                <c:formatCode>General</c:formatCode>
                <c:ptCount val="6"/>
                <c:pt idx="0">
                  <c:v>25000</c:v>
                </c:pt>
                <c:pt idx="1">
                  <c:v>0</c:v>
                </c:pt>
                <c:pt idx="2">
                  <c:v>0</c:v>
                </c:pt>
                <c:pt idx="3">
                  <c:v>5000</c:v>
                </c:pt>
                <c:pt idx="4">
                  <c:v>1000</c:v>
                </c:pt>
                <c:pt idx="5">
                  <c:v>0</c:v>
                </c:pt>
              </c:numCache>
            </c:numRef>
          </c:val>
          <c:extLst>
            <c:ext xmlns:c16="http://schemas.microsoft.com/office/drawing/2014/chart" uri="{C3380CC4-5D6E-409C-BE32-E72D297353CC}">
              <c16:uniqueId val="{00000001-E767-4147-8462-C1A0B2526BDD}"/>
            </c:ext>
          </c:extLst>
        </c:ser>
        <c:ser>
          <c:idx val="2"/>
          <c:order val="2"/>
          <c:tx>
            <c:strRef>
              <c:f>工作表1!$D$1</c:f>
              <c:strCache>
                <c:ptCount val="1"/>
                <c:pt idx="0">
                  <c:v>26Q3</c:v>
                </c:pt>
              </c:strCache>
            </c:strRef>
          </c:tx>
          <c:spPr>
            <a:solidFill>
              <a:schemeClr val="accent3"/>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工作表1!$D$2:$D$7</c:f>
              <c:numCache>
                <c:formatCode>General</c:formatCode>
                <c:ptCount val="6"/>
                <c:pt idx="0">
                  <c:v>55000</c:v>
                </c:pt>
                <c:pt idx="1">
                  <c:v>0</c:v>
                </c:pt>
                <c:pt idx="2">
                  <c:v>0</c:v>
                </c:pt>
                <c:pt idx="3">
                  <c:v>6000</c:v>
                </c:pt>
                <c:pt idx="4">
                  <c:v>3000</c:v>
                </c:pt>
                <c:pt idx="5">
                  <c:v>0</c:v>
                </c:pt>
              </c:numCache>
            </c:numRef>
          </c:val>
          <c:extLst>
            <c:ext xmlns:c16="http://schemas.microsoft.com/office/drawing/2014/chart" uri="{C3380CC4-5D6E-409C-BE32-E72D297353CC}">
              <c16:uniqueId val="{00000002-E767-4147-8462-C1A0B2526BDD}"/>
            </c:ext>
          </c:extLst>
        </c:ser>
        <c:ser>
          <c:idx val="3"/>
          <c:order val="3"/>
          <c:tx>
            <c:strRef>
              <c:f>工作表1!$E$1</c:f>
              <c:strCache>
                <c:ptCount val="1"/>
                <c:pt idx="0">
                  <c:v>26Q4</c:v>
                </c:pt>
              </c:strCache>
            </c:strRef>
          </c:tx>
          <c:spPr>
            <a:solidFill>
              <a:schemeClr val="accent4"/>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工作表1!$E$2:$E$7</c:f>
              <c:numCache>
                <c:formatCode>General</c:formatCode>
                <c:ptCount val="6"/>
                <c:pt idx="0">
                  <c:v>85000</c:v>
                </c:pt>
                <c:pt idx="1">
                  <c:v>0</c:v>
                </c:pt>
                <c:pt idx="2">
                  <c:v>0</c:v>
                </c:pt>
                <c:pt idx="3">
                  <c:v>6500</c:v>
                </c:pt>
                <c:pt idx="4">
                  <c:v>4000</c:v>
                </c:pt>
                <c:pt idx="5">
                  <c:v>2000</c:v>
                </c:pt>
              </c:numCache>
            </c:numRef>
          </c:val>
          <c:extLst>
            <c:ext xmlns:c16="http://schemas.microsoft.com/office/drawing/2014/chart" uri="{C3380CC4-5D6E-409C-BE32-E72D297353CC}">
              <c16:uniqueId val="{00000003-E767-4147-8462-C1A0B2526BDD}"/>
            </c:ext>
          </c:extLst>
        </c:ser>
        <c:ser>
          <c:idx val="4"/>
          <c:order val="4"/>
          <c:tx>
            <c:strRef>
              <c:f>工作表1!$F$1</c:f>
              <c:strCache>
                <c:ptCount val="1"/>
                <c:pt idx="0">
                  <c:v>27Q1</c:v>
                </c:pt>
              </c:strCache>
            </c:strRef>
          </c:tx>
          <c:spPr>
            <a:solidFill>
              <a:schemeClr val="accent5"/>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工作表1!$F$2:$F$7</c:f>
              <c:numCache>
                <c:formatCode>General</c:formatCode>
                <c:ptCount val="6"/>
                <c:pt idx="0">
                  <c:v>110000</c:v>
                </c:pt>
                <c:pt idx="1">
                  <c:v>20000</c:v>
                </c:pt>
                <c:pt idx="2">
                  <c:v>0</c:v>
                </c:pt>
                <c:pt idx="3">
                  <c:v>6500</c:v>
                </c:pt>
                <c:pt idx="4">
                  <c:v>4500</c:v>
                </c:pt>
                <c:pt idx="5">
                  <c:v>3000</c:v>
                </c:pt>
              </c:numCache>
            </c:numRef>
          </c:val>
          <c:extLst>
            <c:ext xmlns:c16="http://schemas.microsoft.com/office/drawing/2014/chart" uri="{C3380CC4-5D6E-409C-BE32-E72D297353CC}">
              <c16:uniqueId val="{00000004-E767-4147-8462-C1A0B2526BDD}"/>
            </c:ext>
          </c:extLst>
        </c:ser>
        <c:ser>
          <c:idx val="5"/>
          <c:order val="5"/>
          <c:tx>
            <c:strRef>
              <c:f>工作表1!$G$1</c:f>
              <c:strCache>
                <c:ptCount val="1"/>
                <c:pt idx="0">
                  <c:v>27Q2</c:v>
                </c:pt>
              </c:strCache>
            </c:strRef>
          </c:tx>
          <c:spPr>
            <a:solidFill>
              <a:schemeClr val="accent6"/>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工作表1!$G$2:$G$7</c:f>
              <c:numCache>
                <c:formatCode>General</c:formatCode>
                <c:ptCount val="6"/>
                <c:pt idx="0">
                  <c:v>120000</c:v>
                </c:pt>
                <c:pt idx="1">
                  <c:v>60000</c:v>
                </c:pt>
                <c:pt idx="2">
                  <c:v>20000</c:v>
                </c:pt>
                <c:pt idx="3">
                  <c:v>6000</c:v>
                </c:pt>
                <c:pt idx="4">
                  <c:v>5000</c:v>
                </c:pt>
                <c:pt idx="5">
                  <c:v>4000</c:v>
                </c:pt>
              </c:numCache>
            </c:numRef>
          </c:val>
          <c:extLst>
            <c:ext xmlns:c16="http://schemas.microsoft.com/office/drawing/2014/chart" uri="{C3380CC4-5D6E-409C-BE32-E72D297353CC}">
              <c16:uniqueId val="{00000005-E767-4147-8462-C1A0B2526BDD}"/>
            </c:ext>
          </c:extLst>
        </c:ser>
        <c:ser>
          <c:idx val="6"/>
          <c:order val="6"/>
          <c:tx>
            <c:strRef>
              <c:f>工作表1!$H$1</c:f>
              <c:strCache>
                <c:ptCount val="1"/>
                <c:pt idx="0">
                  <c:v>27Q3</c:v>
                </c:pt>
              </c:strCache>
            </c:strRef>
          </c:tx>
          <c:spPr>
            <a:solidFill>
              <a:schemeClr val="accent1">
                <a:lumMod val="60000"/>
              </a:schemeClr>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工作表1!$H$2:$H$7</c:f>
              <c:numCache>
                <c:formatCode>General</c:formatCode>
                <c:ptCount val="6"/>
                <c:pt idx="0">
                  <c:v>120000</c:v>
                </c:pt>
                <c:pt idx="1">
                  <c:v>100000</c:v>
                </c:pt>
                <c:pt idx="2">
                  <c:v>60000</c:v>
                </c:pt>
                <c:pt idx="3">
                  <c:v>5000</c:v>
                </c:pt>
                <c:pt idx="4">
                  <c:v>5000</c:v>
                </c:pt>
                <c:pt idx="5">
                  <c:v>4000</c:v>
                </c:pt>
              </c:numCache>
            </c:numRef>
          </c:val>
          <c:extLst>
            <c:ext xmlns:c16="http://schemas.microsoft.com/office/drawing/2014/chart" uri="{C3380CC4-5D6E-409C-BE32-E72D297353CC}">
              <c16:uniqueId val="{00000006-E767-4147-8462-C1A0B2526BDD}"/>
            </c:ext>
          </c:extLst>
        </c:ser>
        <c:ser>
          <c:idx val="7"/>
          <c:order val="7"/>
          <c:tx>
            <c:strRef>
              <c:f>工作表1!$I$1</c:f>
              <c:strCache>
                <c:ptCount val="1"/>
                <c:pt idx="0">
                  <c:v>27Q4</c:v>
                </c:pt>
              </c:strCache>
            </c:strRef>
          </c:tx>
          <c:spPr>
            <a:solidFill>
              <a:schemeClr val="accent2">
                <a:lumMod val="60000"/>
              </a:schemeClr>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工作表1!$I$2:$I$7</c:f>
              <c:numCache>
                <c:formatCode>General</c:formatCode>
                <c:ptCount val="6"/>
                <c:pt idx="0">
                  <c:v>115000</c:v>
                </c:pt>
                <c:pt idx="1">
                  <c:v>140000</c:v>
                </c:pt>
                <c:pt idx="2">
                  <c:v>100000</c:v>
                </c:pt>
                <c:pt idx="3">
                  <c:v>4000</c:v>
                </c:pt>
                <c:pt idx="4">
                  <c:v>4000</c:v>
                </c:pt>
                <c:pt idx="5">
                  <c:v>3000</c:v>
                </c:pt>
              </c:numCache>
            </c:numRef>
          </c:val>
          <c:extLst>
            <c:ext xmlns:c16="http://schemas.microsoft.com/office/drawing/2014/chart" uri="{C3380CC4-5D6E-409C-BE32-E72D297353CC}">
              <c16:uniqueId val="{00000007-E767-4147-8462-C1A0B2526BDD}"/>
            </c:ext>
          </c:extLst>
        </c:ser>
        <c:ser>
          <c:idx val="8"/>
          <c:order val="8"/>
          <c:tx>
            <c:strRef>
              <c:f>工作表1!$J$1</c:f>
              <c:strCache>
                <c:ptCount val="1"/>
                <c:pt idx="0">
                  <c:v>28Q1</c:v>
                </c:pt>
              </c:strCache>
            </c:strRef>
          </c:tx>
          <c:spPr>
            <a:solidFill>
              <a:schemeClr val="accent3">
                <a:lumMod val="60000"/>
              </a:schemeClr>
            </a:solidFill>
            <a:ln>
              <a:noFill/>
            </a:ln>
            <a:effectLst/>
          </c:spPr>
          <c:invertIfNegative val="0"/>
          <c:cat>
            <c:strRef>
              <c:f>工作表1!$A$2:$A$7</c:f>
              <c:strCache>
                <c:ptCount val="6"/>
                <c:pt idx="0">
                  <c:v>AWS_T3</c:v>
                </c:pt>
                <c:pt idx="1">
                  <c:v>AWS_T4</c:v>
                </c:pt>
                <c:pt idx="2">
                  <c:v>TPUv9</c:v>
                </c:pt>
                <c:pt idx="3">
                  <c:v>GUC_X1</c:v>
                </c:pt>
                <c:pt idx="4">
                  <c:v>GUC_X2</c:v>
                </c:pt>
                <c:pt idx="5">
                  <c:v>GUC_X3</c:v>
                </c:pt>
              </c:strCache>
            </c:strRef>
          </c:cat>
          <c:val>
            <c:numRef>
              <c:f>工作表1!$J$2:$J$7</c:f>
              <c:numCache>
                <c:formatCode>General</c:formatCode>
                <c:ptCount val="6"/>
                <c:pt idx="0">
                  <c:v>110000</c:v>
                </c:pt>
                <c:pt idx="1">
                  <c:v>160000</c:v>
                </c:pt>
                <c:pt idx="2">
                  <c:v>120000</c:v>
                </c:pt>
                <c:pt idx="3">
                  <c:v>4000</c:v>
                </c:pt>
                <c:pt idx="4">
                  <c:v>3000</c:v>
                </c:pt>
                <c:pt idx="5">
                  <c:v>3000</c:v>
                </c:pt>
              </c:numCache>
            </c:numRef>
          </c:val>
          <c:extLst>
            <c:ext xmlns:c16="http://schemas.microsoft.com/office/drawing/2014/chart" uri="{C3380CC4-5D6E-409C-BE32-E72D297353CC}">
              <c16:uniqueId val="{00000008-E767-4147-8462-C1A0B2526BDD}"/>
            </c:ext>
          </c:extLst>
        </c:ser>
        <c:dLbls>
          <c:showLegendKey val="0"/>
          <c:showVal val="0"/>
          <c:showCatName val="0"/>
          <c:showSerName val="0"/>
          <c:showPercent val="0"/>
          <c:showBubbleSize val="0"/>
        </c:dLbls>
        <c:gapWidth val="150"/>
        <c:overlap val="100"/>
        <c:axId val="346898464"/>
        <c:axId val="346900384"/>
      </c:barChart>
      <c:catAx>
        <c:axId val="346898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346900384"/>
        <c:crosses val="autoZero"/>
        <c:auto val="1"/>
        <c:lblAlgn val="ctr"/>
        <c:lblOffset val="100"/>
        <c:noMultiLvlLbl val="0"/>
      </c:catAx>
      <c:valAx>
        <c:axId val="346900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346898464"/>
        <c:crosses val="autoZero"/>
        <c:crossBetween val="between"/>
      </c:valAx>
      <c:spPr>
        <a:noFill/>
        <a:ln>
          <a:noFill/>
        </a:ln>
        <a:effectLst/>
      </c:spPr>
    </c:plotArea>
    <c:legend>
      <c:legendPos val="b"/>
      <c:layout>
        <c:manualLayout>
          <c:xMode val="edge"/>
          <c:yMode val="edge"/>
          <c:x val="2.2746802119838497E-2"/>
          <c:y val="0.91984413111584262"/>
          <c:w val="0.94188628660846463"/>
          <c:h val="8.0155868884157391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9e7b5b26f9_4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39e7b5b26f9_4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03" name="Google Shape;203;g39e7b5b26f9_4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9e7b5b26f9_4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9e7b5b26f9_4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16" name="Google Shape;216;g39e7b5b26f9_4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9096ecf8d5_0_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29096ecf8d5_0_2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29096ecf8d5_0_2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9e7b5b26f9_4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9e7b5b26f9_4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TW"/>
              <a:t>IP 台廠 力旺 M31</a:t>
            </a:r>
            <a:endParaRPr/>
          </a:p>
        </p:txBody>
      </p:sp>
      <p:sp>
        <p:nvSpPr>
          <p:cNvPr id="258" name="Google Shape;258;g39e7b5b26f9_4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9e7b5b26f9_4_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g39e7b5b26f9_4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03" name="Google Shape;303;g39e7b5b26f9_4_1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985df3ff9f_9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g3985df3ff9f_9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25" name="Google Shape;325;g3985df3ff9f_9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9ed3ec4fb5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g39ed3ec4fb5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zh-TW" sz="1200">
                <a:solidFill>
                  <a:schemeClr val="dk1"/>
                </a:solidFill>
                <a:latin typeface="Microsoft JhengHei"/>
                <a:ea typeface="Microsoft JhengHei"/>
                <a:cs typeface="Microsoft JhengHei"/>
                <a:sym typeface="Microsoft JhengHei"/>
              </a:rPr>
              <a:t>而 AI 模型推理端因模型權重已經固定，僅需執行大量矩陣運算，對運算精度的要求也較訓練端低，對於 ASIC</a:t>
            </a:r>
            <a:endParaRPr/>
          </a:p>
        </p:txBody>
      </p:sp>
      <p:sp>
        <p:nvSpPr>
          <p:cNvPr id="352" name="Google Shape;352;g39ed3ec4fb5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9ed3ec4fb5_4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g39ed3ec4fb5_4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80" name="Google Shape;380;g39ed3ec4fb5_4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9e7b5b26f9_4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g39e7b5b26f9_4_2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zh-TW"/>
              <a:t>IP 台廠 力旺 M31</a:t>
            </a:r>
            <a:endParaRPr/>
          </a:p>
        </p:txBody>
      </p:sp>
      <p:sp>
        <p:nvSpPr>
          <p:cNvPr id="426" name="Google Shape;426;g39e7b5b26f9_4_2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56" name="Google Shape;256;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32" name="Google Shape;232;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9096ecf8d5_0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1" name="Google Shape;531;g29096ecf8d5_0_2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g29096ecf8d5_0_2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9ed3ec4fb5_4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g39ed3ec4fb5_4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545" name="Google Shape;545;g39ed3ec4fb5_4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9d28bb33c7_1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3" name="Google Shape;583;g39d28bb33c7_10_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t>欸做這頁的你看一下這邊～</a:t>
            </a:r>
            <a:br>
              <a:rPr lang="zh-TW"/>
            </a:br>
            <a:r>
              <a:rPr lang="zh-TW"/>
              <a:t>這張主要在說的是輝達毛利太高+晶片遞延會造成資料中心建置時程延後（這段直接用敘述不用放圖) +CSP需要有議價本錢，可以稍微寫一下剩下沒寫到的兩點</a:t>
            </a:r>
            <a:br>
              <a:rPr lang="zh-TW"/>
            </a:br>
            <a:endParaRPr/>
          </a:p>
        </p:txBody>
      </p:sp>
      <p:sp>
        <p:nvSpPr>
          <p:cNvPr id="584" name="Google Shape;584;g39d28bb33c7_10_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9e7b5b26f9_4_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g39e7b5b26f9_4_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9e7b5b26f9_4_3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a1bf8e673f0143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a1bf8e673f0143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g2a1bf8e673f0143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9e987acb9d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g39e987acb9d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g39e987acb9d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39e987acb9d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39e987acb9d_1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4" name="Google Shape;724;g39e987acb9d_1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9096ecf8d5_0_2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9096ecf8d5_0_2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3" name="Google Shape;753;g29096ecf8d5_0_2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398062790e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398062790e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6" name="Google Shape;766;g398062790e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98062790ef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98062790ef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9" name="Google Shape;789;g398062790ef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39d28bb33c7_2_2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39d28bb33c7_2_2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8" name="Google Shape;818;g39d28bb33c7_2_2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3985965b7ad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3985965b7ad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g3985965b7ad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39e1ed75b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39e1ed75b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3" name="Google Shape;873;g39e1ed75b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9096ecf8d5_0_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9096ecf8d5_0_2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g29096ecf8d5_0_2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985b72164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3985b72164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915" name="Google Shape;915;g3985b72164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含輔助字幕的內容"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含輔助字幕的圖片"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300" cy="3655200"/>
          </a:xfrm>
          <a:prstGeom prst="rect">
            <a:avLst/>
          </a:prstGeom>
          <a:noFill/>
          <a:ln>
            <a:noFill/>
          </a:ln>
        </p:spPr>
      </p:sp>
      <p:sp>
        <p:nvSpPr>
          <p:cNvPr id="109" name="Google Shape;109;p22"/>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26"/>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34" name="Google Shape;134;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5" name="Google Shape;135;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6" name="Google Shape;136;p26"/>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9" name="Google Shape;139;p27"/>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40" name="Google Shape;140;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1" name="Google Shape;141;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2" name="Google Shape;142;p27"/>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2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6" name="Google Shape;146;p2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8" name="Google Shape;148;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9" name="Google Shape;149;p28"/>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2" name="Google Shape;152;p29"/>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3" name="Google Shape;153;p29"/>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4" name="Google Shape;154;p2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55" name="Google Shape;155;p29"/>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6" name="Google Shape;156;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7" name="Google Shape;157;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8" name="Google Shape;158;p29"/>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1" name="Google Shape;161;p3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2" name="Google Shape;162;p3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3" name="Google Shape;163;p30"/>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164"/>
        <p:cNvGrpSpPr/>
        <p:nvPr/>
      </p:nvGrpSpPr>
      <p:grpSpPr>
        <a:xfrm>
          <a:off x="0" y="0"/>
          <a:ext cx="0" cy="0"/>
          <a:chOff x="0" y="0"/>
          <a:chExt cx="0" cy="0"/>
        </a:xfrm>
      </p:grpSpPr>
      <p:sp>
        <p:nvSpPr>
          <p:cNvPr id="165" name="Google Shape;165;p3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7" name="Google Shape;167;p31"/>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含輔助字幕的內容" type="objTx">
  <p:cSld name="OBJECT_WITH_CAPTION_TEXT">
    <p:spTree>
      <p:nvGrpSpPr>
        <p:cNvPr id="1" name="Shape 168"/>
        <p:cNvGrpSpPr/>
        <p:nvPr/>
      </p:nvGrpSpPr>
      <p:grpSpPr>
        <a:xfrm>
          <a:off x="0" y="0"/>
          <a:ext cx="0" cy="0"/>
          <a:chOff x="0" y="0"/>
          <a:chExt cx="0" cy="0"/>
        </a:xfrm>
      </p:grpSpPr>
      <p:sp>
        <p:nvSpPr>
          <p:cNvPr id="169" name="Google Shape;169;p3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2"/>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71" name="Google Shape;171;p32"/>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72" name="Google Shape;172;p3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3" name="Google Shape;173;p3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4" name="Google Shape;174;p32"/>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含輔助字幕的圖片" type="picTx">
  <p:cSld name="PICTURE_WITH_CAPTION_TEXT">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7" name="Google Shape;177;p33"/>
          <p:cNvSpPr>
            <a:spLocks noGrp="1"/>
          </p:cNvSpPr>
          <p:nvPr>
            <p:ph type="pic" idx="2"/>
          </p:nvPr>
        </p:nvSpPr>
        <p:spPr>
          <a:xfrm>
            <a:off x="3887391" y="740569"/>
            <a:ext cx="4629300" cy="3655200"/>
          </a:xfrm>
          <a:prstGeom prst="rect">
            <a:avLst/>
          </a:prstGeom>
          <a:noFill/>
          <a:ln>
            <a:noFill/>
          </a:ln>
        </p:spPr>
      </p:sp>
      <p:sp>
        <p:nvSpPr>
          <p:cNvPr id="178" name="Google Shape;178;p33"/>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79" name="Google Shape;179;p3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0" name="Google Shape;180;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3"/>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182"/>
        <p:cNvGrpSpPr/>
        <p:nvPr/>
      </p:nvGrpSpPr>
      <p:grpSpPr>
        <a:xfrm>
          <a:off x="0" y="0"/>
          <a:ext cx="0" cy="0"/>
          <a:chOff x="0" y="0"/>
          <a:chExt cx="0" cy="0"/>
        </a:xfrm>
      </p:grpSpPr>
      <p:sp>
        <p:nvSpPr>
          <p:cNvPr id="183" name="Google Shape;183;p3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4" name="Google Shape;184;p34"/>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5" name="Google Shape;185;p3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6" name="Google Shape;186;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7" name="Google Shape;187;p34"/>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188"/>
        <p:cNvGrpSpPr/>
        <p:nvPr/>
      </p:nvGrpSpPr>
      <p:grpSpPr>
        <a:xfrm>
          <a:off x="0" y="0"/>
          <a:ext cx="0" cy="0"/>
          <a:chOff x="0" y="0"/>
          <a:chExt cx="0" cy="0"/>
        </a:xfrm>
      </p:grpSpPr>
      <p:sp>
        <p:nvSpPr>
          <p:cNvPr id="189" name="Google Shape;189;p35"/>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0" name="Google Shape;190;p35"/>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1" name="Google Shape;191;p3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2" name="Google Shape;192;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3" name="Google Shape;193;p35"/>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194"/>
        <p:cNvGrpSpPr/>
        <p:nvPr/>
      </p:nvGrpSpPr>
      <p:grpSpPr>
        <a:xfrm>
          <a:off x="0" y="0"/>
          <a:ext cx="0" cy="0"/>
          <a:chOff x="0" y="0"/>
          <a:chExt cx="0" cy="0"/>
        </a:xfrm>
      </p:grpSpPr>
      <p:sp>
        <p:nvSpPr>
          <p:cNvPr id="195" name="Google Shape;195;p3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6" name="Google Shape;196;p3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7" name="Google Shape;197;p3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8" name="Google Shape;198;p3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9" name="Google Shape;199;p36"/>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1400" b="0" i="0" u="none" strike="noStrike" cap="none">
                <a:solidFill>
                  <a:schemeClr val="dk1"/>
                </a:solidFill>
                <a:latin typeface="Calibri"/>
                <a:ea typeface="Calibri"/>
                <a:cs typeface="Calibri"/>
                <a:sym typeface="Calibri"/>
              </a:defRPr>
            </a:lvl1pPr>
            <a:lvl2pPr marL="0" marR="0" lvl="1" indent="0" algn="r">
              <a:spcBef>
                <a:spcPts val="0"/>
              </a:spcBef>
              <a:buNone/>
              <a:defRPr sz="1400" b="0" i="0" u="none" strike="noStrike" cap="none">
                <a:solidFill>
                  <a:schemeClr val="dk1"/>
                </a:solidFill>
                <a:latin typeface="Calibri"/>
                <a:ea typeface="Calibri"/>
                <a:cs typeface="Calibri"/>
                <a:sym typeface="Calibri"/>
              </a:defRPr>
            </a:lvl2pPr>
            <a:lvl3pPr marL="0" marR="0" lvl="2" indent="0" algn="r">
              <a:spcBef>
                <a:spcPts val="0"/>
              </a:spcBef>
              <a:buNone/>
              <a:defRPr sz="1400" b="0" i="0" u="none" strike="noStrike" cap="none">
                <a:solidFill>
                  <a:schemeClr val="dk1"/>
                </a:solidFill>
                <a:latin typeface="Calibri"/>
                <a:ea typeface="Calibri"/>
                <a:cs typeface="Calibri"/>
                <a:sym typeface="Calibri"/>
              </a:defRPr>
            </a:lvl3pPr>
            <a:lvl4pPr marL="0" marR="0" lvl="3" indent="0" algn="r">
              <a:spcBef>
                <a:spcPts val="0"/>
              </a:spcBef>
              <a:buNone/>
              <a:defRPr sz="1400" b="0" i="0" u="none" strike="noStrike" cap="none">
                <a:solidFill>
                  <a:schemeClr val="dk1"/>
                </a:solidFill>
                <a:latin typeface="Calibri"/>
                <a:ea typeface="Calibri"/>
                <a:cs typeface="Calibri"/>
                <a:sym typeface="Calibri"/>
              </a:defRPr>
            </a:lvl4pPr>
            <a:lvl5pPr marL="0" marR="0" lvl="4" indent="0" algn="r">
              <a:spcBef>
                <a:spcPts val="0"/>
              </a:spcBef>
              <a:buNone/>
              <a:defRPr sz="1400" b="0" i="0" u="none" strike="noStrike" cap="none">
                <a:solidFill>
                  <a:schemeClr val="dk1"/>
                </a:solidFill>
                <a:latin typeface="Calibri"/>
                <a:ea typeface="Calibri"/>
                <a:cs typeface="Calibri"/>
                <a:sym typeface="Calibri"/>
              </a:defRPr>
            </a:lvl5pPr>
            <a:lvl6pPr marL="0" marR="0" lvl="5" indent="0" algn="r">
              <a:spcBef>
                <a:spcPts val="0"/>
              </a:spcBef>
              <a:buNone/>
              <a:defRPr sz="1400" b="0" i="0" u="none" strike="noStrike" cap="none">
                <a:solidFill>
                  <a:schemeClr val="dk1"/>
                </a:solidFill>
                <a:latin typeface="Calibri"/>
                <a:ea typeface="Calibri"/>
                <a:cs typeface="Calibri"/>
                <a:sym typeface="Calibri"/>
              </a:defRPr>
            </a:lvl6pPr>
            <a:lvl7pPr marL="0" marR="0" lvl="6" indent="0" algn="r">
              <a:spcBef>
                <a:spcPts val="0"/>
              </a:spcBef>
              <a:buNone/>
              <a:defRPr sz="1400" b="0" i="0" u="none" strike="noStrike" cap="none">
                <a:solidFill>
                  <a:schemeClr val="dk1"/>
                </a:solidFill>
                <a:latin typeface="Calibri"/>
                <a:ea typeface="Calibri"/>
                <a:cs typeface="Calibri"/>
                <a:sym typeface="Calibri"/>
              </a:defRPr>
            </a:lvl7pPr>
            <a:lvl8pPr marL="0" marR="0" lvl="7" indent="0" algn="r">
              <a:spcBef>
                <a:spcPts val="0"/>
              </a:spcBef>
              <a:buNone/>
              <a:defRPr sz="1400" b="0" i="0" u="none" strike="noStrike" cap="none">
                <a:solidFill>
                  <a:schemeClr val="dk1"/>
                </a:solidFill>
                <a:latin typeface="Calibri"/>
                <a:ea typeface="Calibri"/>
                <a:cs typeface="Calibri"/>
                <a:sym typeface="Calibri"/>
              </a:defRPr>
            </a:lvl8pPr>
            <a:lvl9pPr marL="0" marR="0" lvl="8" indent="0" algn="r">
              <a:spcBef>
                <a:spcPts val="0"/>
              </a:spcBef>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2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8" name="Google Shape;128;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6982385" y="4767262"/>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3.png"/><Relationship Id="rId5" Type="http://schemas.openxmlformats.org/officeDocument/2006/relationships/hyperlink" Target="https://khairy2011.medium.com/?source=post_page-----3f5a19d89e38--------------------------------" TargetMode="External"/><Relationship Id="rId4" Type="http://schemas.openxmlformats.org/officeDocument/2006/relationships/hyperlink" Target="https://khairy2011.medium.com/tpu-vs-gpu-vs-cerebras-vs-graphcore-a-fair-comparison-between-ml-hardware-3f5a19d89e38"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3.xml"/><Relationship Id="rId5" Type="http://schemas.openxmlformats.org/officeDocument/2006/relationships/chart" Target="../charts/char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3.xml"/><Relationship Id="rId5" Type="http://schemas.openxmlformats.org/officeDocument/2006/relationships/image" Target="../media/image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chart" Target="../charts/chart3.xml"/><Relationship Id="rId5" Type="http://schemas.openxmlformats.org/officeDocument/2006/relationships/image" Target="../media/image9.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0.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1.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hyperlink" Target="https://www.ciodive.com/news/broadcom-vmware-vcf-adoption-second-phase/759406/?utm_source=chatgpt.com" TargetMode="Externa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2.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7"/>
          <p:cNvSpPr/>
          <p:nvPr/>
        </p:nvSpPr>
        <p:spPr>
          <a:xfrm>
            <a:off x="5790235" y="-1"/>
            <a:ext cx="3354000" cy="5143500"/>
          </a:xfrm>
          <a:prstGeom prst="rect">
            <a:avLst/>
          </a:prstGeom>
          <a:solidFill>
            <a:srgbClr val="F8A937"/>
          </a:solidFill>
          <a:ln>
            <a:noFill/>
          </a:ln>
          <a:effectLst>
            <a:outerShdw blurRad="469900" dist="38100" algn="l" rotWithShape="0">
              <a:srgbClr val="000000">
                <a:alpha val="3843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icrosoft JhengHei"/>
              <a:ea typeface="Microsoft JhengHei"/>
              <a:cs typeface="Microsoft JhengHei"/>
              <a:sym typeface="Microsoft JhengHei"/>
            </a:endParaRPr>
          </a:p>
        </p:txBody>
      </p:sp>
      <p:sp>
        <p:nvSpPr>
          <p:cNvPr id="206" name="Google Shape;206;p37"/>
          <p:cNvSpPr/>
          <p:nvPr/>
        </p:nvSpPr>
        <p:spPr>
          <a:xfrm>
            <a:off x="0" y="1920680"/>
            <a:ext cx="445800" cy="1265100"/>
          </a:xfrm>
          <a:prstGeom prst="rect">
            <a:avLst/>
          </a:prstGeom>
          <a:solidFill>
            <a:srgbClr val="F8A937"/>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icrosoft JhengHei"/>
              <a:ea typeface="Microsoft JhengHei"/>
              <a:cs typeface="Microsoft JhengHei"/>
              <a:sym typeface="Microsoft JhengHei"/>
            </a:endParaRPr>
          </a:p>
        </p:txBody>
      </p:sp>
      <p:sp>
        <p:nvSpPr>
          <p:cNvPr id="207" name="Google Shape;207;p37"/>
          <p:cNvSpPr/>
          <p:nvPr/>
        </p:nvSpPr>
        <p:spPr>
          <a:xfrm>
            <a:off x="0" y="3437433"/>
            <a:ext cx="445800" cy="12651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icrosoft JhengHei"/>
              <a:ea typeface="Microsoft JhengHei"/>
              <a:cs typeface="Microsoft JhengHei"/>
              <a:sym typeface="Microsoft JhengHei"/>
            </a:endParaRPr>
          </a:p>
        </p:txBody>
      </p:sp>
      <p:sp>
        <p:nvSpPr>
          <p:cNvPr id="208" name="Google Shape;208;p37"/>
          <p:cNvSpPr/>
          <p:nvPr/>
        </p:nvSpPr>
        <p:spPr>
          <a:xfrm>
            <a:off x="0" y="403928"/>
            <a:ext cx="445800" cy="12651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Microsoft JhengHei"/>
              <a:ea typeface="Microsoft JhengHei"/>
              <a:cs typeface="Microsoft JhengHei"/>
              <a:sym typeface="Microsoft JhengHei"/>
            </a:endParaRPr>
          </a:p>
        </p:txBody>
      </p:sp>
      <p:sp>
        <p:nvSpPr>
          <p:cNvPr id="209" name="Google Shape;209;p37"/>
          <p:cNvSpPr txBox="1"/>
          <p:nvPr/>
        </p:nvSpPr>
        <p:spPr>
          <a:xfrm>
            <a:off x="1037701" y="1920669"/>
            <a:ext cx="4703100" cy="623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zh-TW" sz="3600" b="1" i="0" u="none" strike="noStrike" cap="none">
                <a:solidFill>
                  <a:srgbClr val="595959"/>
                </a:solidFill>
                <a:latin typeface="Microsoft JhengHei"/>
                <a:ea typeface="Microsoft JhengHei"/>
                <a:cs typeface="Microsoft JhengHei"/>
                <a:sym typeface="Microsoft JhengHei"/>
              </a:rPr>
              <a:t>AI ASIC</a:t>
            </a:r>
            <a:r>
              <a:rPr lang="zh-TW" sz="3600" b="1">
                <a:solidFill>
                  <a:srgbClr val="595959"/>
                </a:solidFill>
                <a:latin typeface="Microsoft JhengHei"/>
                <a:ea typeface="Microsoft JhengHei"/>
                <a:cs typeface="Microsoft JhengHei"/>
                <a:sym typeface="Microsoft JhengHei"/>
              </a:rPr>
              <a:t> </a:t>
            </a:r>
            <a:r>
              <a:rPr lang="zh-TW" sz="3600" b="1" i="0" u="none" strike="noStrike" cap="none">
                <a:solidFill>
                  <a:srgbClr val="595959"/>
                </a:solidFill>
                <a:latin typeface="Microsoft JhengHei"/>
                <a:ea typeface="Microsoft JhengHei"/>
                <a:cs typeface="Microsoft JhengHei"/>
                <a:sym typeface="Microsoft JhengHei"/>
              </a:rPr>
              <a:t>產業概述</a:t>
            </a:r>
            <a:endParaRPr sz="3600" b="1" i="0" u="none" strike="noStrike" cap="none">
              <a:solidFill>
                <a:srgbClr val="595959"/>
              </a:solidFill>
              <a:latin typeface="Microsoft JhengHei"/>
              <a:ea typeface="Microsoft JhengHei"/>
              <a:cs typeface="Microsoft JhengHei"/>
              <a:sym typeface="Microsoft JhengHei"/>
            </a:endParaRPr>
          </a:p>
        </p:txBody>
      </p:sp>
      <p:sp>
        <p:nvSpPr>
          <p:cNvPr id="210" name="Google Shape;210;p37"/>
          <p:cNvSpPr txBox="1"/>
          <p:nvPr/>
        </p:nvSpPr>
        <p:spPr>
          <a:xfrm>
            <a:off x="1163950" y="2675225"/>
            <a:ext cx="3888000" cy="900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2700"/>
              </a:spcBef>
              <a:spcAft>
                <a:spcPts val="0"/>
              </a:spcAft>
              <a:buClr>
                <a:srgbClr val="000000"/>
              </a:buClr>
              <a:buSzPts val="1800"/>
              <a:buFont typeface="Arial"/>
              <a:buNone/>
            </a:pPr>
            <a:r>
              <a:rPr lang="zh-TW" sz="1800" b="1" i="0" u="none" strike="noStrike" cap="none">
                <a:solidFill>
                  <a:srgbClr val="595959"/>
                </a:solidFill>
                <a:latin typeface="Microsoft JhengHei"/>
                <a:ea typeface="Microsoft JhengHei"/>
                <a:cs typeface="Microsoft JhengHei"/>
                <a:sym typeface="Microsoft JhengHei"/>
              </a:rPr>
              <a:t>組員：</a:t>
            </a:r>
            <a:endParaRPr sz="1800" b="1">
              <a:solidFill>
                <a:srgbClr val="595959"/>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rgbClr val="595959"/>
                </a:solidFill>
                <a:latin typeface="Microsoft JhengHei"/>
                <a:ea typeface="Microsoft JhengHei"/>
                <a:cs typeface="Microsoft JhengHei"/>
                <a:sym typeface="Microsoft JhengHei"/>
              </a:rPr>
              <a:t>陳風年、楊子甫、鄭凱軒、邱歆媚、吳秉翰、林御庭</a:t>
            </a:r>
            <a:r>
              <a:rPr lang="zh-TW" sz="1800" b="1">
                <a:solidFill>
                  <a:srgbClr val="595959"/>
                </a:solidFill>
                <a:latin typeface="Microsoft JhengHei"/>
                <a:ea typeface="Microsoft JhengHei"/>
                <a:cs typeface="Microsoft JhengHei"/>
                <a:sym typeface="Microsoft JhengHei"/>
              </a:rPr>
              <a:t>、</a:t>
            </a:r>
            <a:r>
              <a:rPr lang="zh-TW" sz="1800" b="1" i="0" u="none" strike="noStrike" cap="none">
                <a:solidFill>
                  <a:srgbClr val="595959"/>
                </a:solidFill>
                <a:latin typeface="Microsoft JhengHei"/>
                <a:ea typeface="Microsoft JhengHei"/>
                <a:cs typeface="Microsoft JhengHei"/>
                <a:sym typeface="Microsoft JhengHei"/>
              </a:rPr>
              <a:t>謝亞臻、方翊倫</a:t>
            </a:r>
            <a:endParaRPr sz="1800" b="1" i="0" u="none" strike="noStrike" cap="none">
              <a:solidFill>
                <a:srgbClr val="595959"/>
              </a:solidFill>
              <a:latin typeface="Microsoft JhengHei"/>
              <a:ea typeface="Microsoft JhengHei"/>
              <a:cs typeface="Microsoft JhengHei"/>
              <a:sym typeface="Microsoft JhengHei"/>
            </a:endParaRPr>
          </a:p>
        </p:txBody>
      </p:sp>
      <p:pic>
        <p:nvPicPr>
          <p:cNvPr id="211" name="Google Shape;211;p37"/>
          <p:cNvPicPr preferRelativeResize="0"/>
          <p:nvPr/>
        </p:nvPicPr>
        <p:blipFill rotWithShape="1">
          <a:blip r:embed="rId3">
            <a:alphaModFix amt="14000"/>
          </a:blip>
          <a:srcRect/>
          <a:stretch/>
        </p:blipFill>
        <p:spPr>
          <a:xfrm rot="5400000">
            <a:off x="6260840" y="1778143"/>
            <a:ext cx="4023127" cy="1091821"/>
          </a:xfrm>
          <a:prstGeom prst="rect">
            <a:avLst/>
          </a:prstGeom>
          <a:noFill/>
          <a:ln>
            <a:noFill/>
          </a:ln>
        </p:spPr>
      </p:pic>
      <p:pic>
        <p:nvPicPr>
          <p:cNvPr id="212" name="Google Shape;212;p37"/>
          <p:cNvPicPr preferRelativeResize="0"/>
          <p:nvPr/>
        </p:nvPicPr>
        <p:blipFill rotWithShape="1">
          <a:blip r:embed="rId4">
            <a:alphaModFix/>
          </a:blip>
          <a:srcRect/>
          <a:stretch/>
        </p:blipFill>
        <p:spPr>
          <a:xfrm>
            <a:off x="6051039" y="4653643"/>
            <a:ext cx="2680851" cy="417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8"/>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219" name="Google Shape;219;p38"/>
          <p:cNvGrpSpPr/>
          <p:nvPr/>
        </p:nvGrpSpPr>
        <p:grpSpPr>
          <a:xfrm>
            <a:off x="242301" y="434035"/>
            <a:ext cx="484808" cy="484808"/>
            <a:chOff x="1628775" y="1381125"/>
            <a:chExt cx="1352700" cy="1352700"/>
          </a:xfrm>
        </p:grpSpPr>
        <p:sp>
          <p:nvSpPr>
            <p:cNvPr id="220" name="Google Shape;220;p38"/>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21" name="Google Shape;221;p38"/>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222" name="Google Shape;222;p38"/>
          <p:cNvSpPr txBox="1"/>
          <p:nvPr/>
        </p:nvSpPr>
        <p:spPr>
          <a:xfrm>
            <a:off x="727101" y="503338"/>
            <a:ext cx="7946400" cy="348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rgbClr val="000000"/>
                </a:solidFill>
                <a:latin typeface="Microsoft JhengHei"/>
                <a:ea typeface="Microsoft JhengHei"/>
                <a:cs typeface="Microsoft JhengHei"/>
                <a:sym typeface="Microsoft JhengHei"/>
              </a:rPr>
              <a:t>結論</a:t>
            </a:r>
            <a:endParaRPr sz="1800" b="1" i="0" u="none" strike="noStrike" cap="none">
              <a:solidFill>
                <a:srgbClr val="000000"/>
              </a:solidFill>
              <a:latin typeface="Microsoft JhengHei"/>
              <a:ea typeface="Microsoft JhengHei"/>
              <a:cs typeface="Microsoft JhengHei"/>
              <a:sym typeface="Microsoft JhengHei"/>
            </a:endParaRPr>
          </a:p>
        </p:txBody>
      </p:sp>
      <p:cxnSp>
        <p:nvCxnSpPr>
          <p:cNvPr id="223" name="Google Shape;223;p38"/>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224" name="Google Shape;224;p38"/>
          <p:cNvSpPr txBox="1"/>
          <p:nvPr/>
        </p:nvSpPr>
        <p:spPr>
          <a:xfrm>
            <a:off x="272775" y="4884250"/>
            <a:ext cx="6204600" cy="243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自行整理</a:t>
            </a:r>
            <a:endParaRPr sz="1100" i="0" u="none" strike="noStrike" cap="none" dirty="0">
              <a:solidFill>
                <a:srgbClr val="000000"/>
              </a:solidFill>
              <a:latin typeface="Arial"/>
              <a:ea typeface="Arial"/>
              <a:cs typeface="Arial"/>
              <a:sym typeface="Arial"/>
            </a:endParaRPr>
          </a:p>
        </p:txBody>
      </p:sp>
      <p:sp>
        <p:nvSpPr>
          <p:cNvPr id="225" name="Google Shape;225;p38"/>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2</a:t>
            </a:fld>
            <a:endParaRPr/>
          </a:p>
        </p:txBody>
      </p:sp>
      <p:sp>
        <p:nvSpPr>
          <p:cNvPr id="226" name="Google Shape;226;p38"/>
          <p:cNvSpPr/>
          <p:nvPr/>
        </p:nvSpPr>
        <p:spPr>
          <a:xfrm>
            <a:off x="3058584"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227" name="Google Shape;227;p38"/>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228" name="Google Shape;228;p38"/>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229" name="Google Shape;229;p38"/>
          <p:cNvSpPr/>
          <p:nvPr/>
        </p:nvSpPr>
        <p:spPr>
          <a:xfrm>
            <a:off x="1529295" y="2136"/>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Arial"/>
                <a:ea typeface="Arial"/>
                <a:cs typeface="Arial"/>
                <a:sym typeface="Arial"/>
              </a:rPr>
              <a:t>產業介紹</a:t>
            </a:r>
            <a:endParaRPr sz="1400" b="1" i="0" u="none" strike="noStrike" cap="none">
              <a:solidFill>
                <a:srgbClr val="C9B4A5"/>
              </a:solidFill>
              <a:latin typeface="Arial"/>
              <a:ea typeface="Arial"/>
              <a:cs typeface="Arial"/>
              <a:sym typeface="Arial"/>
            </a:endParaRPr>
          </a:p>
        </p:txBody>
      </p:sp>
      <p:sp>
        <p:nvSpPr>
          <p:cNvPr id="230" name="Google Shape;230;p38"/>
          <p:cNvSpPr/>
          <p:nvPr/>
        </p:nvSpPr>
        <p:spPr>
          <a:xfrm>
            <a:off x="7646438" y="2123"/>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FFFFFF"/>
                </a:solidFill>
                <a:latin typeface="Microsoft JhengHei"/>
                <a:ea typeface="Microsoft JhengHei"/>
                <a:cs typeface="Microsoft JhengHei"/>
                <a:sym typeface="Microsoft JhengHei"/>
              </a:rPr>
              <a:t>結論</a:t>
            </a:r>
            <a:endParaRPr sz="1100" b="0" i="0" u="none" strike="noStrike" cap="none">
              <a:solidFill>
                <a:srgbClr val="000000"/>
              </a:solidFill>
              <a:latin typeface="Arial"/>
              <a:ea typeface="Arial"/>
              <a:cs typeface="Arial"/>
              <a:sym typeface="Arial"/>
            </a:endParaRPr>
          </a:p>
        </p:txBody>
      </p:sp>
      <p:sp>
        <p:nvSpPr>
          <p:cNvPr id="231" name="Google Shape;231;p38"/>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grpSp>
        <p:nvGrpSpPr>
          <p:cNvPr id="232" name="Google Shape;232;p38"/>
          <p:cNvGrpSpPr/>
          <p:nvPr/>
        </p:nvGrpSpPr>
        <p:grpSpPr>
          <a:xfrm>
            <a:off x="342674" y="1022874"/>
            <a:ext cx="8389126" cy="3634441"/>
            <a:chOff x="342674" y="1022875"/>
            <a:chExt cx="8389126" cy="3202445"/>
          </a:xfrm>
        </p:grpSpPr>
        <p:sp>
          <p:nvSpPr>
            <p:cNvPr id="233" name="Google Shape;233;p38"/>
            <p:cNvSpPr/>
            <p:nvPr/>
          </p:nvSpPr>
          <p:spPr>
            <a:xfrm>
              <a:off x="356700" y="1296775"/>
              <a:ext cx="8375100" cy="1198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4" name="Google Shape;234;p38"/>
            <p:cNvSpPr/>
            <p:nvPr/>
          </p:nvSpPr>
          <p:spPr>
            <a:xfrm>
              <a:off x="356700" y="1022875"/>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產業介紹</a:t>
              </a:r>
              <a:endParaRPr sz="1400" b="1" i="0" u="none" strike="noStrike" cap="none">
                <a:solidFill>
                  <a:srgbClr val="000000"/>
                </a:solidFill>
                <a:latin typeface="Microsoft JhengHei"/>
                <a:ea typeface="Microsoft JhengHei"/>
                <a:cs typeface="Microsoft JhengHei"/>
                <a:sym typeface="Microsoft JhengHei"/>
              </a:endParaRPr>
            </a:p>
          </p:txBody>
        </p:sp>
        <p:sp>
          <p:nvSpPr>
            <p:cNvPr id="235" name="Google Shape;235;p38"/>
            <p:cNvSpPr/>
            <p:nvPr/>
          </p:nvSpPr>
          <p:spPr>
            <a:xfrm>
              <a:off x="356550" y="2839050"/>
              <a:ext cx="8375100" cy="7386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6" name="Google Shape;236;p38"/>
            <p:cNvSpPr/>
            <p:nvPr/>
          </p:nvSpPr>
          <p:spPr>
            <a:xfrm>
              <a:off x="356700" y="2579950"/>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成長動能</a:t>
              </a:r>
              <a:endParaRPr sz="1400" b="1" i="0" u="none" strike="noStrike" cap="none">
                <a:solidFill>
                  <a:srgbClr val="000000"/>
                </a:solidFill>
                <a:latin typeface="Microsoft JhengHei"/>
                <a:ea typeface="Microsoft JhengHei"/>
                <a:cs typeface="Microsoft JhengHei"/>
                <a:sym typeface="Microsoft JhengHei"/>
              </a:endParaRPr>
            </a:p>
          </p:txBody>
        </p:sp>
        <p:sp>
          <p:nvSpPr>
            <p:cNvPr id="237" name="Google Shape;237;p38"/>
            <p:cNvSpPr txBox="1"/>
            <p:nvPr/>
          </p:nvSpPr>
          <p:spPr>
            <a:xfrm>
              <a:off x="356400" y="1315250"/>
              <a:ext cx="8375100" cy="10104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雲端 AI ASIC 市場持續高速成長，預估2030 年市場規模將達 500 億美元，CAGR 約 25%。</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ASIC 雖在絕對算力和晶片間互聯方面無顯著勝於，但 AI ASIC 的可訂製化及成本優勢依舊為其在推論端鞏固市場定位。</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AI ASIC 供應鏈採台美分工，美方掌握前端設計與 IP，台廠專注特定應用與後端整合設計，雙方互補推動產業發展。</a:t>
              </a:r>
              <a:endParaRPr sz="1400" i="0" u="none" strike="noStrike" cap="none">
                <a:solidFill>
                  <a:schemeClr val="dk1"/>
                </a:solidFill>
                <a:latin typeface="Microsoft JhengHei"/>
                <a:ea typeface="Microsoft JhengHei"/>
                <a:cs typeface="Microsoft JhengHei"/>
                <a:sym typeface="Microsoft JhengHei"/>
              </a:endParaRPr>
            </a:p>
          </p:txBody>
        </p:sp>
        <p:sp>
          <p:nvSpPr>
            <p:cNvPr id="238" name="Google Shape;238;p38"/>
            <p:cNvSpPr txBox="1"/>
            <p:nvPr/>
          </p:nvSpPr>
          <p:spPr>
            <a:xfrm>
              <a:off x="356400" y="2845150"/>
              <a:ext cx="8361600" cy="6306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全球 CSP 持續擴張資本支出，自研 ASIC 以維持晶片自主與滿足低成本、高效運算需求。</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隨著 AI 應用逐步進入推論階段，晶片設計將更注重成本效益與特定場景優化，呈現客製化、高性價比及區域化趨勢，進一步推動 ASIC 需求成長。</a:t>
              </a:r>
              <a:endParaRPr sz="1400" i="0" u="none" strike="noStrike" cap="none">
                <a:solidFill>
                  <a:schemeClr val="dk1"/>
                </a:solidFill>
                <a:latin typeface="Microsoft JhengHei"/>
                <a:ea typeface="Microsoft JhengHei"/>
                <a:cs typeface="Microsoft JhengHei"/>
                <a:sym typeface="Microsoft JhengHei"/>
              </a:endParaRPr>
            </a:p>
          </p:txBody>
        </p:sp>
        <p:sp>
          <p:nvSpPr>
            <p:cNvPr id="239" name="Google Shape;239;p38"/>
            <p:cNvSpPr/>
            <p:nvPr/>
          </p:nvSpPr>
          <p:spPr>
            <a:xfrm>
              <a:off x="342975" y="3670620"/>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推薦個股</a:t>
              </a:r>
              <a:endParaRPr sz="1400" b="1" i="0" u="none" strike="noStrike" cap="none">
                <a:solidFill>
                  <a:srgbClr val="000000"/>
                </a:solidFill>
                <a:latin typeface="Microsoft JhengHei"/>
                <a:ea typeface="Microsoft JhengHei"/>
                <a:cs typeface="Microsoft JhengHei"/>
                <a:sym typeface="Microsoft JhengHei"/>
              </a:endParaRPr>
            </a:p>
          </p:txBody>
        </p:sp>
        <p:sp>
          <p:nvSpPr>
            <p:cNvPr id="240" name="Google Shape;240;p38"/>
            <p:cNvSpPr/>
            <p:nvPr/>
          </p:nvSpPr>
          <p:spPr>
            <a:xfrm>
              <a:off x="342825" y="3944520"/>
              <a:ext cx="8375100" cy="280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1" name="Google Shape;241;p38"/>
            <p:cNvSpPr txBox="1"/>
            <p:nvPr/>
          </p:nvSpPr>
          <p:spPr>
            <a:xfrm>
              <a:off x="342674" y="3937811"/>
              <a:ext cx="5513825" cy="250827"/>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博通( AVGO )</a:t>
              </a:r>
              <a:endParaRPr sz="1400" i="0" u="none" strike="noStrike" cap="none">
                <a:solidFill>
                  <a:schemeClr val="dk1"/>
                </a:solidFill>
                <a:latin typeface="Microsoft JhengHei"/>
                <a:ea typeface="Microsoft JhengHei"/>
                <a:cs typeface="Microsoft JhengHei"/>
                <a:sym typeface="Microsoft JhengHe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p:nvPr/>
        </p:nvSpPr>
        <p:spPr>
          <a:xfrm>
            <a:off x="6265158" y="1048038"/>
            <a:ext cx="303900" cy="3203100"/>
          </a:xfrm>
          <a:prstGeom prst="roundRect">
            <a:avLst>
              <a:gd name="adj" fmla="val 50000"/>
            </a:avLst>
          </a:prstGeom>
          <a:solidFill>
            <a:srgbClr val="F5E5D4"/>
          </a:solidFill>
          <a:ln>
            <a:noFill/>
          </a:ln>
          <a:effectLst>
            <a:outerShdw blurRad="241300" dist="38100" sx="102000" sy="102000" algn="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48" name="Google Shape;248;p39"/>
          <p:cNvSpPr/>
          <p:nvPr/>
        </p:nvSpPr>
        <p:spPr>
          <a:xfrm>
            <a:off x="58" y="0"/>
            <a:ext cx="5790300" cy="5143500"/>
          </a:xfrm>
          <a:prstGeom prst="rect">
            <a:avLst/>
          </a:prstGeom>
          <a:solidFill>
            <a:srgbClr val="F1A63B"/>
          </a:solidFill>
          <a:ln>
            <a:noFill/>
          </a:ln>
          <a:effectLst>
            <a:outerShdw blurRad="469900" dist="38100" algn="l" rotWithShape="0">
              <a:srgbClr val="000000">
                <a:alpha val="3882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dk1"/>
              </a:solidFill>
              <a:latin typeface="Microsoft JhengHei"/>
              <a:ea typeface="Microsoft JhengHei"/>
              <a:cs typeface="Microsoft JhengHei"/>
              <a:sym typeface="Microsoft JhengHei"/>
            </a:endParaRPr>
          </a:p>
        </p:txBody>
      </p:sp>
      <p:pic>
        <p:nvPicPr>
          <p:cNvPr id="249" name="Google Shape;249;p39"/>
          <p:cNvPicPr preferRelativeResize="0"/>
          <p:nvPr/>
        </p:nvPicPr>
        <p:blipFill rotWithShape="1">
          <a:blip r:embed="rId3">
            <a:alphaModFix/>
          </a:blip>
          <a:srcRect/>
          <a:stretch/>
        </p:blipFill>
        <p:spPr>
          <a:xfrm>
            <a:off x="7646482" y="4902041"/>
            <a:ext cx="1085425" cy="168988"/>
          </a:xfrm>
          <a:prstGeom prst="rect">
            <a:avLst/>
          </a:prstGeom>
          <a:noFill/>
          <a:ln>
            <a:noFill/>
          </a:ln>
        </p:spPr>
      </p:pic>
      <p:sp>
        <p:nvSpPr>
          <p:cNvPr id="250" name="Google Shape;250;p39"/>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US" altLang="zh-TW"/>
              <a:t>3</a:t>
            </a:fld>
            <a:endParaRPr/>
          </a:p>
        </p:txBody>
      </p:sp>
      <p:sp>
        <p:nvSpPr>
          <p:cNvPr id="251" name="Google Shape;251;p39"/>
          <p:cNvSpPr txBox="1"/>
          <p:nvPr/>
        </p:nvSpPr>
        <p:spPr>
          <a:xfrm>
            <a:off x="6862496" y="703162"/>
            <a:ext cx="354900" cy="284700"/>
          </a:xfrm>
          <a:prstGeom prst="rect">
            <a:avLst/>
          </a:prstGeom>
          <a:noFill/>
          <a:ln>
            <a:noFill/>
          </a:ln>
        </p:spPr>
        <p:txBody>
          <a:bodyPr spcFirstLastPara="1" wrap="square" lIns="68575" tIns="34275" rIns="68575" bIns="34275" anchor="t" anchorCtr="0">
            <a:spAutoFit/>
          </a:bodyPr>
          <a:lstStyle/>
          <a:p>
            <a:pPr marL="215900" marR="0" lvl="0" indent="-127000" algn="l" rtl="0">
              <a:spcBef>
                <a:spcPts val="0"/>
              </a:spcBef>
              <a:spcAft>
                <a:spcPts val="0"/>
              </a:spcAft>
              <a:buClr>
                <a:schemeClr val="dk1"/>
              </a:buClr>
              <a:buSzPts val="1400"/>
              <a:buFont typeface="Noto Sans Symbols"/>
              <a:buNone/>
            </a:pPr>
            <a:endParaRPr sz="1400">
              <a:solidFill>
                <a:schemeClr val="dk1"/>
              </a:solidFill>
              <a:latin typeface="Calibri"/>
              <a:ea typeface="Calibri"/>
              <a:cs typeface="Calibri"/>
              <a:sym typeface="Calibri"/>
            </a:endParaRPr>
          </a:p>
        </p:txBody>
      </p:sp>
      <p:sp>
        <p:nvSpPr>
          <p:cNvPr id="252" name="Google Shape;252;p39"/>
          <p:cNvSpPr/>
          <p:nvPr/>
        </p:nvSpPr>
        <p:spPr>
          <a:xfrm>
            <a:off x="6265158" y="1048038"/>
            <a:ext cx="303900" cy="895200"/>
          </a:xfrm>
          <a:prstGeom prst="roundRect">
            <a:avLst>
              <a:gd name="adj" fmla="val 50000"/>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53" name="Google Shape;253;p39"/>
          <p:cNvSpPr txBox="1"/>
          <p:nvPr/>
        </p:nvSpPr>
        <p:spPr>
          <a:xfrm>
            <a:off x="1440952" y="2260051"/>
            <a:ext cx="2908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3600" b="1">
                <a:solidFill>
                  <a:srgbClr val="422108"/>
                </a:solidFill>
                <a:latin typeface="Microsoft JhengHei"/>
                <a:ea typeface="Microsoft JhengHei"/>
                <a:cs typeface="Microsoft JhengHei"/>
                <a:sym typeface="Microsoft JhengHei"/>
              </a:rPr>
              <a:t>產業介紹</a:t>
            </a:r>
            <a:endParaRPr sz="3600">
              <a:solidFill>
                <a:srgbClr val="422108"/>
              </a:solidFill>
            </a:endParaRPr>
          </a:p>
        </p:txBody>
      </p:sp>
      <p:sp>
        <p:nvSpPr>
          <p:cNvPr id="254" name="Google Shape;254;p39"/>
          <p:cNvSpPr txBox="1"/>
          <p:nvPr/>
        </p:nvSpPr>
        <p:spPr>
          <a:xfrm>
            <a:off x="7097526" y="1044898"/>
            <a:ext cx="1369500" cy="3209400"/>
          </a:xfrm>
          <a:prstGeom prst="rect">
            <a:avLst/>
          </a:prstGeom>
          <a:noFill/>
          <a:ln>
            <a:noFill/>
          </a:ln>
        </p:spPr>
        <p:txBody>
          <a:bodyPr spcFirstLastPara="1" wrap="square" lIns="68575" tIns="34275" rIns="68575" bIns="34275" anchor="t" anchorCtr="0">
            <a:spAutoFit/>
          </a:bodyPr>
          <a:lstStyle/>
          <a:p>
            <a:pPr marL="0" marR="0" lvl="0" indent="0" algn="l" rtl="0">
              <a:lnSpc>
                <a:spcPct val="187500"/>
              </a:lnSpc>
              <a:spcBef>
                <a:spcPts val="0"/>
              </a:spcBef>
              <a:spcAft>
                <a:spcPts val="0"/>
              </a:spcAft>
              <a:buNone/>
            </a:pPr>
            <a:r>
              <a:rPr lang="zh-TW" sz="2400" b="1">
                <a:solidFill>
                  <a:srgbClr val="422108"/>
                </a:solidFill>
                <a:latin typeface="Microsoft JhengHei"/>
                <a:ea typeface="Microsoft JhengHei"/>
                <a:cs typeface="Microsoft JhengHei"/>
                <a:sym typeface="Microsoft JhengHei"/>
              </a:rPr>
              <a:t>產業介紹</a:t>
            </a:r>
            <a:endParaRPr sz="2400" b="1">
              <a:solidFill>
                <a:srgbClr val="422108"/>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成長動能</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潛在風險</a:t>
            </a:r>
            <a:endParaRPr sz="2400" b="1">
              <a:solidFill>
                <a:srgbClr val="C9B4A5"/>
              </a:solidFill>
              <a:latin typeface="Microsoft JhengHei"/>
              <a:ea typeface="Microsoft JhengHei"/>
              <a:cs typeface="Microsoft JhengHei"/>
              <a:sym typeface="Microsoft JhengHei"/>
            </a:endParaRPr>
          </a:p>
          <a:p>
            <a:pPr marL="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投資標的</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結論</a:t>
            </a:r>
            <a:endParaRPr sz="2400" b="1">
              <a:solidFill>
                <a:srgbClr val="C9B4A5"/>
              </a:solidFill>
              <a:latin typeface="Microsoft JhengHei"/>
              <a:ea typeface="Microsoft JhengHei"/>
              <a:cs typeface="Microsoft JhengHei"/>
              <a:sym typeface="Microsoft Jheng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0"/>
          <p:cNvPicPr preferRelativeResize="0"/>
          <p:nvPr/>
        </p:nvPicPr>
        <p:blipFill rotWithShape="1">
          <a:blip r:embed="rId3">
            <a:alphaModFix/>
          </a:blip>
          <a:srcRect/>
          <a:stretch/>
        </p:blipFill>
        <p:spPr>
          <a:xfrm>
            <a:off x="7646482" y="4902041"/>
            <a:ext cx="1085425" cy="168988"/>
          </a:xfrm>
          <a:prstGeom prst="rect">
            <a:avLst/>
          </a:prstGeom>
          <a:noFill/>
          <a:ln>
            <a:noFill/>
          </a:ln>
        </p:spPr>
      </p:pic>
      <p:cxnSp>
        <p:nvCxnSpPr>
          <p:cNvPr id="261" name="Google Shape;261;p40"/>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262" name="Google Shape;262;p40"/>
          <p:cNvSpPr txBox="1"/>
          <p:nvPr/>
        </p:nvSpPr>
        <p:spPr>
          <a:xfrm>
            <a:off x="272774" y="4884241"/>
            <a:ext cx="4315116" cy="23849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產業價值鏈資訊平台、自行整理</a:t>
            </a:r>
            <a:endParaRPr sz="1100" i="0" u="none" strike="noStrike" cap="none" dirty="0">
              <a:solidFill>
                <a:srgbClr val="000000"/>
              </a:solidFill>
              <a:latin typeface="Arial"/>
              <a:ea typeface="Arial"/>
              <a:cs typeface="Arial"/>
              <a:sym typeface="Arial"/>
            </a:endParaRPr>
          </a:p>
        </p:txBody>
      </p:sp>
      <p:sp>
        <p:nvSpPr>
          <p:cNvPr id="263" name="Google Shape;263;p40"/>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4</a:t>
            </a:fld>
            <a:endParaRPr/>
          </a:p>
        </p:txBody>
      </p:sp>
      <p:grpSp>
        <p:nvGrpSpPr>
          <p:cNvPr id="264" name="Google Shape;264;p40"/>
          <p:cNvGrpSpPr/>
          <p:nvPr/>
        </p:nvGrpSpPr>
        <p:grpSpPr>
          <a:xfrm>
            <a:off x="242301" y="434035"/>
            <a:ext cx="484808" cy="484808"/>
            <a:chOff x="1628775" y="1381125"/>
            <a:chExt cx="1352700" cy="1352700"/>
          </a:xfrm>
        </p:grpSpPr>
        <p:sp>
          <p:nvSpPr>
            <p:cNvPr id="265" name="Google Shape;265;p40"/>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66" name="Google Shape;266;p40"/>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267" name="Google Shape;267;p40"/>
          <p:cNvSpPr txBox="1"/>
          <p:nvPr/>
        </p:nvSpPr>
        <p:spPr>
          <a:xfrm>
            <a:off x="727101" y="503338"/>
            <a:ext cx="7946400" cy="34621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ASIC 半導體供應鏈</a:t>
            </a:r>
            <a:endParaRPr sz="1800" b="1" i="0" u="none" strike="noStrike" cap="none">
              <a:solidFill>
                <a:schemeClr val="dk1"/>
              </a:solidFill>
              <a:latin typeface="Microsoft JhengHei"/>
              <a:ea typeface="Microsoft JhengHei"/>
              <a:cs typeface="Microsoft JhengHei"/>
              <a:sym typeface="Microsoft JhengHei"/>
            </a:endParaRPr>
          </a:p>
        </p:txBody>
      </p:sp>
      <p:sp>
        <p:nvSpPr>
          <p:cNvPr id="268" name="Google Shape;268;p40"/>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D2BFAF"/>
                </a:solidFill>
                <a:latin typeface="Microsoft JhengHei"/>
                <a:ea typeface="Microsoft JhengHei"/>
                <a:cs typeface="Microsoft JhengHei"/>
                <a:sym typeface="Microsoft JhengHei"/>
              </a:rPr>
              <a:t>結論</a:t>
            </a:r>
            <a:endParaRPr sz="1100" b="0" i="0" u="none" strike="noStrike" cap="none">
              <a:solidFill>
                <a:srgbClr val="D2BFAF"/>
              </a:solidFill>
              <a:latin typeface="Arial"/>
              <a:ea typeface="Arial"/>
              <a:cs typeface="Arial"/>
              <a:sym typeface="Arial"/>
            </a:endParaRPr>
          </a:p>
        </p:txBody>
      </p:sp>
      <p:sp>
        <p:nvSpPr>
          <p:cNvPr id="269" name="Google Shape;269;p40"/>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270" name="Google Shape;270;p40"/>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271" name="Google Shape;271;p40"/>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272" name="Google Shape;272;p40"/>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273" name="Google Shape;273;p40"/>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274" name="Google Shape;274;p40"/>
          <p:cNvSpPr/>
          <p:nvPr/>
        </p:nvSpPr>
        <p:spPr>
          <a:xfrm>
            <a:off x="133981" y="1020537"/>
            <a:ext cx="2887516" cy="473528"/>
          </a:xfrm>
          <a:prstGeom prst="chevron">
            <a:avLst>
              <a:gd name="adj" fmla="val 50000"/>
            </a:avLst>
          </a:prstGeom>
          <a:solidFill>
            <a:srgbClr val="F1A63B"/>
          </a:solidFill>
          <a:ln w="25400"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上游 設計 &amp; IP</a:t>
            </a:r>
            <a:endParaRPr sz="1400" b="1" i="0" u="none" strike="noStrike" cap="none">
              <a:solidFill>
                <a:schemeClr val="lt1"/>
              </a:solidFill>
              <a:latin typeface="Arial"/>
              <a:ea typeface="Arial"/>
              <a:cs typeface="Arial"/>
              <a:sym typeface="Arial"/>
            </a:endParaRPr>
          </a:p>
        </p:txBody>
      </p:sp>
      <p:sp>
        <p:nvSpPr>
          <p:cNvPr id="275" name="Google Shape;275;p40"/>
          <p:cNvSpPr/>
          <p:nvPr/>
        </p:nvSpPr>
        <p:spPr>
          <a:xfrm>
            <a:off x="2906487" y="1020537"/>
            <a:ext cx="3518806" cy="473528"/>
          </a:xfrm>
          <a:prstGeom prst="chevron">
            <a:avLst>
              <a:gd name="adj" fmla="val 50000"/>
            </a:avLst>
          </a:prstGeom>
          <a:solidFill>
            <a:srgbClr val="F1A63B"/>
          </a:solidFill>
          <a:ln w="25400"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中游 製造 &amp; 代工 &amp; 封測</a:t>
            </a:r>
            <a:endParaRPr sz="1400" b="0" i="0" u="none" strike="noStrike" cap="none">
              <a:solidFill>
                <a:srgbClr val="000000"/>
              </a:solidFill>
              <a:latin typeface="Arial"/>
              <a:ea typeface="Arial"/>
              <a:cs typeface="Arial"/>
              <a:sym typeface="Arial"/>
            </a:endParaRPr>
          </a:p>
        </p:txBody>
      </p:sp>
      <p:sp>
        <p:nvSpPr>
          <p:cNvPr id="276" name="Google Shape;276;p40"/>
          <p:cNvSpPr/>
          <p:nvPr/>
        </p:nvSpPr>
        <p:spPr>
          <a:xfrm>
            <a:off x="6302829" y="1020537"/>
            <a:ext cx="2707189" cy="473528"/>
          </a:xfrm>
          <a:prstGeom prst="chevron">
            <a:avLst>
              <a:gd name="adj" fmla="val 50000"/>
            </a:avLst>
          </a:prstGeom>
          <a:solidFill>
            <a:srgbClr val="F1A63B"/>
          </a:solidFill>
          <a:ln w="25400"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下游 應用</a:t>
            </a:r>
            <a:endParaRPr sz="1400" b="0" i="0" u="none" strike="noStrike" cap="none">
              <a:solidFill>
                <a:srgbClr val="000000"/>
              </a:solidFill>
              <a:latin typeface="Arial"/>
              <a:ea typeface="Arial"/>
              <a:cs typeface="Arial"/>
              <a:sym typeface="Arial"/>
            </a:endParaRPr>
          </a:p>
        </p:txBody>
      </p:sp>
      <p:sp>
        <p:nvSpPr>
          <p:cNvPr id="277" name="Google Shape;277;p40"/>
          <p:cNvSpPr/>
          <p:nvPr/>
        </p:nvSpPr>
        <p:spPr>
          <a:xfrm>
            <a:off x="475224" y="2283950"/>
            <a:ext cx="1152000" cy="273900"/>
          </a:xfrm>
          <a:prstGeom prst="roundRect">
            <a:avLst>
              <a:gd name="adj" fmla="val 16667"/>
            </a:avLst>
          </a:prstGeom>
          <a:solidFill>
            <a:srgbClr val="F1A63B"/>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IP &amp; EDA</a:t>
            </a:r>
            <a:endParaRPr sz="1400" b="1" i="0" u="none" strike="noStrike" cap="none">
              <a:solidFill>
                <a:schemeClr val="lt1"/>
              </a:solidFill>
              <a:latin typeface="Arial"/>
              <a:ea typeface="Arial"/>
              <a:cs typeface="Arial"/>
              <a:sym typeface="Arial"/>
            </a:endParaRPr>
          </a:p>
        </p:txBody>
      </p:sp>
      <p:sp>
        <p:nvSpPr>
          <p:cNvPr id="278" name="Google Shape;278;p40"/>
          <p:cNvSpPr txBox="1"/>
          <p:nvPr/>
        </p:nvSpPr>
        <p:spPr>
          <a:xfrm>
            <a:off x="406353" y="2615173"/>
            <a:ext cx="20247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ARM、SNPS、CDNS</a:t>
            </a:r>
            <a:endParaRPr sz="1400" b="1" i="0" u="none" strike="noStrike" cap="none">
              <a:solidFill>
                <a:srgbClr val="833C0B"/>
              </a:solidFill>
              <a:latin typeface="Arial"/>
              <a:ea typeface="Arial"/>
              <a:cs typeface="Arial"/>
              <a:sym typeface="Arial"/>
            </a:endParaRPr>
          </a:p>
        </p:txBody>
      </p:sp>
      <p:sp>
        <p:nvSpPr>
          <p:cNvPr id="279" name="Google Shape;279;p40"/>
          <p:cNvSpPr/>
          <p:nvPr/>
        </p:nvSpPr>
        <p:spPr>
          <a:xfrm>
            <a:off x="438135" y="1659867"/>
            <a:ext cx="2024743"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IC 設計工具 &amp; 服務</a:t>
            </a:r>
            <a:endParaRPr sz="1400" b="0" i="0" u="none" strike="noStrike" cap="none">
              <a:solidFill>
                <a:srgbClr val="000000"/>
              </a:solidFill>
              <a:latin typeface="Arial"/>
              <a:ea typeface="Arial"/>
              <a:cs typeface="Arial"/>
              <a:sym typeface="Arial"/>
            </a:endParaRPr>
          </a:p>
        </p:txBody>
      </p:sp>
      <p:sp>
        <p:nvSpPr>
          <p:cNvPr id="280" name="Google Shape;280;p40"/>
          <p:cNvSpPr/>
          <p:nvPr/>
        </p:nvSpPr>
        <p:spPr>
          <a:xfrm>
            <a:off x="453972" y="3709421"/>
            <a:ext cx="2024743"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IC 設計</a:t>
            </a:r>
            <a:endParaRPr sz="1400" b="0" i="0" u="none" strike="noStrike" cap="none">
              <a:solidFill>
                <a:srgbClr val="000000"/>
              </a:solidFill>
              <a:latin typeface="Arial"/>
              <a:ea typeface="Arial"/>
              <a:cs typeface="Arial"/>
              <a:sym typeface="Arial"/>
            </a:endParaRPr>
          </a:p>
        </p:txBody>
      </p:sp>
      <p:sp>
        <p:nvSpPr>
          <p:cNvPr id="281" name="Google Shape;281;p40"/>
          <p:cNvSpPr txBox="1"/>
          <p:nvPr/>
        </p:nvSpPr>
        <p:spPr>
          <a:xfrm>
            <a:off x="406352" y="3351710"/>
            <a:ext cx="20247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世芯-KY、創意、智原</a:t>
            </a:r>
            <a:endParaRPr sz="1400" b="0" i="0" u="none" strike="noStrike" cap="none">
              <a:solidFill>
                <a:srgbClr val="000000"/>
              </a:solidFill>
              <a:latin typeface="Arial"/>
              <a:ea typeface="Arial"/>
              <a:cs typeface="Arial"/>
              <a:sym typeface="Arial"/>
            </a:endParaRPr>
          </a:p>
        </p:txBody>
      </p:sp>
      <p:sp>
        <p:nvSpPr>
          <p:cNvPr id="282" name="Google Shape;282;p40"/>
          <p:cNvSpPr txBox="1"/>
          <p:nvPr/>
        </p:nvSpPr>
        <p:spPr>
          <a:xfrm>
            <a:off x="410699" y="4230001"/>
            <a:ext cx="21426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AVGO、MRVL、聯發科</a:t>
            </a:r>
            <a:endParaRPr sz="1400" b="0" i="0" u="none" strike="noStrike" cap="none">
              <a:solidFill>
                <a:srgbClr val="000000"/>
              </a:solidFill>
              <a:latin typeface="Arial"/>
              <a:ea typeface="Arial"/>
              <a:cs typeface="Arial"/>
              <a:sym typeface="Arial"/>
            </a:endParaRPr>
          </a:p>
        </p:txBody>
      </p:sp>
      <p:sp>
        <p:nvSpPr>
          <p:cNvPr id="283" name="Google Shape;283;p40"/>
          <p:cNvSpPr/>
          <p:nvPr/>
        </p:nvSpPr>
        <p:spPr>
          <a:xfrm>
            <a:off x="2553419" y="1986600"/>
            <a:ext cx="124589" cy="1980000"/>
          </a:xfrm>
          <a:prstGeom prst="downArrow">
            <a:avLst>
              <a:gd name="adj1" fmla="val 50000"/>
              <a:gd name="adj2" fmla="val 50000"/>
            </a:avLst>
          </a:prstGeom>
          <a:solidFill>
            <a:srgbClr val="F1A63B"/>
          </a:solidFill>
          <a:ln w="952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4" name="Google Shape;284;p40"/>
          <p:cNvSpPr/>
          <p:nvPr/>
        </p:nvSpPr>
        <p:spPr>
          <a:xfrm>
            <a:off x="475229" y="3016991"/>
            <a:ext cx="1152000" cy="244927"/>
          </a:xfrm>
          <a:prstGeom prst="roundRect">
            <a:avLst>
              <a:gd name="adj" fmla="val 16667"/>
            </a:avLst>
          </a:prstGeom>
          <a:solidFill>
            <a:srgbClr val="F1A63B"/>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IC 設計服務</a:t>
            </a:r>
            <a:endParaRPr sz="1600" b="1" i="0" u="none" strike="noStrike" cap="none">
              <a:solidFill>
                <a:schemeClr val="lt1"/>
              </a:solidFill>
              <a:latin typeface="Arial"/>
              <a:ea typeface="Arial"/>
              <a:cs typeface="Arial"/>
              <a:sym typeface="Arial"/>
            </a:endParaRPr>
          </a:p>
        </p:txBody>
      </p:sp>
      <p:sp>
        <p:nvSpPr>
          <p:cNvPr id="285" name="Google Shape;285;p40"/>
          <p:cNvSpPr/>
          <p:nvPr/>
        </p:nvSpPr>
        <p:spPr>
          <a:xfrm>
            <a:off x="3165431" y="1659865"/>
            <a:ext cx="2833015" cy="432000"/>
          </a:xfrm>
          <a:prstGeom prst="roundRect">
            <a:avLst>
              <a:gd name="adj" fmla="val 16667"/>
            </a:avLst>
          </a:prstGeom>
          <a:solidFill>
            <a:schemeClr val="lt1"/>
          </a:solidFill>
          <a:ln w="25400"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晶圓製造</a:t>
            </a:r>
            <a:endParaRPr sz="1400" b="0" i="0" u="none" strike="noStrike" cap="none">
              <a:solidFill>
                <a:schemeClr val="dk1"/>
              </a:solidFill>
              <a:latin typeface="Arial"/>
              <a:ea typeface="Arial"/>
              <a:cs typeface="Arial"/>
              <a:sym typeface="Arial"/>
            </a:endParaRPr>
          </a:p>
        </p:txBody>
      </p:sp>
      <p:sp>
        <p:nvSpPr>
          <p:cNvPr id="286" name="Google Shape;286;p40"/>
          <p:cNvSpPr/>
          <p:nvPr/>
        </p:nvSpPr>
        <p:spPr>
          <a:xfrm>
            <a:off x="3182375" y="2273100"/>
            <a:ext cx="1878600" cy="244800"/>
          </a:xfrm>
          <a:prstGeom prst="roundRect">
            <a:avLst>
              <a:gd name="adj" fmla="val 16667"/>
            </a:avLst>
          </a:prstGeom>
          <a:solidFill>
            <a:srgbClr val="F1A63B"/>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Pure-Play Foundry</a:t>
            </a:r>
            <a:endParaRPr sz="1400" b="1" i="0" u="none" strike="noStrike" cap="none">
              <a:solidFill>
                <a:schemeClr val="lt1"/>
              </a:solidFill>
              <a:latin typeface="Arial"/>
              <a:ea typeface="Arial"/>
              <a:cs typeface="Arial"/>
              <a:sym typeface="Arial"/>
            </a:endParaRPr>
          </a:p>
        </p:txBody>
      </p:sp>
      <p:sp>
        <p:nvSpPr>
          <p:cNvPr id="287" name="Google Shape;287;p40"/>
          <p:cNvSpPr txBox="1"/>
          <p:nvPr/>
        </p:nvSpPr>
        <p:spPr>
          <a:xfrm>
            <a:off x="3108900" y="2615175"/>
            <a:ext cx="2887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台積電、聯電、GFS、中芯國際</a:t>
            </a:r>
            <a:endParaRPr sz="1400" b="0" i="0" u="none" strike="noStrike" cap="none">
              <a:solidFill>
                <a:srgbClr val="000000"/>
              </a:solidFill>
              <a:latin typeface="Arial"/>
              <a:ea typeface="Arial"/>
              <a:cs typeface="Arial"/>
              <a:sym typeface="Arial"/>
            </a:endParaRPr>
          </a:p>
        </p:txBody>
      </p:sp>
      <p:sp>
        <p:nvSpPr>
          <p:cNvPr id="288" name="Google Shape;288;p40"/>
          <p:cNvSpPr/>
          <p:nvPr/>
        </p:nvSpPr>
        <p:spPr>
          <a:xfrm>
            <a:off x="3191618" y="3016991"/>
            <a:ext cx="1476000" cy="244927"/>
          </a:xfrm>
          <a:prstGeom prst="roundRect">
            <a:avLst>
              <a:gd name="adj" fmla="val 16667"/>
            </a:avLst>
          </a:prstGeom>
          <a:solidFill>
            <a:srgbClr val="F1A63B"/>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Arial"/>
                <a:ea typeface="Arial"/>
                <a:cs typeface="Arial"/>
                <a:sym typeface="Arial"/>
              </a:rPr>
              <a:t>IDM + Foundry</a:t>
            </a:r>
            <a:endParaRPr sz="1400" b="1" i="0" u="none" strike="noStrike" cap="none">
              <a:solidFill>
                <a:schemeClr val="lt1"/>
              </a:solidFill>
              <a:latin typeface="Arial"/>
              <a:ea typeface="Arial"/>
              <a:cs typeface="Arial"/>
              <a:sym typeface="Arial"/>
            </a:endParaRPr>
          </a:p>
        </p:txBody>
      </p:sp>
      <p:sp>
        <p:nvSpPr>
          <p:cNvPr id="289" name="Google Shape;289;p40"/>
          <p:cNvSpPr txBox="1"/>
          <p:nvPr/>
        </p:nvSpPr>
        <p:spPr>
          <a:xfrm>
            <a:off x="3108902" y="3351710"/>
            <a:ext cx="20247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INTC、Samsung</a:t>
            </a:r>
            <a:endParaRPr sz="1400" b="1" i="0" u="none" strike="noStrike" cap="none">
              <a:solidFill>
                <a:srgbClr val="833C0B"/>
              </a:solidFill>
              <a:latin typeface="Arial"/>
              <a:ea typeface="Arial"/>
              <a:cs typeface="Arial"/>
              <a:sym typeface="Arial"/>
            </a:endParaRPr>
          </a:p>
        </p:txBody>
      </p:sp>
      <p:sp>
        <p:nvSpPr>
          <p:cNvPr id="290" name="Google Shape;290;p40"/>
          <p:cNvSpPr/>
          <p:nvPr/>
        </p:nvSpPr>
        <p:spPr>
          <a:xfrm>
            <a:off x="3182378" y="3709421"/>
            <a:ext cx="2816068"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封裝測試</a:t>
            </a:r>
            <a:endParaRPr sz="1400" b="0" i="0" u="none" strike="noStrike" cap="none">
              <a:solidFill>
                <a:srgbClr val="000000"/>
              </a:solidFill>
              <a:latin typeface="Arial"/>
              <a:ea typeface="Arial"/>
              <a:cs typeface="Arial"/>
              <a:sym typeface="Arial"/>
            </a:endParaRPr>
          </a:p>
        </p:txBody>
      </p:sp>
      <p:sp>
        <p:nvSpPr>
          <p:cNvPr id="291" name="Google Shape;291;p40"/>
          <p:cNvSpPr txBox="1"/>
          <p:nvPr/>
        </p:nvSpPr>
        <p:spPr>
          <a:xfrm>
            <a:off x="3109977" y="4229990"/>
            <a:ext cx="405010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日月光、力成科技、AMKR、台積電、</a:t>
            </a:r>
            <a:endParaRPr sz="1400" b="1" i="0" u="none" strike="noStrike" cap="none">
              <a:solidFill>
                <a:srgbClr val="833C0B"/>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京元電、INTC</a:t>
            </a:r>
            <a:endParaRPr sz="1400" b="1" i="0" u="none" strike="noStrike" cap="none">
              <a:solidFill>
                <a:srgbClr val="833C0B"/>
              </a:solidFill>
              <a:latin typeface="Arial"/>
              <a:ea typeface="Arial"/>
              <a:cs typeface="Arial"/>
              <a:sym typeface="Arial"/>
            </a:endParaRPr>
          </a:p>
        </p:txBody>
      </p:sp>
      <p:sp>
        <p:nvSpPr>
          <p:cNvPr id="292" name="Google Shape;292;p40"/>
          <p:cNvSpPr/>
          <p:nvPr/>
        </p:nvSpPr>
        <p:spPr>
          <a:xfrm>
            <a:off x="6077837" y="1986600"/>
            <a:ext cx="124589" cy="1980000"/>
          </a:xfrm>
          <a:prstGeom prst="downArrow">
            <a:avLst>
              <a:gd name="adj1" fmla="val 50000"/>
              <a:gd name="adj2" fmla="val 50000"/>
            </a:avLst>
          </a:prstGeom>
          <a:solidFill>
            <a:srgbClr val="F1A63B"/>
          </a:solidFill>
          <a:ln w="952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3" name="Google Shape;293;p40"/>
          <p:cNvSpPr/>
          <p:nvPr/>
        </p:nvSpPr>
        <p:spPr>
          <a:xfrm>
            <a:off x="6728436" y="1659866"/>
            <a:ext cx="1945065"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數據中心</a:t>
            </a:r>
            <a:endParaRPr sz="1400" b="0" i="0" u="none" strike="noStrike" cap="none">
              <a:solidFill>
                <a:srgbClr val="000000"/>
              </a:solidFill>
              <a:latin typeface="Arial"/>
              <a:ea typeface="Arial"/>
              <a:cs typeface="Arial"/>
              <a:sym typeface="Arial"/>
            </a:endParaRPr>
          </a:p>
        </p:txBody>
      </p:sp>
      <p:sp>
        <p:nvSpPr>
          <p:cNvPr id="294" name="Google Shape;294;p40"/>
          <p:cNvSpPr txBox="1"/>
          <p:nvPr/>
        </p:nvSpPr>
        <p:spPr>
          <a:xfrm>
            <a:off x="6675572" y="2206512"/>
            <a:ext cx="246311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Google、Amazon、Meta、Microsoft、Enterprises</a:t>
            </a:r>
            <a:endParaRPr sz="1400" b="1" i="0" u="none" strike="noStrike" cap="none">
              <a:solidFill>
                <a:srgbClr val="833C0B"/>
              </a:solidFill>
              <a:latin typeface="Arial"/>
              <a:ea typeface="Arial"/>
              <a:cs typeface="Arial"/>
              <a:sym typeface="Arial"/>
            </a:endParaRPr>
          </a:p>
        </p:txBody>
      </p:sp>
      <p:sp>
        <p:nvSpPr>
          <p:cNvPr id="295" name="Google Shape;295;p40"/>
          <p:cNvSpPr/>
          <p:nvPr/>
        </p:nvSpPr>
        <p:spPr>
          <a:xfrm>
            <a:off x="6723706" y="2883858"/>
            <a:ext cx="1945065"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網通 &amp; 5G</a:t>
            </a:r>
            <a:endParaRPr sz="1400" b="1" i="0" u="none" strike="noStrike" cap="none">
              <a:solidFill>
                <a:schemeClr val="dk1"/>
              </a:solidFill>
              <a:latin typeface="Arial"/>
              <a:ea typeface="Arial"/>
              <a:cs typeface="Arial"/>
              <a:sym typeface="Arial"/>
            </a:endParaRPr>
          </a:p>
        </p:txBody>
      </p:sp>
      <p:sp>
        <p:nvSpPr>
          <p:cNvPr id="296" name="Google Shape;296;p40"/>
          <p:cNvSpPr txBox="1"/>
          <p:nvPr/>
        </p:nvSpPr>
        <p:spPr>
          <a:xfrm>
            <a:off x="6728436" y="3345687"/>
            <a:ext cx="264692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Arial"/>
                <a:ea typeface="Arial"/>
                <a:cs typeface="Arial"/>
                <a:sym typeface="Arial"/>
              </a:rPr>
              <a:t>CSCO</a:t>
            </a:r>
            <a:endParaRPr sz="1400" b="1" i="0" u="none" strike="noStrike" cap="none">
              <a:solidFill>
                <a:srgbClr val="833C0B"/>
              </a:solidFill>
              <a:latin typeface="Arial"/>
              <a:ea typeface="Arial"/>
              <a:cs typeface="Arial"/>
              <a:sym typeface="Arial"/>
            </a:endParaRPr>
          </a:p>
        </p:txBody>
      </p:sp>
      <p:sp>
        <p:nvSpPr>
          <p:cNvPr id="297" name="Google Shape;297;p40"/>
          <p:cNvSpPr/>
          <p:nvPr/>
        </p:nvSpPr>
        <p:spPr>
          <a:xfrm>
            <a:off x="6728436" y="3705691"/>
            <a:ext cx="1945065"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消費性電子</a:t>
            </a:r>
            <a:endParaRPr sz="1400" b="0" i="0" u="none" strike="noStrike" cap="none">
              <a:solidFill>
                <a:srgbClr val="000000"/>
              </a:solidFill>
              <a:latin typeface="Arial"/>
              <a:ea typeface="Arial"/>
              <a:cs typeface="Arial"/>
              <a:sym typeface="Arial"/>
            </a:endParaRPr>
          </a:p>
        </p:txBody>
      </p:sp>
      <p:sp>
        <p:nvSpPr>
          <p:cNvPr id="298" name="Google Shape;298;p40"/>
          <p:cNvSpPr/>
          <p:nvPr/>
        </p:nvSpPr>
        <p:spPr>
          <a:xfrm>
            <a:off x="6728436" y="4229990"/>
            <a:ext cx="1945065"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Arial"/>
                <a:ea typeface="Arial"/>
                <a:cs typeface="Arial"/>
                <a:sym typeface="Arial"/>
              </a:rPr>
              <a:t>車用電子</a:t>
            </a:r>
            <a:endParaRPr sz="1400" b="0" i="0" u="none" strike="noStrike" cap="none">
              <a:solidFill>
                <a:srgbClr val="000000"/>
              </a:solidFill>
              <a:latin typeface="Arial"/>
              <a:ea typeface="Arial"/>
              <a:cs typeface="Arial"/>
              <a:sym typeface="Arial"/>
            </a:endParaRPr>
          </a:p>
        </p:txBody>
      </p:sp>
      <p:sp>
        <p:nvSpPr>
          <p:cNvPr id="299" name="Google Shape;299;p40"/>
          <p:cNvSpPr/>
          <p:nvPr/>
        </p:nvSpPr>
        <p:spPr>
          <a:xfrm>
            <a:off x="2277793" y="2386594"/>
            <a:ext cx="116905" cy="875324"/>
          </a:xfrm>
          <a:prstGeom prst="downArrow">
            <a:avLst>
              <a:gd name="adj1" fmla="val 50000"/>
              <a:gd name="adj2" fmla="val 50000"/>
            </a:avLst>
          </a:prstGeom>
          <a:solidFill>
            <a:srgbClr val="F1A63B"/>
          </a:solidFill>
          <a:ln w="952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4"/>
        <p:cNvGrpSpPr/>
        <p:nvPr/>
      </p:nvGrpSpPr>
      <p:grpSpPr>
        <a:xfrm>
          <a:off x="0" y="0"/>
          <a:ext cx="0" cy="0"/>
          <a:chOff x="0" y="0"/>
          <a:chExt cx="0" cy="0"/>
        </a:xfrm>
      </p:grpSpPr>
      <p:pic>
        <p:nvPicPr>
          <p:cNvPr id="305" name="Google Shape;305;p41"/>
          <p:cNvPicPr preferRelativeResize="0"/>
          <p:nvPr/>
        </p:nvPicPr>
        <p:blipFill rotWithShape="1">
          <a:blip r:embed="rId3">
            <a:alphaModFix/>
          </a:blip>
          <a:srcRect/>
          <a:stretch/>
        </p:blipFill>
        <p:spPr>
          <a:xfrm>
            <a:off x="7653577" y="4902041"/>
            <a:ext cx="1085425" cy="168988"/>
          </a:xfrm>
          <a:prstGeom prst="rect">
            <a:avLst/>
          </a:prstGeom>
          <a:noFill/>
          <a:ln>
            <a:noFill/>
          </a:ln>
        </p:spPr>
      </p:pic>
      <p:grpSp>
        <p:nvGrpSpPr>
          <p:cNvPr id="306" name="Google Shape;306;p41"/>
          <p:cNvGrpSpPr/>
          <p:nvPr/>
        </p:nvGrpSpPr>
        <p:grpSpPr>
          <a:xfrm>
            <a:off x="242301" y="434035"/>
            <a:ext cx="484808" cy="484808"/>
            <a:chOff x="1628775" y="1381125"/>
            <a:chExt cx="1352700" cy="1352700"/>
          </a:xfrm>
        </p:grpSpPr>
        <p:sp>
          <p:nvSpPr>
            <p:cNvPr id="307" name="Google Shape;307;p41"/>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08" name="Google Shape;308;p41"/>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309" name="Google Shape;309;p41"/>
          <p:cNvSpPr txBox="1"/>
          <p:nvPr/>
        </p:nvSpPr>
        <p:spPr>
          <a:xfrm>
            <a:off x="400198" y="4867275"/>
            <a:ext cx="70182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a:solidFill>
                  <a:schemeClr val="dk1"/>
                </a:solidFill>
                <a:latin typeface="Microsoft JhengHei"/>
                <a:ea typeface="Microsoft JhengHei"/>
                <a:cs typeface="Microsoft JhengHei"/>
                <a:sym typeface="Microsoft JhengHei"/>
              </a:rPr>
              <a:t>資料來源：</a:t>
            </a:r>
            <a:r>
              <a:rPr lang="zh-TW" sz="1100" b="0" i="0" u="none" strike="noStrike" cap="none">
                <a:solidFill>
                  <a:schemeClr val="dk1"/>
                </a:solidFill>
                <a:latin typeface="Microsoft JhengHei"/>
                <a:ea typeface="Microsoft JhengHei"/>
                <a:cs typeface="Microsoft JhengHei"/>
                <a:sym typeface="Microsoft JhengHei"/>
              </a:rPr>
              <a:t>富邦《IP設計服務產業展望：Google TPU 投片預期持續上修》、Morgan Stanley</a:t>
            </a:r>
            <a:endParaRPr sz="1100" b="0" i="0" u="none" strike="noStrike" cap="none">
              <a:solidFill>
                <a:srgbClr val="000000"/>
              </a:solidFill>
              <a:latin typeface="Arial"/>
              <a:ea typeface="Arial"/>
              <a:cs typeface="Arial"/>
              <a:sym typeface="Arial"/>
            </a:endParaRPr>
          </a:p>
        </p:txBody>
      </p:sp>
      <p:sp>
        <p:nvSpPr>
          <p:cNvPr id="310" name="Google Shape;310;p41"/>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11" name="Google Shape;311;p41"/>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312" name="Google Shape;312;p41"/>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313" name="Google Shape;313;p41"/>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314" name="Google Shape;314;p41"/>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15" name="Google Shape;315;p41"/>
          <p:cNvSpPr txBox="1"/>
          <p:nvPr/>
        </p:nvSpPr>
        <p:spPr>
          <a:xfrm>
            <a:off x="743708" y="434035"/>
            <a:ext cx="3523200" cy="402826"/>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ASIC跟GPU的比較</a:t>
            </a:r>
            <a:endParaRPr sz="1800" b="1" i="0" u="none" strike="noStrike" cap="none">
              <a:solidFill>
                <a:schemeClr val="dk1"/>
              </a:solidFill>
              <a:latin typeface="Microsoft JhengHei"/>
              <a:ea typeface="Microsoft JhengHei"/>
              <a:cs typeface="Microsoft JhengHei"/>
              <a:sym typeface="Microsoft JhengHei"/>
            </a:endParaRPr>
          </a:p>
        </p:txBody>
      </p:sp>
      <p:sp>
        <p:nvSpPr>
          <p:cNvPr id="316" name="Google Shape;316;p41"/>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推薦個股</a:t>
            </a:r>
            <a:endParaRPr sz="1100" b="0" i="0" u="none" strike="noStrike" cap="none">
              <a:solidFill>
                <a:srgbClr val="C9B4A5"/>
              </a:solidFill>
              <a:latin typeface="Arial"/>
              <a:ea typeface="Arial"/>
              <a:cs typeface="Arial"/>
              <a:sym typeface="Arial"/>
            </a:endParaRPr>
          </a:p>
        </p:txBody>
      </p:sp>
      <p:sp>
        <p:nvSpPr>
          <p:cNvPr id="317" name="Google Shape;317;p41"/>
          <p:cNvSpPr txBox="1"/>
          <p:nvPr/>
        </p:nvSpPr>
        <p:spPr>
          <a:xfrm>
            <a:off x="8723300" y="4763425"/>
            <a:ext cx="261000" cy="33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zh-TW">
                <a:solidFill>
                  <a:schemeClr val="dk1"/>
                </a:solidFill>
                <a:latin typeface="Calibri"/>
                <a:ea typeface="Calibri"/>
                <a:cs typeface="Calibri"/>
                <a:sym typeface="Calibri"/>
              </a:rPr>
              <a:t>5</a:t>
            </a:r>
            <a:endParaRPr sz="1300" b="0" i="0" u="none" strike="noStrike" cap="none">
              <a:solidFill>
                <a:schemeClr val="dk1"/>
              </a:solidFill>
              <a:latin typeface="Calibri"/>
              <a:ea typeface="Calibri"/>
              <a:cs typeface="Calibri"/>
              <a:sym typeface="Calibri"/>
            </a:endParaRPr>
          </a:p>
        </p:txBody>
      </p:sp>
      <p:cxnSp>
        <p:nvCxnSpPr>
          <p:cNvPr id="318" name="Google Shape;318;p41"/>
          <p:cNvCxnSpPr/>
          <p:nvPr/>
        </p:nvCxnSpPr>
        <p:spPr>
          <a:xfrm>
            <a:off x="356966" y="4816020"/>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319" name="Google Shape;319;p41"/>
          <p:cNvSpPr/>
          <p:nvPr/>
        </p:nvSpPr>
        <p:spPr>
          <a:xfrm>
            <a:off x="403625" y="910251"/>
            <a:ext cx="8254200" cy="691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320" name="Google Shape;320;p41"/>
          <p:cNvGraphicFramePr/>
          <p:nvPr/>
        </p:nvGraphicFramePr>
        <p:xfrm>
          <a:off x="403634" y="1652933"/>
          <a:ext cx="8254200" cy="2991550"/>
        </p:xfrm>
        <a:graphic>
          <a:graphicData uri="http://schemas.openxmlformats.org/drawingml/2006/table">
            <a:tbl>
              <a:tblPr firstRow="1" bandRow="1">
                <a:noFill/>
                <a:tableStyleId>{C8B4CA2D-0E5A-42F5-86FC-584F03F9C6D9}</a:tableStyleId>
              </a:tblPr>
              <a:tblGrid>
                <a:gridCol w="1651725">
                  <a:extLst>
                    <a:ext uri="{9D8B030D-6E8A-4147-A177-3AD203B41FA5}">
                      <a16:colId xmlns:a16="http://schemas.microsoft.com/office/drawing/2014/main" val="20000"/>
                    </a:ext>
                  </a:extLst>
                </a:gridCol>
                <a:gridCol w="3239500">
                  <a:extLst>
                    <a:ext uri="{9D8B030D-6E8A-4147-A177-3AD203B41FA5}">
                      <a16:colId xmlns:a16="http://schemas.microsoft.com/office/drawing/2014/main" val="20001"/>
                    </a:ext>
                  </a:extLst>
                </a:gridCol>
                <a:gridCol w="3362975">
                  <a:extLst>
                    <a:ext uri="{9D8B030D-6E8A-4147-A177-3AD203B41FA5}">
                      <a16:colId xmlns:a16="http://schemas.microsoft.com/office/drawing/2014/main" val="20002"/>
                    </a:ext>
                  </a:extLst>
                </a:gridCol>
              </a:tblGrid>
              <a:tr h="336775">
                <a:tc gridSpan="3">
                  <a:txBody>
                    <a:bodyPr/>
                    <a:lstStyle/>
                    <a:p>
                      <a:pPr marL="0" marR="0" lvl="0" indent="0" algn="ctr" rtl="0">
                        <a:lnSpc>
                          <a:spcPct val="100000"/>
                        </a:lnSpc>
                        <a:spcBef>
                          <a:spcPts val="0"/>
                        </a:spcBef>
                        <a:spcAft>
                          <a:spcPts val="0"/>
                        </a:spcAft>
                        <a:buClr>
                          <a:srgbClr val="000000"/>
                        </a:buClr>
                        <a:buSzPts val="1400"/>
                        <a:buFont typeface="Arial"/>
                        <a:buNone/>
                      </a:pPr>
                      <a:r>
                        <a:rPr lang="zh-TW" sz="1400" u="none" strike="noStrike" cap="none">
                          <a:solidFill>
                            <a:schemeClr val="dk1"/>
                          </a:solidFill>
                          <a:latin typeface="Microsoft JhengHei"/>
                          <a:ea typeface="Microsoft JhengHei"/>
                          <a:cs typeface="Microsoft JhengHei"/>
                          <a:sym typeface="Microsoft JhengHei"/>
                        </a:rPr>
                        <a:t>AI ASIC 與 GPU 架構與應用定位比較</a:t>
                      </a:r>
                      <a:endParaRPr sz="1400" u="none" strike="noStrike" cap="none"/>
                    </a:p>
                  </a:txBody>
                  <a:tcPr marL="91450" marR="91450" marT="45725" marB="45725" anchor="ctr">
                    <a:solidFill>
                      <a:srgbClr val="F1A63B"/>
                    </a:solidFill>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29540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項目</a:t>
                      </a:r>
                      <a:endParaRPr sz="1100" u="none" strike="noStrike" cap="none"/>
                    </a:p>
                  </a:txBody>
                  <a:tcPr marL="91450" marR="91450" marT="45725" marB="45725" anchor="ctr">
                    <a:solidFill>
                      <a:srgbClr val="F1A63B"/>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solidFill>
                            <a:schemeClr val="dk1"/>
                          </a:solidFill>
                          <a:latin typeface="Microsoft JhengHei"/>
                          <a:ea typeface="Microsoft JhengHei"/>
                          <a:cs typeface="Microsoft JhengHei"/>
                          <a:sym typeface="Microsoft JhengHei"/>
                        </a:rPr>
                        <a:t>GPU(通用架構)</a:t>
                      </a:r>
                      <a:endParaRPr sz="1100" u="none" strike="noStrike" cap="none">
                        <a:solidFill>
                          <a:schemeClr val="dk1"/>
                        </a:solidFill>
                        <a:latin typeface="Microsoft JhengHei"/>
                        <a:ea typeface="Microsoft JhengHei"/>
                        <a:cs typeface="Microsoft JhengHei"/>
                        <a:sym typeface="Microsoft JhengHei"/>
                      </a:endParaRPr>
                    </a:p>
                  </a:txBody>
                  <a:tcPr marL="91450" marR="91450" marT="45725" marB="45725" anchor="ctr">
                    <a:solidFill>
                      <a:srgbClr val="F1A63B"/>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AI ASIC(客製化架構)</a:t>
                      </a:r>
                      <a:endParaRPr sz="1100" b="0" i="0" u="none" strike="noStrike" cap="none">
                        <a:solidFill>
                          <a:schemeClr val="dk1"/>
                        </a:solidFill>
                        <a:latin typeface="Microsoft JhengHei"/>
                        <a:ea typeface="Microsoft JhengHei"/>
                        <a:cs typeface="Microsoft JhengHei"/>
                        <a:sym typeface="Microsoft JhengHei"/>
                      </a:endParaRPr>
                    </a:p>
                  </a:txBody>
                  <a:tcPr marL="91450" marR="91450" marT="45725" marB="45725" anchor="ctr">
                    <a:solidFill>
                      <a:srgbClr val="F1A63B"/>
                    </a:solidFill>
                  </a:tcPr>
                </a:tc>
                <a:extLst>
                  <a:ext uri="{0D108BD9-81ED-4DB2-BD59-A6C34878D82A}">
                    <a16:rowId xmlns:a16="http://schemas.microsoft.com/office/drawing/2014/main" val="10001"/>
                  </a:ext>
                </a:extLst>
              </a:tr>
              <a:tr h="675625">
                <a:tc>
                  <a:txBody>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運算架構</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通用運算核心（CUDA  / ROCm）</a:t>
                      </a:r>
                      <a:br>
                        <a:rPr lang="zh-TW" sz="1100" u="none" strike="noStrike" cap="none">
                          <a:latin typeface="Microsoft JhengHei"/>
                          <a:ea typeface="Microsoft JhengHei"/>
                          <a:cs typeface="Microsoft JhengHei"/>
                          <a:sym typeface="Microsoft JhengHei"/>
                        </a:rPr>
                      </a:br>
                      <a:r>
                        <a:rPr lang="zh-TW" sz="1100" u="none" strike="noStrike" cap="none">
                          <a:latin typeface="Microsoft JhengHei"/>
                          <a:ea typeface="Microsoft JhengHei"/>
                          <a:cs typeface="Microsoft JhengHei"/>
                          <a:sym typeface="Microsoft JhengHei"/>
                        </a:rPr>
                        <a:t>支援多種 AI 模型</a:t>
                      </a:r>
                      <a:endParaRPr sz="1100" b="0" i="0" u="none" strike="noStrike" cap="none">
                        <a:solidFill>
                          <a:schemeClr val="dk1"/>
                        </a:solidFill>
                        <a:latin typeface="Microsoft JhengHei"/>
                        <a:ea typeface="Microsoft JhengHei"/>
                        <a:cs typeface="Microsoft JhengHei"/>
                        <a:sym typeface="Microsoft JhengHei"/>
                      </a:endParaRPr>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任務導向電路（TPU  / Trainium  / MTIA）</a:t>
                      </a:r>
                      <a:br>
                        <a:rPr lang="zh-TW" sz="1100" u="none" strike="noStrike" cap="none">
                          <a:latin typeface="Microsoft JhengHei"/>
                          <a:ea typeface="Microsoft JhengHei"/>
                          <a:cs typeface="Microsoft JhengHei"/>
                          <a:sym typeface="Microsoft JhengHei"/>
                        </a:rPr>
                      </a:br>
                      <a:r>
                        <a:rPr lang="zh-TW" sz="1100" u="none" strike="noStrike" cap="none">
                          <a:latin typeface="Microsoft JhengHei"/>
                          <a:ea typeface="Microsoft JhengHei"/>
                          <a:cs typeface="Microsoft JhengHei"/>
                          <a:sym typeface="Microsoft JhengHei"/>
                        </a:rPr>
                        <a:t>針對特定模型優化</a:t>
                      </a:r>
                      <a:endParaRPr sz="1100" u="none" strike="noStrike" cap="none"/>
                    </a:p>
                  </a:txBody>
                  <a:tcPr marL="91450" marR="91450" marT="45725" marB="45725" anchor="ctr">
                    <a:solidFill>
                      <a:srgbClr val="FFF6ED"/>
                    </a:solidFill>
                  </a:tcPr>
                </a:tc>
                <a:extLst>
                  <a:ext uri="{0D108BD9-81ED-4DB2-BD59-A6C34878D82A}">
                    <a16:rowId xmlns:a16="http://schemas.microsoft.com/office/drawing/2014/main" val="10002"/>
                  </a:ext>
                </a:extLst>
              </a:tr>
              <a:tr h="29540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效能密度</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中等</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高（&gt;3 × GPU）</a:t>
                      </a:r>
                      <a:endParaRPr sz="1100" u="none" strike="noStrike" cap="none"/>
                    </a:p>
                  </a:txBody>
                  <a:tcPr marL="91450" marR="91450" marT="45725" marB="45725" anchor="ctr">
                    <a:solidFill>
                      <a:srgbClr val="FFF6ED"/>
                    </a:solidFill>
                  </a:tcPr>
                </a:tc>
                <a:extLst>
                  <a:ext uri="{0D108BD9-81ED-4DB2-BD59-A6C34878D82A}">
                    <a16:rowId xmlns:a16="http://schemas.microsoft.com/office/drawing/2014/main" val="10003"/>
                  </a:ext>
                </a:extLst>
              </a:tr>
              <a:tr h="29540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功耗效率</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一般（需大量 GPU 並行）</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高（能耗比提升 3–5 倍）</a:t>
                      </a:r>
                      <a:endParaRPr sz="1100" b="0" i="0" u="none" strike="noStrike" cap="none">
                        <a:solidFill>
                          <a:schemeClr val="dk1"/>
                        </a:solidFill>
                        <a:latin typeface="Microsoft JhengHei"/>
                        <a:ea typeface="Microsoft JhengHei"/>
                        <a:cs typeface="Microsoft JhengHei"/>
                        <a:sym typeface="Microsoft JhengHei"/>
                      </a:endParaRPr>
                    </a:p>
                  </a:txBody>
                  <a:tcPr marL="91450" marR="91450" marT="45725" marB="45725" anchor="ctr">
                    <a:solidFill>
                      <a:srgbClr val="FFF6ED"/>
                    </a:solidFill>
                  </a:tcPr>
                </a:tc>
                <a:extLst>
                  <a:ext uri="{0D108BD9-81ED-4DB2-BD59-A6C34878D82A}">
                    <a16:rowId xmlns:a16="http://schemas.microsoft.com/office/drawing/2014/main" val="10004"/>
                  </a:ext>
                </a:extLst>
              </a:tr>
              <a:tr h="29540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開發彈性</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高，適合快速開發與多用途</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低，設計固定但效能極佳</a:t>
                      </a:r>
                      <a:endParaRPr sz="1100" u="none" strike="noStrike" cap="none"/>
                    </a:p>
                  </a:txBody>
                  <a:tcPr marL="91450" marR="91450" marT="45725" marB="45725" anchor="ctr">
                    <a:solidFill>
                      <a:srgbClr val="FFF6ED"/>
                    </a:solidFill>
                  </a:tcPr>
                </a:tc>
                <a:extLst>
                  <a:ext uri="{0D108BD9-81ED-4DB2-BD59-A6C34878D82A}">
                    <a16:rowId xmlns:a16="http://schemas.microsoft.com/office/drawing/2014/main" val="10005"/>
                  </a:ext>
                </a:extLst>
              </a:tr>
              <a:tr h="29540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開發成本/週期</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a:latin typeface="Microsoft JhengHei"/>
                          <a:ea typeface="Microsoft JhengHei"/>
                          <a:cs typeface="Microsoft JhengHei"/>
                          <a:sym typeface="Microsoft JhengHei"/>
                        </a:rPr>
                        <a:t>開發</a:t>
                      </a:r>
                      <a:r>
                        <a:rPr lang="zh-TW" sz="1100" u="none" strike="noStrike" cap="none">
                          <a:latin typeface="Microsoft JhengHei"/>
                          <a:ea typeface="Microsoft JhengHei"/>
                          <a:cs typeface="Microsoft JhengHei"/>
                          <a:sym typeface="Microsoft JhengHei"/>
                        </a:rPr>
                        <a:t>成本低、導入快</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a:latin typeface="Microsoft JhengHei"/>
                          <a:ea typeface="Microsoft JhengHei"/>
                          <a:cs typeface="Microsoft JhengHei"/>
                          <a:sym typeface="Microsoft JhengHei"/>
                        </a:rPr>
                        <a:t>開發</a:t>
                      </a:r>
                      <a:r>
                        <a:rPr lang="zh-TW" sz="1100" u="none" strike="noStrike" cap="none">
                          <a:latin typeface="Microsoft JhengHei"/>
                          <a:ea typeface="Microsoft JhengHei"/>
                          <a:cs typeface="Microsoft JhengHei"/>
                          <a:sym typeface="Microsoft JhengHei"/>
                        </a:rPr>
                        <a:t>成本高、開發週期長</a:t>
                      </a:r>
                      <a:endParaRPr sz="1100" u="none" strike="noStrike" cap="none"/>
                    </a:p>
                  </a:txBody>
                  <a:tcPr marL="91450" marR="91450" marT="45725" marB="45725" anchor="ctr">
                    <a:solidFill>
                      <a:srgbClr val="FFF6ED"/>
                    </a:solidFill>
                  </a:tcPr>
                </a:tc>
                <a:extLst>
                  <a:ext uri="{0D108BD9-81ED-4DB2-BD59-A6C34878D82A}">
                    <a16:rowId xmlns:a16="http://schemas.microsoft.com/office/drawing/2014/main" val="10006"/>
                  </a:ext>
                </a:extLst>
              </a:tr>
              <a:tr h="502150">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主要應用</a:t>
                      </a:r>
                      <a:endParaRPr sz="1100" u="none" strike="noStrike" cap="none"/>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AI 訓練</a:t>
                      </a:r>
                      <a:endParaRPr sz="1100" u="none" strike="noStrike" cap="none">
                        <a:latin typeface="Microsoft JhengHei"/>
                        <a:ea typeface="Microsoft JhengHei"/>
                        <a:cs typeface="Microsoft JhengHei"/>
                        <a:sym typeface="Microsoft JhengHei"/>
                      </a:endParaRPr>
                    </a:p>
                  </a:txBody>
                  <a:tcPr marL="91450" marR="91450" marT="45725" marB="45725" anchor="ctr">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a:latin typeface="Microsoft JhengHei"/>
                          <a:ea typeface="Microsoft JhengHei"/>
                          <a:cs typeface="Microsoft JhengHei"/>
                          <a:sym typeface="Microsoft JhengHei"/>
                        </a:rPr>
                        <a:t>AI 推理</a:t>
                      </a:r>
                      <a:endParaRPr sz="1100" u="none" strike="noStrike" cap="none">
                        <a:latin typeface="Microsoft JhengHei"/>
                        <a:ea typeface="Microsoft JhengHei"/>
                        <a:cs typeface="Microsoft JhengHei"/>
                        <a:sym typeface="Microsoft JhengHei"/>
                      </a:endParaRPr>
                    </a:p>
                  </a:txBody>
                  <a:tcPr marL="91450" marR="91450" marT="45725" marB="45725" anchor="ctr">
                    <a:solidFill>
                      <a:srgbClr val="FFF6ED"/>
                    </a:solidFill>
                  </a:tcPr>
                </a:tc>
                <a:extLst>
                  <a:ext uri="{0D108BD9-81ED-4DB2-BD59-A6C34878D82A}">
                    <a16:rowId xmlns:a16="http://schemas.microsoft.com/office/drawing/2014/main" val="10007"/>
                  </a:ext>
                </a:extLst>
              </a:tr>
            </a:tbl>
          </a:graphicData>
        </a:graphic>
      </p:graphicFrame>
      <p:sp>
        <p:nvSpPr>
          <p:cNvPr id="321" name="Google Shape;321;p41"/>
          <p:cNvSpPr/>
          <p:nvPr/>
        </p:nvSpPr>
        <p:spPr>
          <a:xfrm>
            <a:off x="400198" y="937955"/>
            <a:ext cx="8254200" cy="672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AI ASIC 以高效能與低功耗取代通用 GPU。</a:t>
            </a:r>
            <a:endParaRPr sz="1400" b="0" i="0" u="none" strike="noStrike" cap="none">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chemeClr val="dk1"/>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犧牲彈性與開發成本換取專用化優勢。</a:t>
            </a:r>
            <a:endParaRPr sz="1400" b="0" i="0" u="none" strike="noStrike" cap="none">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chemeClr val="dk1"/>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AI ASIC成為雲端巨頭推進 AI 運算的核心架構。</a:t>
            </a:r>
            <a:endParaRPr sz="1400" b="0" i="0" u="none" strike="noStrike" cap="none">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p:nvPr/>
        </p:nvSpPr>
        <p:spPr>
          <a:xfrm>
            <a:off x="413801" y="937955"/>
            <a:ext cx="8254200" cy="1142696"/>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28" name="Google Shape;328;p42"/>
          <p:cNvPicPr preferRelativeResize="0"/>
          <p:nvPr/>
        </p:nvPicPr>
        <p:blipFill rotWithShape="1">
          <a:blip r:embed="rId3">
            <a:alphaModFix/>
          </a:blip>
          <a:srcRect/>
          <a:stretch/>
        </p:blipFill>
        <p:spPr>
          <a:xfrm>
            <a:off x="7646482" y="4902041"/>
            <a:ext cx="1085425" cy="168988"/>
          </a:xfrm>
          <a:prstGeom prst="rect">
            <a:avLst/>
          </a:prstGeom>
          <a:noFill/>
          <a:ln>
            <a:noFill/>
          </a:ln>
        </p:spPr>
      </p:pic>
      <p:cxnSp>
        <p:nvCxnSpPr>
          <p:cNvPr id="329" name="Google Shape;329;p42"/>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330" name="Google Shape;330;p42"/>
          <p:cNvSpPr txBox="1"/>
          <p:nvPr/>
        </p:nvSpPr>
        <p:spPr>
          <a:xfrm>
            <a:off x="272780" y="4884250"/>
            <a:ext cx="6350400" cy="408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慧博智能投研</a:t>
            </a:r>
            <a:r>
              <a:rPr lang="zh-TW" sz="1000" i="0" u="none" strike="noStrike" cap="none" dirty="0">
                <a:solidFill>
                  <a:schemeClr val="dk1"/>
                </a:solidFill>
                <a:latin typeface="Microsoft JhengHei"/>
                <a:ea typeface="Microsoft JhengHei"/>
                <a:cs typeface="Microsoft JhengHei"/>
                <a:sym typeface="Microsoft JhengHei"/>
              </a:rPr>
              <a:t>、</a:t>
            </a:r>
            <a:r>
              <a:rPr lang="zh-TW" sz="1100" i="0" u="none" strike="noStrike" cap="none" dirty="0">
                <a:solidFill>
                  <a:schemeClr val="dk1"/>
                </a:solidFill>
                <a:latin typeface="Microsoft JhengHei"/>
                <a:ea typeface="Microsoft JhengHei"/>
                <a:cs typeface="Microsoft JhengHei"/>
                <a:sym typeface="Microsoft JhengHei"/>
              </a:rPr>
              <a:t>Morgan Stanley research</a:t>
            </a:r>
            <a:endParaRPr sz="110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dirty="0">
              <a:solidFill>
                <a:schemeClr val="dk1"/>
              </a:solidFill>
              <a:latin typeface="Microsoft JhengHei"/>
              <a:ea typeface="Microsoft JhengHei"/>
              <a:cs typeface="Microsoft JhengHei"/>
              <a:sym typeface="Microsoft JhengHei"/>
            </a:endParaRPr>
          </a:p>
        </p:txBody>
      </p:sp>
      <p:sp>
        <p:nvSpPr>
          <p:cNvPr id="331" name="Google Shape;331;p42"/>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6</a:t>
            </a:fld>
            <a:endParaRPr/>
          </a:p>
        </p:txBody>
      </p:sp>
      <p:grpSp>
        <p:nvGrpSpPr>
          <p:cNvPr id="332" name="Google Shape;332;p42"/>
          <p:cNvGrpSpPr/>
          <p:nvPr/>
        </p:nvGrpSpPr>
        <p:grpSpPr>
          <a:xfrm>
            <a:off x="242301" y="434035"/>
            <a:ext cx="484808" cy="484808"/>
            <a:chOff x="1628775" y="1381125"/>
            <a:chExt cx="1352700" cy="1352700"/>
          </a:xfrm>
        </p:grpSpPr>
        <p:sp>
          <p:nvSpPr>
            <p:cNvPr id="333" name="Google Shape;333;p42"/>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34" name="Google Shape;334;p42"/>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335" name="Google Shape;335;p42"/>
          <p:cNvSpPr/>
          <p:nvPr/>
        </p:nvSpPr>
        <p:spPr>
          <a:xfrm>
            <a:off x="4711700" y="2169068"/>
            <a:ext cx="3956301" cy="273900"/>
          </a:xfrm>
          <a:prstGeom prst="rect">
            <a:avLst/>
          </a:prstGeom>
          <a:solidFill>
            <a:srgbClr val="F1A53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市面主流ASIC、GPU 算力成本對比</a:t>
            </a:r>
            <a:endParaRPr sz="1400" b="0" i="0" u="none" strike="noStrike" cap="none">
              <a:solidFill>
                <a:srgbClr val="000000"/>
              </a:solidFill>
              <a:latin typeface="Arial"/>
              <a:ea typeface="Arial"/>
              <a:cs typeface="Arial"/>
              <a:sym typeface="Arial"/>
            </a:endParaRPr>
          </a:p>
        </p:txBody>
      </p:sp>
      <p:sp>
        <p:nvSpPr>
          <p:cNvPr id="336" name="Google Shape;336;p42"/>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ASIC 具成本優勢</a:t>
            </a:r>
            <a:endParaRPr sz="1800" b="1" i="0" u="none" strike="noStrike" cap="none">
              <a:solidFill>
                <a:schemeClr val="dk1"/>
              </a:solidFill>
              <a:latin typeface="Microsoft JhengHei"/>
              <a:ea typeface="Microsoft JhengHei"/>
              <a:cs typeface="Microsoft JhengHei"/>
              <a:sym typeface="Microsoft JhengHei"/>
            </a:endParaRPr>
          </a:p>
        </p:txBody>
      </p:sp>
      <p:sp>
        <p:nvSpPr>
          <p:cNvPr id="337" name="Google Shape;337;p42"/>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FFFFFF"/>
                </a:solidFill>
                <a:latin typeface="Microsoft JhengHei"/>
                <a:ea typeface="Microsoft JhengHei"/>
                <a:cs typeface="Microsoft JhengHei"/>
                <a:sym typeface="Microsoft JhengHei"/>
              </a:rPr>
              <a:t>結論</a:t>
            </a:r>
            <a:endParaRPr sz="1100" b="0" i="0" u="none" strike="noStrike" cap="none">
              <a:solidFill>
                <a:srgbClr val="000000"/>
              </a:solidFill>
              <a:latin typeface="Arial"/>
              <a:ea typeface="Arial"/>
              <a:cs typeface="Arial"/>
              <a:sym typeface="Arial"/>
            </a:endParaRPr>
          </a:p>
        </p:txBody>
      </p:sp>
      <p:sp>
        <p:nvSpPr>
          <p:cNvPr id="338" name="Google Shape;338;p42"/>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0" i="0" u="none" strike="noStrike" cap="none">
              <a:solidFill>
                <a:srgbClr val="C9B4A5"/>
              </a:solidFill>
              <a:latin typeface="Arial"/>
              <a:ea typeface="Arial"/>
              <a:cs typeface="Arial"/>
              <a:sym typeface="Arial"/>
            </a:endParaRPr>
          </a:p>
        </p:txBody>
      </p:sp>
      <p:sp>
        <p:nvSpPr>
          <p:cNvPr id="339" name="Google Shape;339;p42"/>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340" name="Google Shape;340;p42"/>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341" name="Google Shape;341;p42"/>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342" name="Google Shape;342;p42"/>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43" name="Google Shape;343;p42"/>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344" name="Google Shape;344;p42"/>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45" name="Google Shape;345;p42"/>
          <p:cNvSpPr/>
          <p:nvPr/>
        </p:nvSpPr>
        <p:spPr>
          <a:xfrm>
            <a:off x="413801" y="2169068"/>
            <a:ext cx="4018502" cy="273900"/>
          </a:xfrm>
          <a:prstGeom prst="rect">
            <a:avLst/>
          </a:prstGeom>
          <a:solidFill>
            <a:srgbClr val="F1A53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ASIC、GPU 推理端</a:t>
            </a:r>
            <a:r>
              <a:rPr lang="zh-TW" sz="1100" b="1" i="0" u="none" strike="noStrike" cap="none">
                <a:solidFill>
                  <a:schemeClr val="dk1"/>
                </a:solidFill>
                <a:latin typeface="Microsoft JhengHei"/>
                <a:ea typeface="Microsoft JhengHei"/>
                <a:cs typeface="Microsoft JhengHei"/>
                <a:sym typeface="Microsoft JhengHei"/>
              </a:rPr>
              <a:t>(Llama 2 70B model)</a:t>
            </a:r>
            <a:r>
              <a:rPr lang="zh-TW" sz="1400" b="1" i="0" u="none" strike="noStrike" cap="none">
                <a:solidFill>
                  <a:schemeClr val="dk1"/>
                </a:solidFill>
                <a:latin typeface="Microsoft JhengHei"/>
                <a:ea typeface="Microsoft JhengHei"/>
                <a:cs typeface="Microsoft JhengHei"/>
                <a:sym typeface="Microsoft JhengHei"/>
              </a:rPr>
              <a:t>總體成本</a:t>
            </a:r>
            <a:endParaRPr sz="1400" b="0" i="0" u="none" strike="noStrike" cap="none">
              <a:solidFill>
                <a:srgbClr val="000000"/>
              </a:solidFill>
              <a:latin typeface="Arial"/>
              <a:ea typeface="Arial"/>
              <a:cs typeface="Arial"/>
              <a:sym typeface="Arial"/>
            </a:endParaRPr>
          </a:p>
        </p:txBody>
      </p:sp>
      <p:sp>
        <p:nvSpPr>
          <p:cNvPr id="346" name="Google Shape;346;p42"/>
          <p:cNvSpPr txBox="1"/>
          <p:nvPr/>
        </p:nvSpPr>
        <p:spPr>
          <a:xfrm>
            <a:off x="413801" y="878376"/>
            <a:ext cx="8254200" cy="12621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 ASIC 的硬體結構為特定任務量身定制，省去了許多針對通用加速計算的不必要硬體設計，其單位算力成本因此相較於 GPU 更低。</a:t>
            </a:r>
            <a:endParaRPr sz="1400" b="0" i="0" u="none" strike="noStrike" cap="none">
              <a:solidFill>
                <a:schemeClr val="dk1"/>
              </a:solidFill>
              <a:latin typeface="Microsoft JhengHei"/>
              <a:ea typeface="Microsoft JhengHei"/>
              <a:cs typeface="Microsoft JhengHei"/>
              <a:sym typeface="Microsoft JhengHei"/>
            </a:endParaRPr>
          </a:p>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左表在相同目標吞吐量下，各平台的 TCO 存在明顯落差，ASIC 整體成本相對通用 GPU 平台可少到</a:t>
            </a:r>
            <a:r>
              <a:rPr lang="zh-TW" sz="1400" b="1" i="0" u="none" strike="noStrike" cap="none">
                <a:solidFill>
                  <a:schemeClr val="dk1"/>
                </a:solidFill>
                <a:latin typeface="Microsoft JhengHei"/>
                <a:ea typeface="Microsoft JhengHei"/>
                <a:cs typeface="Microsoft JhengHei"/>
                <a:sym typeface="Microsoft JhengHei"/>
              </a:rPr>
              <a:t>約 40–60%</a:t>
            </a:r>
            <a:r>
              <a:rPr lang="zh-TW" sz="1400" b="0" i="0" u="none" strike="noStrike" cap="none">
                <a:solidFill>
                  <a:schemeClr val="dk1"/>
                </a:solidFill>
                <a:latin typeface="Microsoft JhengHei"/>
                <a:ea typeface="Microsoft JhengHei"/>
                <a:cs typeface="Microsoft JhengHei"/>
                <a:sym typeface="Microsoft JhengHei"/>
              </a:rPr>
              <a:t> 的量級。</a:t>
            </a:r>
            <a:endParaRPr sz="1400" b="0" i="0" u="none" strike="noStrike" cap="none">
              <a:solidFill>
                <a:schemeClr val="dk1"/>
              </a:solidFill>
              <a:latin typeface="Microsoft JhengHei"/>
              <a:ea typeface="Microsoft JhengHei"/>
              <a:cs typeface="Microsoft JhengHei"/>
              <a:sym typeface="Microsoft JhengHei"/>
            </a:endParaRPr>
          </a:p>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右表柱狀比較顯示 GPU 代際雖有降價趨勢，但</a:t>
            </a:r>
            <a:r>
              <a:rPr lang="zh-TW">
                <a:solidFill>
                  <a:schemeClr val="dk1"/>
                </a:solidFill>
                <a:latin typeface="Microsoft JhengHei"/>
                <a:ea typeface="Microsoft JhengHei"/>
                <a:cs typeface="Microsoft JhengHei"/>
                <a:sym typeface="Microsoft JhengHei"/>
              </a:rPr>
              <a:t>圖表可以明顯看出</a:t>
            </a:r>
            <a:r>
              <a:rPr lang="zh-TW" sz="1400" b="0" i="0" u="none" strike="noStrike" cap="none">
                <a:solidFill>
                  <a:schemeClr val="dk1"/>
                </a:solidFill>
                <a:latin typeface="Microsoft JhengHei"/>
                <a:ea typeface="Microsoft JhengHei"/>
                <a:cs typeface="Microsoft JhengHei"/>
                <a:sym typeface="Microsoft JhengHei"/>
              </a:rPr>
              <a:t>雲端自研 ASIC 單位成本更低</a:t>
            </a:r>
            <a:endParaRPr sz="1400" b="0" i="0" u="none" strike="noStrike" cap="none">
              <a:solidFill>
                <a:schemeClr val="dk1"/>
              </a:solidFill>
              <a:latin typeface="Microsoft JhengHei"/>
              <a:ea typeface="Microsoft JhengHei"/>
              <a:cs typeface="Microsoft JhengHei"/>
              <a:sym typeface="Microsoft JhengHei"/>
            </a:endParaRPr>
          </a:p>
        </p:txBody>
      </p:sp>
      <p:pic>
        <p:nvPicPr>
          <p:cNvPr id="347" name="Google Shape;347;p42"/>
          <p:cNvPicPr preferRelativeResize="0"/>
          <p:nvPr/>
        </p:nvPicPr>
        <p:blipFill rotWithShape="1">
          <a:blip r:embed="rId5">
            <a:alphaModFix/>
          </a:blip>
          <a:srcRect/>
          <a:stretch/>
        </p:blipFill>
        <p:spPr>
          <a:xfrm>
            <a:off x="413801" y="2442969"/>
            <a:ext cx="4018502" cy="2285580"/>
          </a:xfrm>
          <a:prstGeom prst="rect">
            <a:avLst/>
          </a:prstGeom>
          <a:noFill/>
          <a:ln>
            <a:noFill/>
          </a:ln>
        </p:spPr>
      </p:pic>
      <p:pic>
        <p:nvPicPr>
          <p:cNvPr id="348" name="Google Shape;348;p42"/>
          <p:cNvPicPr preferRelativeResize="0"/>
          <p:nvPr/>
        </p:nvPicPr>
        <p:blipFill rotWithShape="1">
          <a:blip r:embed="rId6">
            <a:alphaModFix/>
          </a:blip>
          <a:srcRect/>
          <a:stretch/>
        </p:blipFill>
        <p:spPr>
          <a:xfrm>
            <a:off x="4711700" y="2442968"/>
            <a:ext cx="3956302" cy="22855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3"/>
          <p:cNvSpPr/>
          <p:nvPr/>
        </p:nvSpPr>
        <p:spPr>
          <a:xfrm>
            <a:off x="439700" y="986172"/>
            <a:ext cx="8254200" cy="947075"/>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55" name="Google Shape;355;p43"/>
          <p:cNvPicPr preferRelativeResize="0"/>
          <p:nvPr/>
        </p:nvPicPr>
        <p:blipFill rotWithShape="1">
          <a:blip r:embed="rId3">
            <a:alphaModFix/>
          </a:blip>
          <a:srcRect/>
          <a:stretch/>
        </p:blipFill>
        <p:spPr>
          <a:xfrm>
            <a:off x="7646482" y="4902041"/>
            <a:ext cx="1085425" cy="168988"/>
          </a:xfrm>
          <a:prstGeom prst="rect">
            <a:avLst/>
          </a:prstGeom>
          <a:noFill/>
          <a:ln>
            <a:noFill/>
          </a:ln>
        </p:spPr>
      </p:pic>
      <p:cxnSp>
        <p:nvCxnSpPr>
          <p:cNvPr id="356" name="Google Shape;356;p43"/>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357" name="Google Shape;357;p43"/>
          <p:cNvSpPr txBox="1"/>
          <p:nvPr/>
        </p:nvSpPr>
        <p:spPr>
          <a:xfrm>
            <a:off x="272775" y="4884250"/>
            <a:ext cx="7373700" cy="408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Morgan Stanley research、 </a:t>
            </a:r>
            <a:r>
              <a:rPr lang="zh-TW" sz="1100" i="1" u="none" strike="noStrike" cap="none" dirty="0">
                <a:solidFill>
                  <a:schemeClr val="dk1"/>
                </a:solidFill>
                <a:highlight>
                  <a:srgbClr val="FFFFFF"/>
                </a:highlight>
                <a:uFill>
                  <a:noFill/>
                </a:uFill>
                <a:latin typeface="Microsoft JhengHei"/>
                <a:ea typeface="Microsoft JhengHei"/>
                <a:cs typeface="Microsoft JhengHei"/>
                <a:sym typeface="Microsoft JhengHei"/>
                <a:hlinkClick r:id="rId4">
                  <a:extLst>
                    <a:ext uri="{A12FA001-AC4F-418D-AE19-62706E023703}">
                      <ahyp:hlinkClr xmlns:ahyp="http://schemas.microsoft.com/office/drawing/2018/hyperlinkcolor" val="tx"/>
                    </a:ext>
                  </a:extLst>
                </a:hlinkClick>
              </a:rPr>
              <a:t>A Fair Comparison between ML Hardware</a:t>
            </a:r>
            <a:r>
              <a:rPr lang="zh-TW" sz="1100" i="1" u="none" strike="noStrike" cap="none" dirty="0">
                <a:solidFill>
                  <a:schemeClr val="dk1"/>
                </a:solidFill>
                <a:highlight>
                  <a:srgbClr val="FFFFFF"/>
                </a:highlight>
                <a:latin typeface="Microsoft JhengHei"/>
                <a:ea typeface="Microsoft JhengHei"/>
                <a:cs typeface="Microsoft JhengHei"/>
                <a:sym typeface="Microsoft JhengHei"/>
              </a:rPr>
              <a:t> by </a:t>
            </a:r>
            <a:r>
              <a:rPr lang="zh-TW" sz="1100" i="1" u="none" strike="noStrike" cap="none" dirty="0">
                <a:solidFill>
                  <a:schemeClr val="dk1"/>
                </a:solidFill>
                <a:highlight>
                  <a:srgbClr val="FFFFFF"/>
                </a:highlight>
                <a:uFill>
                  <a:noFill/>
                </a:uFill>
                <a:latin typeface="Microsoft JhengHei"/>
                <a:ea typeface="Microsoft JhengHei"/>
                <a:cs typeface="Microsoft JhengHei"/>
                <a:sym typeface="Microsoft JhengHei"/>
                <a:hlinkClick r:id="rId5">
                  <a:extLst>
                    <a:ext uri="{A12FA001-AC4F-418D-AE19-62706E023703}">
                      <ahyp:hlinkClr xmlns:ahyp="http://schemas.microsoft.com/office/drawing/2018/hyperlinkcolor" val="tx"/>
                    </a:ext>
                  </a:extLst>
                </a:hlinkClick>
              </a:rPr>
              <a:t>Mahmoud Khairy</a:t>
            </a:r>
            <a:endParaRPr sz="1100" i="0" u="none" strike="noStrike" cap="none" dirty="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dirty="0">
              <a:solidFill>
                <a:schemeClr val="dk1"/>
              </a:solidFill>
              <a:latin typeface="Microsoft JhengHei"/>
              <a:ea typeface="Microsoft JhengHei"/>
              <a:cs typeface="Microsoft JhengHei"/>
              <a:sym typeface="Microsoft JhengHei"/>
            </a:endParaRPr>
          </a:p>
        </p:txBody>
      </p:sp>
      <p:sp>
        <p:nvSpPr>
          <p:cNvPr id="358" name="Google Shape;358;p43"/>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7</a:t>
            </a:fld>
            <a:endParaRPr/>
          </a:p>
        </p:txBody>
      </p:sp>
      <p:grpSp>
        <p:nvGrpSpPr>
          <p:cNvPr id="359" name="Google Shape;359;p43"/>
          <p:cNvGrpSpPr/>
          <p:nvPr/>
        </p:nvGrpSpPr>
        <p:grpSpPr>
          <a:xfrm>
            <a:off x="242301" y="434035"/>
            <a:ext cx="484808" cy="484808"/>
            <a:chOff x="1628775" y="1381125"/>
            <a:chExt cx="1352700" cy="1352700"/>
          </a:xfrm>
        </p:grpSpPr>
        <p:sp>
          <p:nvSpPr>
            <p:cNvPr id="360" name="Google Shape;360;p43"/>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61" name="Google Shape;361;p43"/>
            <p:cNvPicPr preferRelativeResize="0"/>
            <p:nvPr/>
          </p:nvPicPr>
          <p:blipFill rotWithShape="1">
            <a:blip r:embed="rId6">
              <a:alphaModFix/>
            </a:blip>
            <a:srcRect/>
            <a:stretch/>
          </p:blipFill>
          <p:spPr>
            <a:xfrm>
              <a:off x="1760962" y="1929413"/>
              <a:ext cx="1134638" cy="309446"/>
            </a:xfrm>
            <a:prstGeom prst="rect">
              <a:avLst/>
            </a:prstGeom>
            <a:noFill/>
            <a:ln>
              <a:noFill/>
            </a:ln>
          </p:spPr>
        </p:pic>
      </p:grpSp>
      <p:sp>
        <p:nvSpPr>
          <p:cNvPr id="362" name="Google Shape;362;p43"/>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ASIC 對專門設計之效用有優勢，GPU則在總體算力佔優</a:t>
            </a:r>
            <a:endParaRPr sz="1800" b="1" i="0" u="none" strike="noStrike" cap="none">
              <a:solidFill>
                <a:schemeClr val="dk1"/>
              </a:solidFill>
              <a:latin typeface="Microsoft JhengHei"/>
              <a:ea typeface="Microsoft JhengHei"/>
              <a:cs typeface="Microsoft JhengHei"/>
              <a:sym typeface="Microsoft JhengHei"/>
            </a:endParaRPr>
          </a:p>
        </p:txBody>
      </p:sp>
      <p:sp>
        <p:nvSpPr>
          <p:cNvPr id="363" name="Google Shape;363;p43"/>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FFFFFF"/>
                </a:solidFill>
                <a:latin typeface="Microsoft JhengHei"/>
                <a:ea typeface="Microsoft JhengHei"/>
                <a:cs typeface="Microsoft JhengHei"/>
                <a:sym typeface="Microsoft JhengHei"/>
              </a:rPr>
              <a:t>結論</a:t>
            </a:r>
            <a:endParaRPr sz="1100" b="0" i="0" u="none" strike="noStrike" cap="none">
              <a:solidFill>
                <a:srgbClr val="000000"/>
              </a:solidFill>
              <a:latin typeface="Arial"/>
              <a:ea typeface="Arial"/>
              <a:cs typeface="Arial"/>
              <a:sym typeface="Arial"/>
            </a:endParaRPr>
          </a:p>
        </p:txBody>
      </p:sp>
      <p:sp>
        <p:nvSpPr>
          <p:cNvPr id="364" name="Google Shape;364;p43"/>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0" i="0" u="none" strike="noStrike" cap="none">
              <a:solidFill>
                <a:srgbClr val="C9B4A5"/>
              </a:solidFill>
              <a:latin typeface="Arial"/>
              <a:ea typeface="Arial"/>
              <a:cs typeface="Arial"/>
              <a:sym typeface="Arial"/>
            </a:endParaRPr>
          </a:p>
        </p:txBody>
      </p:sp>
      <p:sp>
        <p:nvSpPr>
          <p:cNvPr id="365" name="Google Shape;365;p43"/>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366" name="Google Shape;366;p43"/>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367" name="Google Shape;367;p43"/>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368" name="Google Shape;368;p43"/>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69" name="Google Shape;369;p43"/>
          <p:cNvSpPr/>
          <p:nvPr/>
        </p:nvSpPr>
        <p:spPr>
          <a:xfrm>
            <a:off x="460790" y="2164789"/>
            <a:ext cx="3960851" cy="323760"/>
          </a:xfrm>
          <a:prstGeom prst="rect">
            <a:avLst/>
          </a:prstGeom>
          <a:solidFill>
            <a:srgbClr val="F1A539"/>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ASIC、 GPU 訓練端對架構專門模型下效用</a:t>
            </a:r>
            <a:endParaRPr sz="1400" b="0" i="0" u="none" strike="noStrike" cap="none">
              <a:solidFill>
                <a:srgbClr val="000000"/>
              </a:solidFill>
              <a:latin typeface="Arial"/>
              <a:ea typeface="Arial"/>
              <a:cs typeface="Arial"/>
              <a:sym typeface="Arial"/>
            </a:endParaRPr>
          </a:p>
        </p:txBody>
      </p:sp>
      <p:sp>
        <p:nvSpPr>
          <p:cNvPr id="370" name="Google Shape;370;p43"/>
          <p:cNvSpPr txBox="1"/>
          <p:nvPr/>
        </p:nvSpPr>
        <p:spPr>
          <a:xfrm>
            <a:off x="460790" y="933832"/>
            <a:ext cx="8254199" cy="886200"/>
          </a:xfrm>
          <a:prstGeom prst="rect">
            <a:avLst/>
          </a:prstGeom>
          <a:noFill/>
          <a:ln>
            <a:noFill/>
          </a:ln>
        </p:spPr>
        <p:txBody>
          <a:bodyPr spcFirstLastPara="1" wrap="square" lIns="91425" tIns="91425" rIns="91425" bIns="91425" anchor="t" anchorCtr="0">
            <a:noAutofit/>
          </a:bodyPr>
          <a:lstStyle/>
          <a:p>
            <a:pPr marL="171450" marR="0" lvl="0" indent="-1714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GPU 的通用性與相較於 ASIC 高，以及更加強大的並行運算能力使其在要求運算精度以及非線性運算的 AI 模型訓練端有更好的處理能力。而 ASIC 是一種針對特定應用訂製的晶片，在執行單一或特定類型的任務時具有更低的能耗表現。AI 模型推理端因模型權重已經固定，僅需執行大量矩陣運算，對運算精度的要求也較訓練端低，因此 ASIC 在此場景能夠有效發揮其優勢。</a:t>
            </a:r>
            <a:endParaRPr sz="1400" b="0" i="0" u="none" strike="noStrike" cap="none">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Microsoft JhengHei"/>
              <a:ea typeface="Microsoft JhengHei"/>
              <a:cs typeface="Microsoft JhengHei"/>
              <a:sym typeface="Microsoft JhengHei"/>
            </a:endParaRPr>
          </a:p>
        </p:txBody>
      </p:sp>
      <p:sp>
        <p:nvSpPr>
          <p:cNvPr id="371" name="Google Shape;371;p43"/>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372" name="Google Shape;372;p43"/>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graphicFrame>
        <p:nvGraphicFramePr>
          <p:cNvPr id="373" name="Google Shape;373;p43"/>
          <p:cNvGraphicFramePr/>
          <p:nvPr/>
        </p:nvGraphicFramePr>
        <p:xfrm>
          <a:off x="4701084" y="2488550"/>
          <a:ext cx="3972400" cy="2263885"/>
        </p:xfrm>
        <a:graphic>
          <a:graphicData uri="http://schemas.openxmlformats.org/drawingml/2006/table">
            <a:tbl>
              <a:tblPr firstRow="1" bandRow="1">
                <a:noFill/>
                <a:tableStyleId>{5B3F1780-09E0-4DCD-8390-57DA732C40BE}</a:tableStyleId>
              </a:tblPr>
              <a:tblGrid>
                <a:gridCol w="1994350">
                  <a:extLst>
                    <a:ext uri="{9D8B030D-6E8A-4147-A177-3AD203B41FA5}">
                      <a16:colId xmlns:a16="http://schemas.microsoft.com/office/drawing/2014/main" val="20000"/>
                    </a:ext>
                  </a:extLst>
                </a:gridCol>
                <a:gridCol w="1978050">
                  <a:extLst>
                    <a:ext uri="{9D8B030D-6E8A-4147-A177-3AD203B41FA5}">
                      <a16:colId xmlns:a16="http://schemas.microsoft.com/office/drawing/2014/main" val="20001"/>
                    </a:ext>
                  </a:extLst>
                </a:gridCol>
              </a:tblGrid>
              <a:tr h="302125">
                <a:tc>
                  <a:txBody>
                    <a:bodyPr/>
                    <a:lstStyle/>
                    <a:p>
                      <a:pPr marL="0" marR="0" lvl="0" indent="0" algn="ctr" rtl="0">
                        <a:lnSpc>
                          <a:spcPct val="100000"/>
                        </a:lnSpc>
                        <a:spcBef>
                          <a:spcPts val="0"/>
                        </a:spcBef>
                        <a:spcAft>
                          <a:spcPts val="0"/>
                        </a:spcAft>
                        <a:buClr>
                          <a:srgbClr val="000000"/>
                        </a:buClr>
                        <a:buSzPts val="1100"/>
                        <a:buFont typeface="Arial"/>
                        <a:buNone/>
                      </a:pPr>
                      <a:r>
                        <a:rPr lang="zh-TW" sz="1400" u="none" strike="noStrike" cap="none">
                          <a:solidFill>
                            <a:srgbClr val="000000"/>
                          </a:solidFill>
                          <a:latin typeface="Microsoft JhengHei"/>
                          <a:ea typeface="Microsoft JhengHei"/>
                          <a:cs typeface="Microsoft JhengHei"/>
                          <a:sym typeface="Microsoft JhengHei"/>
                        </a:rPr>
                        <a:t>GPU 更適用於訓練</a:t>
                      </a:r>
                      <a:endParaRPr sz="1400" u="none" strike="noStrike" cap="none"/>
                    </a:p>
                  </a:txBody>
                  <a:tcPr marL="68600" marR="68600" marT="36000" marB="36000" anchor="ctr">
                    <a:solidFill>
                      <a:srgbClr val="F1A53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zh-TW" sz="1400" u="none" strike="noStrike" cap="none">
                          <a:solidFill>
                            <a:srgbClr val="000000"/>
                          </a:solidFill>
                          <a:latin typeface="Microsoft JhengHei"/>
                          <a:ea typeface="Microsoft JhengHei"/>
                          <a:cs typeface="Microsoft JhengHei"/>
                          <a:sym typeface="Microsoft JhengHei"/>
                        </a:rPr>
                        <a:t>ASIC 更適用於推理</a:t>
                      </a:r>
                      <a:endParaRPr sz="1400" u="none" strike="noStrike" cap="none">
                        <a:solidFill>
                          <a:srgbClr val="000000"/>
                        </a:solidFill>
                        <a:latin typeface="Microsoft JhengHei"/>
                        <a:ea typeface="Microsoft JhengHei"/>
                        <a:cs typeface="Microsoft JhengHei"/>
                        <a:sym typeface="Microsoft JhengHei"/>
                      </a:endParaRPr>
                    </a:p>
                  </a:txBody>
                  <a:tcPr marL="68600" marR="68600" marT="36000" marB="36000" anchor="ctr">
                    <a:solidFill>
                      <a:srgbClr val="F1A539"/>
                    </a:solidFill>
                  </a:tcPr>
                </a:tc>
                <a:extLst>
                  <a:ext uri="{0D108BD9-81ED-4DB2-BD59-A6C34878D82A}">
                    <a16:rowId xmlns:a16="http://schemas.microsoft.com/office/drawing/2014/main" val="10000"/>
                  </a:ext>
                </a:extLst>
              </a:tr>
              <a:tr h="1878725">
                <a:tc>
                  <a:txBody>
                    <a:bodyPr/>
                    <a:lstStyle/>
                    <a:p>
                      <a:pPr marL="171450" marR="0" lvl="0" indent="-101600" algn="l" rtl="0">
                        <a:lnSpc>
                          <a:spcPct val="100000"/>
                        </a:lnSpc>
                        <a:spcBef>
                          <a:spcPts val="0"/>
                        </a:spcBef>
                        <a:spcAft>
                          <a:spcPts val="0"/>
                        </a:spcAft>
                        <a:buClr>
                          <a:srgbClr val="000000"/>
                        </a:buClr>
                        <a:buSzPts val="1100"/>
                        <a:buFont typeface="Arial"/>
                        <a:buNone/>
                      </a:pPr>
                      <a:endParaRPr sz="1100" u="none" strike="noStrike" cap="none">
                        <a:latin typeface="Microsoft JhengHei"/>
                        <a:ea typeface="Microsoft JhengHei"/>
                        <a:cs typeface="Microsoft JhengHei"/>
                        <a:sym typeface="Microsoft JhengHei"/>
                      </a:endParaRPr>
                    </a:p>
                    <a:p>
                      <a:pPr marL="171450" marR="0" lvl="0" indent="-171450" algn="l" rtl="0">
                        <a:lnSpc>
                          <a:spcPct val="100000"/>
                        </a:lnSpc>
                        <a:spcBef>
                          <a:spcPts val="0"/>
                        </a:spcBef>
                        <a:spcAft>
                          <a:spcPts val="0"/>
                        </a:spcAft>
                        <a:buClr>
                          <a:srgbClr val="000000"/>
                        </a:buClr>
                        <a:buSzPts val="1100"/>
                        <a:buFont typeface="Arial"/>
                        <a:buChar char="•"/>
                      </a:pPr>
                      <a:r>
                        <a:rPr lang="zh-TW" sz="1100" u="none" strike="noStrike" cap="none">
                          <a:latin typeface="Microsoft JhengHei"/>
                          <a:ea typeface="Microsoft JhengHei"/>
                          <a:cs typeface="Microsoft JhengHei"/>
                          <a:sym typeface="Microsoft JhengHei"/>
                        </a:rPr>
                        <a:t>AI 訓練過程需要處理大量的資料與複雜的計算，對晶片的運算能力以及平行處理能力要求高。</a:t>
                      </a:r>
                      <a:endParaRPr sz="1100" u="none" strike="noStrike" cap="none">
                        <a:latin typeface="Microsoft JhengHei"/>
                        <a:ea typeface="Microsoft JhengHei"/>
                        <a:cs typeface="Microsoft JhengHei"/>
                        <a:sym typeface="Microsoft JhengHei"/>
                      </a:endParaRPr>
                    </a:p>
                    <a:p>
                      <a:pPr marL="171450" marR="0" lvl="0" indent="-171450" algn="l" rtl="0">
                        <a:lnSpc>
                          <a:spcPct val="100000"/>
                        </a:lnSpc>
                        <a:spcBef>
                          <a:spcPts val="0"/>
                        </a:spcBef>
                        <a:spcAft>
                          <a:spcPts val="0"/>
                        </a:spcAft>
                        <a:buClr>
                          <a:srgbClr val="000000"/>
                        </a:buClr>
                        <a:buSzPts val="1100"/>
                        <a:buFont typeface="Arial"/>
                        <a:buChar char="•"/>
                      </a:pPr>
                      <a:r>
                        <a:rPr lang="zh-TW" sz="1100" u="none" strike="noStrike" cap="none">
                          <a:latin typeface="Microsoft JhengHei"/>
                          <a:ea typeface="Microsoft JhengHei"/>
                          <a:cs typeface="Microsoft JhengHei"/>
                          <a:sym typeface="Microsoft JhengHei"/>
                        </a:rPr>
                        <a:t>而GPU 對於</a:t>
                      </a:r>
                      <a:r>
                        <a:rPr lang="zh-TW" sz="1100" b="1" u="none" strike="noStrike" cap="none">
                          <a:latin typeface="Microsoft JhengHei"/>
                          <a:ea typeface="Microsoft JhengHei"/>
                          <a:cs typeface="Microsoft JhengHei"/>
                          <a:sym typeface="Microsoft JhengHei"/>
                        </a:rPr>
                        <a:t>並行運算能力較優</a:t>
                      </a:r>
                      <a:r>
                        <a:rPr lang="zh-TW" sz="1100" u="none" strike="noStrike" cap="none">
                          <a:latin typeface="Microsoft JhengHei"/>
                          <a:ea typeface="Microsoft JhengHei"/>
                          <a:cs typeface="Microsoft JhengHei"/>
                          <a:sym typeface="Microsoft JhengHei"/>
                        </a:rPr>
                        <a:t>；</a:t>
                      </a:r>
                      <a:r>
                        <a:rPr lang="zh-TW" sz="1100" b="1" u="none" strike="noStrike" cap="none">
                          <a:latin typeface="Microsoft JhengHei"/>
                          <a:ea typeface="Microsoft JhengHei"/>
                          <a:cs typeface="Microsoft JhengHei"/>
                          <a:sym typeface="Microsoft JhengHei"/>
                        </a:rPr>
                        <a:t>高度靈活性</a:t>
                      </a:r>
                      <a:r>
                        <a:rPr lang="zh-TW" sz="1100" u="none" strike="noStrike" cap="none">
                          <a:latin typeface="Microsoft JhengHei"/>
                          <a:ea typeface="Microsoft JhengHei"/>
                          <a:cs typeface="Microsoft JhengHei"/>
                          <a:sym typeface="Microsoft JhengHei"/>
                        </a:rPr>
                        <a:t>也使其更適合這種頻繁的調試與反覆迭代。</a:t>
                      </a:r>
                      <a:endParaRPr sz="1100" u="none" strike="noStrike" cap="none">
                        <a:latin typeface="Microsoft JhengHei"/>
                        <a:ea typeface="Microsoft JhengHei"/>
                        <a:cs typeface="Microsoft JhengHei"/>
                        <a:sym typeface="Microsoft JhengHei"/>
                      </a:endParaRPr>
                    </a:p>
                  </a:txBody>
                  <a:tcPr marL="68600" marR="68600" marT="36000" marB="36000">
                    <a:solidFill>
                      <a:srgbClr val="FFF6ED"/>
                    </a:solidFill>
                  </a:tcPr>
                </a:tc>
                <a:tc>
                  <a:txBody>
                    <a:bodyPr/>
                    <a:lstStyle/>
                    <a:p>
                      <a:pPr marL="171450" marR="0" lvl="0" indent="-101600" algn="l" rtl="0">
                        <a:lnSpc>
                          <a:spcPct val="100000"/>
                        </a:lnSpc>
                        <a:spcBef>
                          <a:spcPts val="0"/>
                        </a:spcBef>
                        <a:spcAft>
                          <a:spcPts val="0"/>
                        </a:spcAft>
                        <a:buClr>
                          <a:srgbClr val="000000"/>
                        </a:buClr>
                        <a:buSzPts val="1100"/>
                        <a:buFont typeface="Arial"/>
                        <a:buNone/>
                      </a:pPr>
                      <a:endParaRPr sz="1100" u="none" strike="noStrike" cap="none">
                        <a:latin typeface="Microsoft JhengHei"/>
                        <a:ea typeface="Microsoft JhengHei"/>
                        <a:cs typeface="Microsoft JhengHei"/>
                        <a:sym typeface="Microsoft JhengHei"/>
                      </a:endParaRPr>
                    </a:p>
                    <a:p>
                      <a:pPr marL="171450" marR="0" lvl="0" indent="-171450" algn="l" rtl="0">
                        <a:lnSpc>
                          <a:spcPct val="100000"/>
                        </a:lnSpc>
                        <a:spcBef>
                          <a:spcPts val="0"/>
                        </a:spcBef>
                        <a:spcAft>
                          <a:spcPts val="0"/>
                        </a:spcAft>
                        <a:buClr>
                          <a:srgbClr val="000000"/>
                        </a:buClr>
                        <a:buSzPts val="1100"/>
                        <a:buFont typeface="Arial"/>
                        <a:buChar char="•"/>
                      </a:pPr>
                      <a:r>
                        <a:rPr lang="zh-TW" sz="1100" u="none" strike="noStrike" cap="none">
                          <a:latin typeface="Microsoft JhengHei"/>
                          <a:ea typeface="Microsoft JhengHei"/>
                          <a:cs typeface="Microsoft JhengHei"/>
                          <a:sym typeface="Microsoft JhengHei"/>
                        </a:rPr>
                        <a:t>在推理階段，需要對輸入的資料進行快速的預測與分類。</a:t>
                      </a:r>
                      <a:endParaRPr sz="1100" u="none" strike="noStrike" cap="none">
                        <a:latin typeface="Microsoft JhengHei"/>
                        <a:ea typeface="Microsoft JhengHei"/>
                        <a:cs typeface="Microsoft JhengHei"/>
                        <a:sym typeface="Microsoft JhengHei"/>
                      </a:endParaRPr>
                    </a:p>
                    <a:p>
                      <a:pPr marL="171450" marR="0" lvl="0" indent="-171450" algn="l" rtl="0">
                        <a:lnSpc>
                          <a:spcPct val="100000"/>
                        </a:lnSpc>
                        <a:spcBef>
                          <a:spcPts val="0"/>
                        </a:spcBef>
                        <a:spcAft>
                          <a:spcPts val="0"/>
                        </a:spcAft>
                        <a:buClr>
                          <a:srgbClr val="000000"/>
                        </a:buClr>
                        <a:buSzPts val="1100"/>
                        <a:buFont typeface="Arial"/>
                        <a:buChar char="•"/>
                      </a:pPr>
                      <a:r>
                        <a:rPr lang="zh-TW" sz="1100" u="none" strike="noStrike" cap="none">
                          <a:latin typeface="Microsoft JhengHei"/>
                          <a:ea typeface="Microsoft JhengHei"/>
                          <a:cs typeface="Microsoft JhengHei"/>
                          <a:sym typeface="Microsoft JhengHei"/>
                        </a:rPr>
                        <a:t>ASIC 高度客製化的特性針對推理任務進行最佳化，</a:t>
                      </a:r>
                      <a:r>
                        <a:rPr lang="zh-TW" sz="1100" b="1" u="none" strike="noStrike" cap="none">
                          <a:latin typeface="Microsoft JhengHei"/>
                          <a:ea typeface="Microsoft JhengHei"/>
                          <a:cs typeface="Microsoft JhengHei"/>
                          <a:sym typeface="Microsoft JhengHei"/>
                        </a:rPr>
                        <a:t>以較低的功耗實現高速的推理運算</a:t>
                      </a:r>
                      <a:r>
                        <a:rPr lang="zh-TW" sz="1100" u="none" strike="noStrike" cap="none">
                          <a:latin typeface="Microsoft JhengHei"/>
                          <a:ea typeface="Microsoft JhengHei"/>
                          <a:cs typeface="Microsoft JhengHei"/>
                          <a:sym typeface="Microsoft JhengHei"/>
                        </a:rPr>
                        <a:t>。因此ASIC 的成本優勢更加明顯，有效降低企業的營運成本。</a:t>
                      </a:r>
                      <a:endParaRPr sz="1100" u="none" strike="noStrike" cap="none">
                        <a:latin typeface="Microsoft JhengHei"/>
                        <a:ea typeface="Microsoft JhengHei"/>
                        <a:cs typeface="Microsoft JhengHei"/>
                        <a:sym typeface="Microsoft JhengHei"/>
                      </a:endParaRPr>
                    </a:p>
                    <a:p>
                      <a:pPr marL="0" marR="0" lvl="0" indent="0" algn="ctr" rtl="0">
                        <a:lnSpc>
                          <a:spcPct val="100000"/>
                        </a:lnSpc>
                        <a:spcBef>
                          <a:spcPts val="0"/>
                        </a:spcBef>
                        <a:spcAft>
                          <a:spcPts val="0"/>
                        </a:spcAft>
                        <a:buClr>
                          <a:srgbClr val="000000"/>
                        </a:buClr>
                        <a:buSzPts val="1400"/>
                        <a:buFont typeface="Arial"/>
                        <a:buNone/>
                      </a:pPr>
                      <a:endParaRPr sz="1400" u="none" strike="noStrike" cap="none">
                        <a:latin typeface="Microsoft JhengHei"/>
                        <a:ea typeface="Microsoft JhengHei"/>
                        <a:cs typeface="Microsoft JhengHei"/>
                        <a:sym typeface="Microsoft JhengHei"/>
                      </a:endParaRPr>
                    </a:p>
                  </a:txBody>
                  <a:tcPr marL="68600" marR="68600" marT="36000" marB="36000">
                    <a:solidFill>
                      <a:srgbClr val="FFF6ED"/>
                    </a:solidFill>
                  </a:tcPr>
                </a:tc>
                <a:extLst>
                  <a:ext uri="{0D108BD9-81ED-4DB2-BD59-A6C34878D82A}">
                    <a16:rowId xmlns:a16="http://schemas.microsoft.com/office/drawing/2014/main" val="10001"/>
                  </a:ext>
                </a:extLst>
              </a:tr>
            </a:tbl>
          </a:graphicData>
        </a:graphic>
      </p:graphicFrame>
      <p:sp>
        <p:nvSpPr>
          <p:cNvPr id="375" name="Google Shape;375;p43"/>
          <p:cNvSpPr/>
          <p:nvPr/>
        </p:nvSpPr>
        <p:spPr>
          <a:xfrm>
            <a:off x="4701084" y="2154495"/>
            <a:ext cx="3960851" cy="323760"/>
          </a:xfrm>
          <a:prstGeom prst="rect">
            <a:avLst/>
          </a:prstGeom>
          <a:solidFill>
            <a:srgbClr val="F1A539"/>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ASIC、 GPU 之適用情景</a:t>
            </a:r>
            <a:endParaRPr sz="1400" b="0" i="0" u="none" strike="noStrike" cap="none">
              <a:solidFill>
                <a:srgbClr val="000000"/>
              </a:solidFill>
              <a:latin typeface="Arial"/>
              <a:ea typeface="Arial"/>
              <a:cs typeface="Arial"/>
              <a:sym typeface="Arial"/>
            </a:endParaRPr>
          </a:p>
        </p:txBody>
      </p:sp>
      <p:sp>
        <p:nvSpPr>
          <p:cNvPr id="376" name="Google Shape;376;p43"/>
          <p:cNvSpPr/>
          <p:nvPr/>
        </p:nvSpPr>
        <p:spPr>
          <a:xfrm>
            <a:off x="910125" y="2792150"/>
            <a:ext cx="638400" cy="1631700"/>
          </a:xfrm>
          <a:prstGeom prst="rect">
            <a:avLst/>
          </a:prstGeom>
          <a:solidFill>
            <a:srgbClr val="000000">
              <a:alpha val="0"/>
            </a:srgbClr>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aphicFrame>
        <p:nvGraphicFramePr>
          <p:cNvPr id="2" name="圖表 1">
            <a:extLst>
              <a:ext uri="{FF2B5EF4-FFF2-40B4-BE49-F238E27FC236}">
                <a16:creationId xmlns:a16="http://schemas.microsoft.com/office/drawing/2014/main" id="{AA275F54-DFFB-7C9E-7748-AC0D99832458}"/>
              </a:ext>
            </a:extLst>
          </p:cNvPr>
          <p:cNvGraphicFramePr/>
          <p:nvPr>
            <p:extLst>
              <p:ext uri="{D42A27DB-BD31-4B8C-83A1-F6EECF244321}">
                <p14:modId xmlns:p14="http://schemas.microsoft.com/office/powerpoint/2010/main" val="1708137455"/>
              </p:ext>
            </p:extLst>
          </p:nvPr>
        </p:nvGraphicFramePr>
        <p:xfrm>
          <a:off x="457710" y="2517566"/>
          <a:ext cx="3960850" cy="2180867"/>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44"/>
          <p:cNvPicPr preferRelativeResize="0"/>
          <p:nvPr/>
        </p:nvPicPr>
        <p:blipFill rotWithShape="1">
          <a:blip r:embed="rId3">
            <a:alphaModFix/>
          </a:blip>
          <a:srcRect/>
          <a:stretch/>
        </p:blipFill>
        <p:spPr>
          <a:xfrm>
            <a:off x="7646483" y="4939863"/>
            <a:ext cx="1085425" cy="168988"/>
          </a:xfrm>
          <a:prstGeom prst="rect">
            <a:avLst/>
          </a:prstGeom>
          <a:noFill/>
          <a:ln>
            <a:noFill/>
          </a:ln>
        </p:spPr>
      </p:pic>
      <p:grpSp>
        <p:nvGrpSpPr>
          <p:cNvPr id="383" name="Google Shape;383;p44"/>
          <p:cNvGrpSpPr/>
          <p:nvPr/>
        </p:nvGrpSpPr>
        <p:grpSpPr>
          <a:xfrm>
            <a:off x="242301" y="434035"/>
            <a:ext cx="484808" cy="484808"/>
            <a:chOff x="1628775" y="1381125"/>
            <a:chExt cx="1352700" cy="1352700"/>
          </a:xfrm>
        </p:grpSpPr>
        <p:sp>
          <p:nvSpPr>
            <p:cNvPr id="384" name="Google Shape;384;p44"/>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85" name="Google Shape;385;p44"/>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386" name="Google Shape;386;p44"/>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前後段設計流程及分工</a:t>
            </a:r>
            <a:endParaRPr sz="1800" b="0" i="0" u="none" strike="noStrike" cap="none">
              <a:solidFill>
                <a:srgbClr val="000000"/>
              </a:solidFill>
              <a:latin typeface="Microsoft JhengHei"/>
              <a:ea typeface="Microsoft JhengHei"/>
              <a:cs typeface="Microsoft JhengHei"/>
              <a:sym typeface="Microsoft JhengHei"/>
            </a:endParaRPr>
          </a:p>
        </p:txBody>
      </p:sp>
      <p:cxnSp>
        <p:nvCxnSpPr>
          <p:cNvPr id="387" name="Google Shape;387;p44"/>
          <p:cNvCxnSpPr/>
          <p:nvPr/>
        </p:nvCxnSpPr>
        <p:spPr>
          <a:xfrm>
            <a:off x="351893" y="4884250"/>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388" name="Google Shape;388;p44"/>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App Economy Insights</a:t>
            </a:r>
            <a:endParaRPr sz="1100" i="0" u="none" strike="noStrike" cap="none" dirty="0">
              <a:solidFill>
                <a:srgbClr val="000000"/>
              </a:solidFill>
              <a:latin typeface="Arial"/>
              <a:ea typeface="Arial"/>
              <a:cs typeface="Arial"/>
              <a:sym typeface="Arial"/>
            </a:endParaRPr>
          </a:p>
        </p:txBody>
      </p:sp>
      <p:sp>
        <p:nvSpPr>
          <p:cNvPr id="389" name="Google Shape;389;p44"/>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8</a:t>
            </a:fld>
            <a:endParaRPr/>
          </a:p>
        </p:txBody>
      </p:sp>
      <p:sp>
        <p:nvSpPr>
          <p:cNvPr id="390" name="Google Shape;390;p44"/>
          <p:cNvSpPr/>
          <p:nvPr/>
        </p:nvSpPr>
        <p:spPr>
          <a:xfrm>
            <a:off x="449631" y="2223844"/>
            <a:ext cx="3495476" cy="330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前後段設計流程</a:t>
            </a:r>
            <a:endParaRPr sz="1100" b="0" i="0" u="none" strike="noStrike" cap="none">
              <a:solidFill>
                <a:srgbClr val="000000"/>
              </a:solidFill>
              <a:latin typeface="Arial"/>
              <a:ea typeface="Arial"/>
              <a:cs typeface="Arial"/>
              <a:sym typeface="Arial"/>
            </a:endParaRPr>
          </a:p>
        </p:txBody>
      </p:sp>
      <p:sp>
        <p:nvSpPr>
          <p:cNvPr id="391" name="Google Shape;391;p44"/>
          <p:cNvSpPr/>
          <p:nvPr/>
        </p:nvSpPr>
        <p:spPr>
          <a:xfrm>
            <a:off x="4063146" y="2219720"/>
            <a:ext cx="4630746" cy="330000"/>
          </a:xfrm>
          <a:prstGeom prst="rect">
            <a:avLst/>
          </a:prstGeom>
          <a:solidFill>
            <a:srgbClr val="F1A53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Marvell IP 資源 ( SerDes )</a:t>
            </a:r>
            <a:endParaRPr sz="1100" b="0" i="0" u="none" strike="noStrike" cap="none">
              <a:solidFill>
                <a:srgbClr val="000000"/>
              </a:solidFill>
              <a:latin typeface="Arial"/>
              <a:ea typeface="Arial"/>
              <a:cs typeface="Arial"/>
              <a:sym typeface="Arial"/>
            </a:endParaRPr>
          </a:p>
        </p:txBody>
      </p:sp>
      <p:sp>
        <p:nvSpPr>
          <p:cNvPr id="392" name="Google Shape;392;p44"/>
          <p:cNvSpPr/>
          <p:nvPr/>
        </p:nvSpPr>
        <p:spPr>
          <a:xfrm>
            <a:off x="439700" y="986172"/>
            <a:ext cx="8254200" cy="11466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3" name="Google Shape;393;p44"/>
          <p:cNvSpPr txBox="1"/>
          <p:nvPr/>
        </p:nvSpPr>
        <p:spPr>
          <a:xfrm>
            <a:off x="439700" y="995466"/>
            <a:ext cx="8233800" cy="1146600"/>
          </a:xfrm>
          <a:prstGeom prst="rect">
            <a:avLst/>
          </a:prstGeom>
          <a:noFill/>
          <a:ln>
            <a:noFill/>
          </a:ln>
        </p:spPr>
        <p:txBody>
          <a:bodyPr spcFirstLastPara="1" wrap="square" lIns="68575" tIns="34275" rIns="68575" bIns="34275"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晶片設計流程複雜，前段設計負責架構與RTL藍圖，包含關鍵的IP整合；後段設計則是將其轉為實體佈線並完成交付 (Tape-out)。美國 CSPs 競逐 AI 市場同時，必須掌握客製化 IP 技術含量來創造差異化。</a:t>
            </a:r>
            <a:endParaRPr sz="1400" b="0" i="0" u="none" strike="noStrike" cap="none">
              <a:solidFill>
                <a:schemeClr val="dk1"/>
              </a:solidFill>
              <a:latin typeface="Microsoft JhengHei"/>
              <a:ea typeface="Microsoft JhengHei"/>
              <a:cs typeface="Microsoft JhengHei"/>
              <a:sym typeface="Microsoft JhengHei"/>
            </a:endParaRPr>
          </a:p>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a:solidFill>
                  <a:schemeClr val="dk1"/>
                </a:solidFill>
                <a:latin typeface="Microsoft JhengHei"/>
                <a:ea typeface="Microsoft JhengHei"/>
                <a:cs typeface="Microsoft JhengHei"/>
                <a:sym typeface="Microsoft JhengHei"/>
              </a:rPr>
              <a:t>先進晶片對 IP 的依賴度極高，因此通常由掌握核心 IP 技術的美廠負責，近年也不少新晶片專案由 CSP 親自操刀前段，將複雜耗時的後段工作外包，以專注雲端核心業務。</a:t>
            </a:r>
            <a:endParaRPr sz="1400" b="0" i="0" u="none" strike="noStrike" cap="none">
              <a:solidFill>
                <a:schemeClr val="dk1"/>
              </a:solidFill>
              <a:latin typeface="Microsoft JhengHei"/>
              <a:ea typeface="Microsoft JhengHei"/>
              <a:cs typeface="Microsoft JhengHei"/>
              <a:sym typeface="Microsoft JhengHei"/>
            </a:endParaRPr>
          </a:p>
        </p:txBody>
      </p:sp>
      <p:sp>
        <p:nvSpPr>
          <p:cNvPr id="394" name="Google Shape;394;p44"/>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EBAAA"/>
                </a:solidFill>
                <a:latin typeface="Microsoft JhengHei"/>
                <a:ea typeface="Microsoft JhengHei"/>
                <a:cs typeface="Microsoft JhengHei"/>
                <a:sym typeface="Microsoft JhengHei"/>
              </a:rPr>
              <a:t>結論</a:t>
            </a:r>
            <a:endParaRPr sz="1100" b="0" i="0" u="none" strike="noStrike" cap="none">
              <a:solidFill>
                <a:srgbClr val="CEBAAA"/>
              </a:solidFill>
              <a:latin typeface="Arial"/>
              <a:ea typeface="Arial"/>
              <a:cs typeface="Arial"/>
              <a:sym typeface="Arial"/>
            </a:endParaRPr>
          </a:p>
        </p:txBody>
      </p:sp>
      <p:sp>
        <p:nvSpPr>
          <p:cNvPr id="395" name="Google Shape;395;p44"/>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396" name="Google Shape;396;p44"/>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397" name="Google Shape;397;p44"/>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398" name="Google Shape;398;p44"/>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399" name="Google Shape;399;p44"/>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grpSp>
        <p:nvGrpSpPr>
          <p:cNvPr id="400" name="Google Shape;400;p44"/>
          <p:cNvGrpSpPr/>
          <p:nvPr/>
        </p:nvGrpSpPr>
        <p:grpSpPr>
          <a:xfrm>
            <a:off x="424709" y="2632320"/>
            <a:ext cx="3495551" cy="2148147"/>
            <a:chOff x="434510" y="2743200"/>
            <a:chExt cx="4064594" cy="1978400"/>
          </a:xfrm>
        </p:grpSpPr>
        <p:grpSp>
          <p:nvGrpSpPr>
            <p:cNvPr id="401" name="Google Shape;401;p44"/>
            <p:cNvGrpSpPr/>
            <p:nvPr/>
          </p:nvGrpSpPr>
          <p:grpSpPr>
            <a:xfrm>
              <a:off x="474567" y="3160164"/>
              <a:ext cx="3626205" cy="409560"/>
              <a:chOff x="1529357" y="2091332"/>
              <a:chExt cx="5957279" cy="960834"/>
            </a:xfrm>
          </p:grpSpPr>
          <p:sp>
            <p:nvSpPr>
              <p:cNvPr id="402" name="Google Shape;402;p44"/>
              <p:cNvSpPr/>
              <p:nvPr/>
            </p:nvSpPr>
            <p:spPr>
              <a:xfrm>
                <a:off x="1529357" y="2091332"/>
                <a:ext cx="1870318" cy="960834"/>
              </a:xfrm>
              <a:custGeom>
                <a:avLst/>
                <a:gdLst/>
                <a:ahLst/>
                <a:cxnLst/>
                <a:rect l="l" t="t" r="r" b="b"/>
                <a:pathLst>
                  <a:path w="1601390" h="960834" extrusionOk="0">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100525" tIns="100525" rIns="100525" bIns="10052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Specification</a:t>
                </a:r>
                <a:endParaRPr sz="1000" b="0" i="0" u="none" strike="noStrike" cap="none">
                  <a:solidFill>
                    <a:schemeClr val="lt1"/>
                  </a:solidFill>
                  <a:latin typeface="Microsoft JhengHei"/>
                  <a:ea typeface="Microsoft JhengHei"/>
                  <a:cs typeface="Microsoft JhengHei"/>
                  <a:sym typeface="Microsoft JhengHei"/>
                </a:endParaRPr>
              </a:p>
            </p:txBody>
          </p:sp>
          <p:sp>
            <p:nvSpPr>
              <p:cNvPr id="403" name="Google Shape;403;p44"/>
              <p:cNvSpPr/>
              <p:nvPr/>
            </p:nvSpPr>
            <p:spPr>
              <a:xfrm>
                <a:off x="3514095" y="2394891"/>
                <a:ext cx="339494" cy="397144"/>
              </a:xfrm>
              <a:custGeom>
                <a:avLst/>
                <a:gdLst/>
                <a:ahLst/>
                <a:cxnLst/>
                <a:rect l="l" t="t" r="r" b="b"/>
                <a:pathLst>
                  <a:path w="339494" h="397144" extrusionOk="0">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rgbClr val="F1A63B"/>
              </a:solidFill>
              <a:ln>
                <a:noFill/>
              </a:ln>
            </p:spPr>
            <p:txBody>
              <a:bodyPr spcFirstLastPara="1" wrap="square" lIns="0" tIns="79425" rIns="101825" bIns="79425"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404" name="Google Shape;404;p44"/>
              <p:cNvSpPr/>
              <p:nvPr/>
            </p:nvSpPr>
            <p:spPr>
              <a:xfrm>
                <a:off x="3923227" y="2091332"/>
                <a:ext cx="1301141" cy="960834"/>
              </a:xfrm>
              <a:custGeom>
                <a:avLst/>
                <a:gdLst/>
                <a:ahLst/>
                <a:cxnLst/>
                <a:rect l="l" t="t" r="r" b="b"/>
                <a:pathLst>
                  <a:path w="1601390" h="960834" extrusionOk="0">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100525" tIns="100525" rIns="100525" bIns="10052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RTL Design</a:t>
                </a:r>
                <a:endParaRPr sz="1000" b="0" i="0" u="none" strike="noStrike" cap="none">
                  <a:solidFill>
                    <a:schemeClr val="lt1"/>
                  </a:solidFill>
                  <a:latin typeface="Microsoft JhengHei"/>
                  <a:ea typeface="Microsoft JhengHei"/>
                  <a:cs typeface="Microsoft JhengHei"/>
                  <a:sym typeface="Microsoft JhengHei"/>
                </a:endParaRPr>
              </a:p>
            </p:txBody>
          </p:sp>
          <p:sp>
            <p:nvSpPr>
              <p:cNvPr id="405" name="Google Shape;405;p44"/>
              <p:cNvSpPr/>
              <p:nvPr/>
            </p:nvSpPr>
            <p:spPr>
              <a:xfrm>
                <a:off x="5269715" y="2384658"/>
                <a:ext cx="339494" cy="397144"/>
              </a:xfrm>
              <a:custGeom>
                <a:avLst/>
                <a:gdLst/>
                <a:ahLst/>
                <a:cxnLst/>
                <a:rect l="l" t="t" r="r" b="b"/>
                <a:pathLst>
                  <a:path w="339494" h="397144" extrusionOk="0">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rgbClr val="F1A63B"/>
              </a:solidFill>
              <a:ln>
                <a:noFill/>
              </a:ln>
            </p:spPr>
            <p:txBody>
              <a:bodyPr spcFirstLastPara="1" wrap="square" lIns="0" tIns="79425" rIns="101825" bIns="79425" anchor="ctr" anchorCtr="0">
                <a:noAutofit/>
              </a:bodyPr>
              <a:lstStyle/>
              <a:p>
                <a:pPr marL="0" marR="0" lvl="0" indent="0" algn="ctr" rtl="0">
                  <a:lnSpc>
                    <a:spcPct val="90000"/>
                  </a:lnSpc>
                  <a:spcBef>
                    <a:spcPts val="0"/>
                  </a:spcBef>
                  <a:spcAft>
                    <a:spcPts val="0"/>
                  </a:spcAft>
                  <a:buClr>
                    <a:srgbClr val="000000"/>
                  </a:buClr>
                  <a:buSzPts val="1600"/>
                  <a:buFont typeface="Arial"/>
                  <a:buNone/>
                </a:pPr>
                <a:endParaRPr sz="1600" b="0" i="0" u="none" strike="noStrike" cap="none">
                  <a:solidFill>
                    <a:schemeClr val="lt1"/>
                  </a:solidFill>
                  <a:latin typeface="Arial"/>
                  <a:ea typeface="Arial"/>
                  <a:cs typeface="Arial"/>
                  <a:sym typeface="Arial"/>
                </a:endParaRPr>
              </a:p>
            </p:txBody>
          </p:sp>
          <p:sp>
            <p:nvSpPr>
              <p:cNvPr id="406" name="Google Shape;406;p44"/>
              <p:cNvSpPr/>
              <p:nvPr/>
            </p:nvSpPr>
            <p:spPr>
              <a:xfrm>
                <a:off x="5683714" y="2091332"/>
                <a:ext cx="1802922" cy="960834"/>
              </a:xfrm>
              <a:custGeom>
                <a:avLst/>
                <a:gdLst/>
                <a:ahLst/>
                <a:cxnLst/>
                <a:rect l="l" t="t" r="r" b="b"/>
                <a:pathLst>
                  <a:path w="1601390" h="960834" extrusionOk="0">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100525" tIns="100525" rIns="100525" bIns="10052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Verification</a:t>
                </a:r>
                <a:endParaRPr sz="1000" b="0" i="0" u="none" strike="noStrike" cap="none">
                  <a:solidFill>
                    <a:schemeClr val="lt1"/>
                  </a:solidFill>
                  <a:latin typeface="Microsoft JhengHei"/>
                  <a:ea typeface="Microsoft JhengHei"/>
                  <a:cs typeface="Microsoft JhengHei"/>
                  <a:sym typeface="Microsoft JhengHei"/>
                </a:endParaRPr>
              </a:p>
            </p:txBody>
          </p:sp>
        </p:grpSp>
        <p:sp>
          <p:nvSpPr>
            <p:cNvPr id="407" name="Google Shape;407;p44"/>
            <p:cNvSpPr/>
            <p:nvPr/>
          </p:nvSpPr>
          <p:spPr>
            <a:xfrm>
              <a:off x="434510" y="2743200"/>
              <a:ext cx="3698492" cy="865761"/>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08" name="Google Shape;408;p44"/>
            <p:cNvSpPr txBox="1"/>
            <p:nvPr/>
          </p:nvSpPr>
          <p:spPr>
            <a:xfrm>
              <a:off x="2613520" y="2984117"/>
              <a:ext cx="1218300" cy="198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zh-TW" sz="800" b="0" i="0" u="none" strike="noStrike" cap="none">
                  <a:solidFill>
                    <a:srgbClr val="C55A11"/>
                  </a:solidFill>
                  <a:latin typeface="Microsoft JhengHei"/>
                  <a:ea typeface="Microsoft JhengHei"/>
                  <a:cs typeface="Microsoft JhengHei"/>
                  <a:sym typeface="Microsoft JhengHei"/>
                </a:rPr>
                <a:t>Test Failure</a:t>
              </a:r>
              <a:endParaRPr sz="800" b="0" i="0" u="none" strike="noStrike" cap="none">
                <a:solidFill>
                  <a:srgbClr val="C55A11"/>
                </a:solidFill>
                <a:latin typeface="Microsoft JhengHei"/>
                <a:ea typeface="Microsoft JhengHei"/>
                <a:cs typeface="Microsoft JhengHei"/>
                <a:sym typeface="Microsoft JhengHei"/>
              </a:endParaRPr>
            </a:p>
          </p:txBody>
        </p:sp>
        <p:sp>
          <p:nvSpPr>
            <p:cNvPr id="409" name="Google Shape;409;p44"/>
            <p:cNvSpPr/>
            <p:nvPr/>
          </p:nvSpPr>
          <p:spPr>
            <a:xfrm>
              <a:off x="947141" y="3788955"/>
              <a:ext cx="3551963" cy="932645"/>
            </a:xfrm>
            <a:prstGeom prst="rect">
              <a:avLst/>
            </a:prstGeom>
            <a:no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410" name="Google Shape;410;p44"/>
            <p:cNvGrpSpPr/>
            <p:nvPr/>
          </p:nvGrpSpPr>
          <p:grpSpPr>
            <a:xfrm>
              <a:off x="1142801" y="4129385"/>
              <a:ext cx="3175493" cy="522316"/>
              <a:chOff x="1095501" y="3939002"/>
              <a:chExt cx="3204501" cy="522316"/>
            </a:xfrm>
          </p:grpSpPr>
          <p:sp>
            <p:nvSpPr>
              <p:cNvPr id="411" name="Google Shape;411;p44"/>
              <p:cNvSpPr/>
              <p:nvPr/>
            </p:nvSpPr>
            <p:spPr>
              <a:xfrm>
                <a:off x="1095501" y="3946301"/>
                <a:ext cx="800570" cy="515017"/>
              </a:xfrm>
              <a:custGeom>
                <a:avLst/>
                <a:gdLst/>
                <a:ahLst/>
                <a:cxnLst/>
                <a:rect l="l" t="t" r="r" b="b"/>
                <a:pathLst>
                  <a:path w="533351" h="515017" extrusionOk="0">
                    <a:moveTo>
                      <a:pt x="0" y="51502"/>
                    </a:moveTo>
                    <a:cubicBezTo>
                      <a:pt x="0" y="23058"/>
                      <a:pt x="23058" y="0"/>
                      <a:pt x="51502" y="0"/>
                    </a:cubicBezTo>
                    <a:lnTo>
                      <a:pt x="481849" y="0"/>
                    </a:lnTo>
                    <a:cubicBezTo>
                      <a:pt x="510293" y="0"/>
                      <a:pt x="533351" y="23058"/>
                      <a:pt x="533351" y="51502"/>
                    </a:cubicBezTo>
                    <a:lnTo>
                      <a:pt x="533351" y="463515"/>
                    </a:lnTo>
                    <a:cubicBezTo>
                      <a:pt x="533351" y="491959"/>
                      <a:pt x="510293" y="515017"/>
                      <a:pt x="481849" y="515017"/>
                    </a:cubicBezTo>
                    <a:lnTo>
                      <a:pt x="51502" y="515017"/>
                    </a:lnTo>
                    <a:cubicBezTo>
                      <a:pt x="23058" y="515017"/>
                      <a:pt x="0" y="491959"/>
                      <a:pt x="0" y="463515"/>
                    </a:cubicBezTo>
                    <a:lnTo>
                      <a:pt x="0" y="51502"/>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53175" tIns="53175" rIns="53175" bIns="53175"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Synthesis</a:t>
                </a:r>
                <a:endParaRPr sz="1000" b="0" i="0" u="none" strike="noStrike" cap="none">
                  <a:solidFill>
                    <a:schemeClr val="lt1"/>
                  </a:solidFill>
                  <a:latin typeface="Microsoft JhengHei"/>
                  <a:ea typeface="Microsoft JhengHei"/>
                  <a:cs typeface="Microsoft JhengHei"/>
                  <a:sym typeface="Microsoft JhengHei"/>
                </a:endParaRPr>
              </a:p>
            </p:txBody>
          </p:sp>
          <p:sp>
            <p:nvSpPr>
              <p:cNvPr id="412" name="Google Shape;412;p44"/>
              <p:cNvSpPr/>
              <p:nvPr/>
            </p:nvSpPr>
            <p:spPr>
              <a:xfrm>
                <a:off x="1953309" y="4143166"/>
                <a:ext cx="113070" cy="132271"/>
              </a:xfrm>
              <a:custGeom>
                <a:avLst/>
                <a:gdLst/>
                <a:ahLst/>
                <a:cxnLst/>
                <a:rect l="l" t="t" r="r" b="b"/>
                <a:pathLst>
                  <a:path w="113070" h="132271" extrusionOk="0">
                    <a:moveTo>
                      <a:pt x="0" y="26454"/>
                    </a:moveTo>
                    <a:lnTo>
                      <a:pt x="56535" y="26454"/>
                    </a:lnTo>
                    <a:lnTo>
                      <a:pt x="56535" y="0"/>
                    </a:lnTo>
                    <a:lnTo>
                      <a:pt x="113070" y="66136"/>
                    </a:lnTo>
                    <a:lnTo>
                      <a:pt x="56535" y="132271"/>
                    </a:lnTo>
                    <a:lnTo>
                      <a:pt x="56535" y="105817"/>
                    </a:lnTo>
                    <a:lnTo>
                      <a:pt x="0" y="105817"/>
                    </a:lnTo>
                    <a:lnTo>
                      <a:pt x="0" y="26454"/>
                    </a:lnTo>
                    <a:close/>
                  </a:path>
                </a:pathLst>
              </a:custGeom>
              <a:solidFill>
                <a:srgbClr val="F1A63B"/>
              </a:solidFill>
              <a:ln>
                <a:noFill/>
              </a:ln>
            </p:spPr>
            <p:txBody>
              <a:bodyPr spcFirstLastPara="1" wrap="square" lIns="0" tIns="26450" rIns="33900" bIns="2645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413" name="Google Shape;413;p44"/>
              <p:cNvSpPr/>
              <p:nvPr/>
            </p:nvSpPr>
            <p:spPr>
              <a:xfrm>
                <a:off x="2072566" y="3946301"/>
                <a:ext cx="686527" cy="515017"/>
              </a:xfrm>
              <a:custGeom>
                <a:avLst/>
                <a:gdLst/>
                <a:ahLst/>
                <a:cxnLst/>
                <a:rect l="l" t="t" r="r" b="b"/>
                <a:pathLst>
                  <a:path w="533351" h="515017" extrusionOk="0">
                    <a:moveTo>
                      <a:pt x="0" y="51502"/>
                    </a:moveTo>
                    <a:cubicBezTo>
                      <a:pt x="0" y="23058"/>
                      <a:pt x="23058" y="0"/>
                      <a:pt x="51502" y="0"/>
                    </a:cubicBezTo>
                    <a:lnTo>
                      <a:pt x="481849" y="0"/>
                    </a:lnTo>
                    <a:cubicBezTo>
                      <a:pt x="510293" y="0"/>
                      <a:pt x="533351" y="23058"/>
                      <a:pt x="533351" y="51502"/>
                    </a:cubicBezTo>
                    <a:lnTo>
                      <a:pt x="533351" y="463515"/>
                    </a:lnTo>
                    <a:cubicBezTo>
                      <a:pt x="533351" y="491959"/>
                      <a:pt x="510293" y="515017"/>
                      <a:pt x="481849" y="515017"/>
                    </a:cubicBezTo>
                    <a:lnTo>
                      <a:pt x="51502" y="515017"/>
                    </a:lnTo>
                    <a:cubicBezTo>
                      <a:pt x="23058" y="515017"/>
                      <a:pt x="0" y="491959"/>
                      <a:pt x="0" y="463515"/>
                    </a:cubicBezTo>
                    <a:lnTo>
                      <a:pt x="0" y="51502"/>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49350" tIns="49350" rIns="49350" bIns="49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Physical Design</a:t>
                </a:r>
                <a:endParaRPr sz="1000" b="0" i="0" u="none" strike="noStrike" cap="none">
                  <a:solidFill>
                    <a:schemeClr val="lt1"/>
                  </a:solidFill>
                  <a:latin typeface="Microsoft JhengHei"/>
                  <a:ea typeface="Microsoft JhengHei"/>
                  <a:cs typeface="Microsoft JhengHei"/>
                  <a:sym typeface="Microsoft JhengHei"/>
                </a:endParaRPr>
              </a:p>
            </p:txBody>
          </p:sp>
          <p:sp>
            <p:nvSpPr>
              <p:cNvPr id="414" name="Google Shape;414;p44"/>
              <p:cNvSpPr/>
              <p:nvPr/>
            </p:nvSpPr>
            <p:spPr>
              <a:xfrm>
                <a:off x="2789153" y="4137674"/>
                <a:ext cx="113070" cy="132271"/>
              </a:xfrm>
              <a:custGeom>
                <a:avLst/>
                <a:gdLst/>
                <a:ahLst/>
                <a:cxnLst/>
                <a:rect l="l" t="t" r="r" b="b"/>
                <a:pathLst>
                  <a:path w="113070" h="132271" extrusionOk="0">
                    <a:moveTo>
                      <a:pt x="0" y="26454"/>
                    </a:moveTo>
                    <a:lnTo>
                      <a:pt x="56535" y="26454"/>
                    </a:lnTo>
                    <a:lnTo>
                      <a:pt x="56535" y="0"/>
                    </a:lnTo>
                    <a:lnTo>
                      <a:pt x="113070" y="66136"/>
                    </a:lnTo>
                    <a:lnTo>
                      <a:pt x="56535" y="132271"/>
                    </a:lnTo>
                    <a:lnTo>
                      <a:pt x="56535" y="105817"/>
                    </a:lnTo>
                    <a:lnTo>
                      <a:pt x="0" y="105817"/>
                    </a:lnTo>
                    <a:lnTo>
                      <a:pt x="0" y="26454"/>
                    </a:lnTo>
                    <a:close/>
                  </a:path>
                </a:pathLst>
              </a:custGeom>
              <a:solidFill>
                <a:srgbClr val="F1A63B"/>
              </a:solidFill>
              <a:ln>
                <a:noFill/>
              </a:ln>
            </p:spPr>
            <p:txBody>
              <a:bodyPr spcFirstLastPara="1" wrap="square" lIns="0" tIns="26450" rIns="33900" bIns="2645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415" name="Google Shape;415;p44"/>
              <p:cNvSpPr/>
              <p:nvPr/>
            </p:nvSpPr>
            <p:spPr>
              <a:xfrm>
                <a:off x="2919719" y="3939002"/>
                <a:ext cx="692713" cy="515017"/>
              </a:xfrm>
              <a:custGeom>
                <a:avLst/>
                <a:gdLst/>
                <a:ahLst/>
                <a:cxnLst/>
                <a:rect l="l" t="t" r="r" b="b"/>
                <a:pathLst>
                  <a:path w="533351" h="515017" extrusionOk="0">
                    <a:moveTo>
                      <a:pt x="0" y="51502"/>
                    </a:moveTo>
                    <a:cubicBezTo>
                      <a:pt x="0" y="23058"/>
                      <a:pt x="23058" y="0"/>
                      <a:pt x="51502" y="0"/>
                    </a:cubicBezTo>
                    <a:lnTo>
                      <a:pt x="481849" y="0"/>
                    </a:lnTo>
                    <a:cubicBezTo>
                      <a:pt x="510293" y="0"/>
                      <a:pt x="533351" y="23058"/>
                      <a:pt x="533351" y="51502"/>
                    </a:cubicBezTo>
                    <a:lnTo>
                      <a:pt x="533351" y="463515"/>
                    </a:lnTo>
                    <a:cubicBezTo>
                      <a:pt x="533351" y="491959"/>
                      <a:pt x="510293" y="515017"/>
                      <a:pt x="481849" y="515017"/>
                    </a:cubicBezTo>
                    <a:lnTo>
                      <a:pt x="51502" y="515017"/>
                    </a:lnTo>
                    <a:cubicBezTo>
                      <a:pt x="23058" y="515017"/>
                      <a:pt x="0" y="491959"/>
                      <a:pt x="0" y="463515"/>
                    </a:cubicBezTo>
                    <a:lnTo>
                      <a:pt x="0" y="51502"/>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49350" tIns="49350" rIns="49350" bIns="49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Sign-off</a:t>
                </a:r>
                <a:endParaRPr sz="1000" b="0" i="0" u="none" strike="noStrike" cap="none">
                  <a:solidFill>
                    <a:schemeClr val="lt1"/>
                  </a:solidFill>
                  <a:latin typeface="Microsoft JhengHei"/>
                  <a:ea typeface="Microsoft JhengHei"/>
                  <a:cs typeface="Microsoft JhengHei"/>
                  <a:sym typeface="Microsoft JhengHei"/>
                </a:endParaRPr>
              </a:p>
            </p:txBody>
          </p:sp>
          <p:sp>
            <p:nvSpPr>
              <p:cNvPr id="416" name="Google Shape;416;p44"/>
              <p:cNvSpPr/>
              <p:nvPr/>
            </p:nvSpPr>
            <p:spPr>
              <a:xfrm>
                <a:off x="3641054" y="4142983"/>
                <a:ext cx="113070" cy="132271"/>
              </a:xfrm>
              <a:custGeom>
                <a:avLst/>
                <a:gdLst/>
                <a:ahLst/>
                <a:cxnLst/>
                <a:rect l="l" t="t" r="r" b="b"/>
                <a:pathLst>
                  <a:path w="113070" h="132271" extrusionOk="0">
                    <a:moveTo>
                      <a:pt x="0" y="26454"/>
                    </a:moveTo>
                    <a:lnTo>
                      <a:pt x="56535" y="26454"/>
                    </a:lnTo>
                    <a:lnTo>
                      <a:pt x="56535" y="0"/>
                    </a:lnTo>
                    <a:lnTo>
                      <a:pt x="113070" y="66136"/>
                    </a:lnTo>
                    <a:lnTo>
                      <a:pt x="56535" y="132271"/>
                    </a:lnTo>
                    <a:lnTo>
                      <a:pt x="56535" y="105817"/>
                    </a:lnTo>
                    <a:lnTo>
                      <a:pt x="0" y="105817"/>
                    </a:lnTo>
                    <a:lnTo>
                      <a:pt x="0" y="26454"/>
                    </a:lnTo>
                    <a:close/>
                  </a:path>
                </a:pathLst>
              </a:custGeom>
              <a:solidFill>
                <a:srgbClr val="F1A63B"/>
              </a:solidFill>
              <a:ln>
                <a:noFill/>
              </a:ln>
            </p:spPr>
            <p:txBody>
              <a:bodyPr spcFirstLastPara="1" wrap="square" lIns="0" tIns="26450" rIns="33900" bIns="2645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417" name="Google Shape;417;p44"/>
              <p:cNvSpPr/>
              <p:nvPr/>
            </p:nvSpPr>
            <p:spPr>
              <a:xfrm>
                <a:off x="3766651" y="3946301"/>
                <a:ext cx="533351" cy="515017"/>
              </a:xfrm>
              <a:custGeom>
                <a:avLst/>
                <a:gdLst/>
                <a:ahLst/>
                <a:cxnLst/>
                <a:rect l="l" t="t" r="r" b="b"/>
                <a:pathLst>
                  <a:path w="533351" h="515017" extrusionOk="0">
                    <a:moveTo>
                      <a:pt x="0" y="51502"/>
                    </a:moveTo>
                    <a:cubicBezTo>
                      <a:pt x="0" y="23058"/>
                      <a:pt x="23058" y="0"/>
                      <a:pt x="51502" y="0"/>
                    </a:cubicBezTo>
                    <a:lnTo>
                      <a:pt x="481849" y="0"/>
                    </a:lnTo>
                    <a:cubicBezTo>
                      <a:pt x="510293" y="0"/>
                      <a:pt x="533351" y="23058"/>
                      <a:pt x="533351" y="51502"/>
                    </a:cubicBezTo>
                    <a:lnTo>
                      <a:pt x="533351" y="463515"/>
                    </a:lnTo>
                    <a:cubicBezTo>
                      <a:pt x="533351" y="491959"/>
                      <a:pt x="510293" y="515017"/>
                      <a:pt x="481849" y="515017"/>
                    </a:cubicBezTo>
                    <a:lnTo>
                      <a:pt x="51502" y="515017"/>
                    </a:lnTo>
                    <a:cubicBezTo>
                      <a:pt x="23058" y="515017"/>
                      <a:pt x="0" y="491959"/>
                      <a:pt x="0" y="463515"/>
                    </a:cubicBezTo>
                    <a:lnTo>
                      <a:pt x="0" y="51502"/>
                    </a:lnTo>
                    <a:close/>
                  </a:path>
                </a:pathLst>
              </a:custGeom>
              <a:solidFill>
                <a:srgbClr val="F1A63B"/>
              </a:solidFill>
              <a:ln w="25400" cap="flat" cmpd="sng">
                <a:solidFill>
                  <a:schemeClr val="lt1"/>
                </a:solidFill>
                <a:prstDash val="solid"/>
                <a:round/>
                <a:headEnd type="none" w="sm" len="sm"/>
                <a:tailEnd type="none" w="sm" len="sm"/>
              </a:ln>
            </p:spPr>
            <p:txBody>
              <a:bodyPr spcFirstLastPara="1" wrap="square" lIns="49350" tIns="49350" rIns="49350" bIns="4935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zh-TW" sz="1000" b="0" i="0" u="none" strike="noStrike" cap="none">
                    <a:solidFill>
                      <a:schemeClr val="lt1"/>
                    </a:solidFill>
                    <a:latin typeface="Microsoft JhengHei"/>
                    <a:ea typeface="Microsoft JhengHei"/>
                    <a:cs typeface="Microsoft JhengHei"/>
                    <a:sym typeface="Microsoft JhengHei"/>
                  </a:rPr>
                  <a:t>Tape out</a:t>
                </a:r>
                <a:endParaRPr sz="1000" b="0" i="0" u="none" strike="noStrike" cap="none">
                  <a:solidFill>
                    <a:schemeClr val="lt1"/>
                  </a:solidFill>
                  <a:latin typeface="Microsoft JhengHei"/>
                  <a:ea typeface="Microsoft JhengHei"/>
                  <a:cs typeface="Microsoft JhengHei"/>
                  <a:sym typeface="Microsoft JhengHei"/>
                </a:endParaRPr>
              </a:p>
            </p:txBody>
          </p:sp>
        </p:grpSp>
        <p:cxnSp>
          <p:nvCxnSpPr>
            <p:cNvPr id="418" name="Google Shape;418;p44"/>
            <p:cNvCxnSpPr/>
            <p:nvPr/>
          </p:nvCxnSpPr>
          <p:spPr>
            <a:xfrm rot="10800000">
              <a:off x="2658067" y="4210671"/>
              <a:ext cx="409500" cy="4800"/>
            </a:xfrm>
            <a:prstGeom prst="curvedConnector3">
              <a:avLst>
                <a:gd name="adj1" fmla="val 50000"/>
              </a:avLst>
            </a:prstGeom>
            <a:noFill/>
            <a:ln w="9525" cap="flat" cmpd="sng">
              <a:solidFill>
                <a:schemeClr val="dk1"/>
              </a:solidFill>
              <a:prstDash val="solid"/>
              <a:round/>
              <a:headEnd type="none" w="sm" len="sm"/>
              <a:tailEnd type="triangle" w="med" len="med"/>
            </a:ln>
          </p:spPr>
        </p:cxnSp>
        <p:sp>
          <p:nvSpPr>
            <p:cNvPr id="419" name="Google Shape;419;p44"/>
            <p:cNvSpPr txBox="1"/>
            <p:nvPr/>
          </p:nvSpPr>
          <p:spPr>
            <a:xfrm>
              <a:off x="2558865" y="3936624"/>
              <a:ext cx="1218300" cy="198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zh-TW" sz="800" b="0" i="0" u="none" strike="noStrike" cap="none">
                  <a:solidFill>
                    <a:srgbClr val="C55A11"/>
                  </a:solidFill>
                  <a:latin typeface="Microsoft JhengHei"/>
                  <a:ea typeface="Microsoft JhengHei"/>
                  <a:cs typeface="Microsoft JhengHei"/>
                  <a:sym typeface="Microsoft JhengHei"/>
                </a:rPr>
                <a:t>DRC/LVS Failure</a:t>
              </a:r>
              <a:endParaRPr sz="800" b="0" i="0" u="none" strike="noStrike" cap="none">
                <a:solidFill>
                  <a:srgbClr val="C55A11"/>
                </a:solidFill>
                <a:latin typeface="Microsoft JhengHei"/>
                <a:ea typeface="Microsoft JhengHei"/>
                <a:cs typeface="Microsoft JhengHei"/>
                <a:sym typeface="Microsoft JhengHei"/>
              </a:endParaRPr>
            </a:p>
          </p:txBody>
        </p:sp>
        <p:cxnSp>
          <p:nvCxnSpPr>
            <p:cNvPr id="420" name="Google Shape;420;p44"/>
            <p:cNvCxnSpPr>
              <a:stCxn id="407" idx="3"/>
              <a:endCxn id="409" idx="1"/>
            </p:cNvCxnSpPr>
            <p:nvPr/>
          </p:nvCxnSpPr>
          <p:spPr>
            <a:xfrm flipH="1">
              <a:off x="947002" y="3176081"/>
              <a:ext cx="3186000" cy="1079100"/>
            </a:xfrm>
            <a:prstGeom prst="bentConnector5">
              <a:avLst>
                <a:gd name="adj1" fmla="val -8691"/>
                <a:gd name="adj2" fmla="val 48455"/>
                <a:gd name="adj3" fmla="val 108686"/>
              </a:avLst>
            </a:prstGeom>
            <a:noFill/>
            <a:ln w="9525" cap="flat" cmpd="sng">
              <a:solidFill>
                <a:schemeClr val="dk1"/>
              </a:solidFill>
              <a:prstDash val="solid"/>
              <a:round/>
              <a:headEnd type="none" w="sm" len="sm"/>
              <a:tailEnd type="triangle" w="med" len="med"/>
            </a:ln>
          </p:spPr>
        </p:cxnSp>
        <p:cxnSp>
          <p:nvCxnSpPr>
            <p:cNvPr id="421" name="Google Shape;421;p44"/>
            <p:cNvCxnSpPr/>
            <p:nvPr/>
          </p:nvCxnSpPr>
          <p:spPr>
            <a:xfrm flipH="1">
              <a:off x="2495863" y="3231301"/>
              <a:ext cx="619800" cy="5100"/>
            </a:xfrm>
            <a:prstGeom prst="curvedConnector3">
              <a:avLst>
                <a:gd name="adj1" fmla="val 50000"/>
              </a:avLst>
            </a:prstGeom>
            <a:noFill/>
            <a:ln w="9525" cap="flat" cmpd="sng">
              <a:solidFill>
                <a:schemeClr val="dk1"/>
              </a:solidFill>
              <a:prstDash val="solid"/>
              <a:round/>
              <a:headEnd type="none" w="sm" len="sm"/>
              <a:tailEnd type="triangle" w="med" len="med"/>
            </a:ln>
          </p:spPr>
        </p:cxnSp>
      </p:grpSp>
      <p:pic>
        <p:nvPicPr>
          <p:cNvPr id="422" name="Google Shape;422;p44"/>
          <p:cNvPicPr preferRelativeResize="0"/>
          <p:nvPr/>
        </p:nvPicPr>
        <p:blipFill rotWithShape="1">
          <a:blip r:embed="rId5">
            <a:alphaModFix/>
          </a:blip>
          <a:srcRect/>
          <a:stretch/>
        </p:blipFill>
        <p:spPr>
          <a:xfrm>
            <a:off x="4081994" y="2549719"/>
            <a:ext cx="4611898" cy="22157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45"/>
          <p:cNvSpPr/>
          <p:nvPr/>
        </p:nvSpPr>
        <p:spPr>
          <a:xfrm>
            <a:off x="423700" y="967250"/>
            <a:ext cx="8254200" cy="1365600"/>
          </a:xfrm>
          <a:prstGeom prst="rect">
            <a:avLst/>
          </a:prstGeom>
          <a:solidFill>
            <a:srgbClr val="FFF6ED"/>
          </a:solidFill>
          <a:ln>
            <a:noFill/>
          </a:ln>
        </p:spPr>
        <p:txBody>
          <a:bodyPr spcFirstLastPara="1" wrap="square" lIns="68575" tIns="34275" rIns="68575" bIns="34275" anchor="ctr" anchorCtr="0">
            <a:noAutofit/>
          </a:bodyPr>
          <a:lstStyle/>
          <a:p>
            <a:pPr marL="285750" marR="0" lvl="0" indent="-215900" algn="l" rtl="0">
              <a:lnSpc>
                <a:spcPct val="100000"/>
              </a:lnSpc>
              <a:spcBef>
                <a:spcPts val="0"/>
              </a:spcBef>
              <a:spcAft>
                <a:spcPts val="0"/>
              </a:spcAft>
              <a:buClr>
                <a:schemeClr val="dk1"/>
              </a:buClr>
              <a:buSzPts val="1100"/>
              <a:buFont typeface="Arial"/>
              <a:buNone/>
            </a:pPr>
            <a:endParaRPr sz="2400" b="0" i="0" u="none" strike="noStrike" cap="none">
              <a:solidFill>
                <a:schemeClr val="dk1"/>
              </a:solidFill>
              <a:latin typeface="Microsoft JhengHei"/>
              <a:ea typeface="Microsoft JhengHei"/>
              <a:cs typeface="Microsoft JhengHei"/>
              <a:sym typeface="Microsoft JhengHei"/>
            </a:endParaRPr>
          </a:p>
        </p:txBody>
      </p:sp>
      <p:pic>
        <p:nvPicPr>
          <p:cNvPr id="429" name="Google Shape;429;p45"/>
          <p:cNvPicPr preferRelativeResize="0"/>
          <p:nvPr/>
        </p:nvPicPr>
        <p:blipFill rotWithShape="1">
          <a:blip r:embed="rId3">
            <a:alphaModFix/>
          </a:blip>
          <a:srcRect/>
          <a:stretch/>
        </p:blipFill>
        <p:spPr>
          <a:xfrm>
            <a:off x="7646482" y="4902041"/>
            <a:ext cx="1085425" cy="168988"/>
          </a:xfrm>
          <a:prstGeom prst="rect">
            <a:avLst/>
          </a:prstGeom>
          <a:noFill/>
          <a:ln>
            <a:noFill/>
          </a:ln>
        </p:spPr>
      </p:pic>
      <p:cxnSp>
        <p:nvCxnSpPr>
          <p:cNvPr id="430" name="Google Shape;430;p45"/>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431" name="Google Shape;431;p45"/>
          <p:cNvSpPr txBox="1"/>
          <p:nvPr/>
        </p:nvSpPr>
        <p:spPr>
          <a:xfrm>
            <a:off x="272774" y="4884241"/>
            <a:ext cx="4315116" cy="23849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數位時代、產業價值鏈資訊平台</a:t>
            </a:r>
            <a:endParaRPr sz="1100" i="0" u="none" strike="noStrike" cap="none" dirty="0">
              <a:solidFill>
                <a:srgbClr val="000000"/>
              </a:solidFill>
              <a:latin typeface="Arial"/>
              <a:ea typeface="Arial"/>
              <a:cs typeface="Arial"/>
              <a:sym typeface="Arial"/>
            </a:endParaRPr>
          </a:p>
        </p:txBody>
      </p:sp>
      <p:sp>
        <p:nvSpPr>
          <p:cNvPr id="432" name="Google Shape;432;p45"/>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9</a:t>
            </a:fld>
            <a:endParaRPr/>
          </a:p>
        </p:txBody>
      </p:sp>
      <p:sp>
        <p:nvSpPr>
          <p:cNvPr id="433" name="Google Shape;433;p45"/>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D2BFAF"/>
                </a:solidFill>
                <a:latin typeface="Microsoft JhengHei"/>
                <a:ea typeface="Microsoft JhengHei"/>
                <a:cs typeface="Microsoft JhengHei"/>
                <a:sym typeface="Microsoft JhengHei"/>
              </a:rPr>
              <a:t>結論</a:t>
            </a:r>
            <a:endParaRPr sz="1100" b="0" i="0" u="none" strike="noStrike" cap="none">
              <a:solidFill>
                <a:srgbClr val="D2BFAF"/>
              </a:solidFill>
              <a:latin typeface="Arial"/>
              <a:ea typeface="Arial"/>
              <a:cs typeface="Arial"/>
              <a:sym typeface="Arial"/>
            </a:endParaRPr>
          </a:p>
        </p:txBody>
      </p:sp>
      <p:sp>
        <p:nvSpPr>
          <p:cNvPr id="434" name="Google Shape;434;p45"/>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435" name="Google Shape;435;p45"/>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436" name="Google Shape;436;p45"/>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437" name="Google Shape;437;p45"/>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438" name="Google Shape;438;p45"/>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439" name="Google Shape;439;p45"/>
          <p:cNvSpPr txBox="1"/>
          <p:nvPr/>
        </p:nvSpPr>
        <p:spPr>
          <a:xfrm>
            <a:off x="428951" y="1078224"/>
            <a:ext cx="8243700" cy="12468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zh-TW" sz="1400" b="1" i="0" u="none" strike="noStrike" cap="none">
                <a:solidFill>
                  <a:srgbClr val="000000"/>
                </a:solidFill>
                <a:latin typeface="Microsoft JhengHei"/>
                <a:ea typeface="Microsoft JhengHei"/>
                <a:cs typeface="Microsoft JhengHei"/>
                <a:sym typeface="Microsoft JhengHei"/>
              </a:rPr>
              <a:t>IC 設計公司</a:t>
            </a:r>
            <a:r>
              <a:rPr lang="zh-TW" sz="1400" i="0" u="none" strike="noStrike" cap="none">
                <a:solidFill>
                  <a:srgbClr val="000000"/>
                </a:solidFill>
                <a:latin typeface="Microsoft JhengHei"/>
                <a:ea typeface="Microsoft JhengHei"/>
                <a:cs typeface="Microsoft JhengHei"/>
                <a:sym typeface="Microsoft JhengHei"/>
              </a:rPr>
              <a:t>專注於晶片電路設計，負責將產品規格轉化為可製造的電路設計，使用 EDA 等工具並大量應用 IP 模組或外發 IC 設計服務公司來縮短開發周期、降低成本，並委由服務設計公司實施後端物理佈局與投片。</a:t>
            </a:r>
            <a:endParaRPr sz="1400" i="0" u="none" strike="noStrike" cap="none">
              <a:solidFill>
                <a:srgbClr val="000000"/>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500"/>
              <a:buFont typeface="Arial"/>
              <a:buNone/>
            </a:pPr>
            <a:endParaRPr sz="500" i="0" u="none" strike="noStrike" cap="none">
              <a:solidFill>
                <a:srgbClr val="000000"/>
              </a:solidFill>
              <a:latin typeface="Microsoft JhengHei"/>
              <a:ea typeface="Microsoft JhengHei"/>
              <a:cs typeface="Microsoft JhengHei"/>
              <a:sym typeface="Microsoft JhengHei"/>
            </a:endParaRPr>
          </a:p>
          <a:p>
            <a:pPr marL="285750" marR="0" lvl="0" indent="-285750" algn="l" rtl="0">
              <a:lnSpc>
                <a:spcPct val="100000"/>
              </a:lnSpc>
              <a:spcBef>
                <a:spcPts val="0"/>
              </a:spcBef>
              <a:spcAft>
                <a:spcPts val="0"/>
              </a:spcAft>
              <a:buClr>
                <a:srgbClr val="000000"/>
              </a:buClr>
              <a:buSzPts val="1400"/>
              <a:buFont typeface="Arial"/>
              <a:buChar char="•"/>
            </a:pPr>
            <a:r>
              <a:rPr lang="zh-TW" sz="1400" i="0" u="none" strike="noStrike" cap="none">
                <a:solidFill>
                  <a:srgbClr val="000000"/>
                </a:solidFill>
                <a:latin typeface="Microsoft JhengHei"/>
                <a:ea typeface="Microsoft JhengHei"/>
                <a:cs typeface="Microsoft JhengHei"/>
                <a:sym typeface="Microsoft JhengHei"/>
              </a:rPr>
              <a:t>而 </a:t>
            </a:r>
            <a:r>
              <a:rPr lang="zh-TW" sz="1400" b="1" i="0" u="none" strike="noStrike" cap="none">
                <a:solidFill>
                  <a:srgbClr val="000000"/>
                </a:solidFill>
                <a:latin typeface="Microsoft JhengHei"/>
                <a:ea typeface="Microsoft JhengHei"/>
                <a:cs typeface="Microsoft JhengHei"/>
                <a:sym typeface="Microsoft JhengHei"/>
              </a:rPr>
              <a:t>IC 設計服務公司</a:t>
            </a:r>
            <a:r>
              <a:rPr lang="zh-TW">
                <a:latin typeface="Microsoft JhengHei"/>
                <a:ea typeface="Microsoft JhengHei"/>
                <a:cs typeface="Microsoft JhengHei"/>
                <a:sym typeface="Microsoft JhengHei"/>
              </a:rPr>
              <a:t>如世芯-KY、創意則提供後端的物理佈局設計以及解決開發設計時的技術問題，並協助客戶完成設計以及至晶圓廠投片，主要以 NRE 收費，後續獲利來自授權與量產需求。</a:t>
            </a:r>
            <a:endParaRPr sz="1400" i="0" u="none" strike="noStrike" cap="none">
              <a:solidFill>
                <a:srgbClr val="000000"/>
              </a:solidFill>
              <a:latin typeface="Microsoft JhengHei"/>
              <a:ea typeface="Microsoft JhengHei"/>
              <a:cs typeface="Microsoft JhengHei"/>
              <a:sym typeface="Microsoft JhengHei"/>
            </a:endParaRPr>
          </a:p>
        </p:txBody>
      </p:sp>
      <p:sp>
        <p:nvSpPr>
          <p:cNvPr id="440" name="Google Shape;440;p45"/>
          <p:cNvSpPr txBox="1"/>
          <p:nvPr/>
        </p:nvSpPr>
        <p:spPr>
          <a:xfrm>
            <a:off x="5845188" y="4392600"/>
            <a:ext cx="302787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協助客戶下單至晶圓廠、封測廠</a:t>
            </a:r>
            <a:endParaRPr sz="1400" b="0" i="0" u="none" strike="noStrike" cap="none">
              <a:solidFill>
                <a:srgbClr val="000000"/>
              </a:solidFill>
              <a:latin typeface="Microsoft JhengHei"/>
              <a:ea typeface="Microsoft JhengHei"/>
              <a:cs typeface="Microsoft JhengHei"/>
              <a:sym typeface="Microsoft JhengHei"/>
            </a:endParaRPr>
          </a:p>
        </p:txBody>
      </p:sp>
      <p:grpSp>
        <p:nvGrpSpPr>
          <p:cNvPr id="441" name="Google Shape;441;p45"/>
          <p:cNvGrpSpPr/>
          <p:nvPr/>
        </p:nvGrpSpPr>
        <p:grpSpPr>
          <a:xfrm>
            <a:off x="423711" y="2484398"/>
            <a:ext cx="8243917" cy="2227239"/>
            <a:chOff x="573638" y="1955702"/>
            <a:chExt cx="7901013" cy="2756143"/>
          </a:xfrm>
        </p:grpSpPr>
        <p:grpSp>
          <p:nvGrpSpPr>
            <p:cNvPr id="442" name="Google Shape;442;p45"/>
            <p:cNvGrpSpPr/>
            <p:nvPr/>
          </p:nvGrpSpPr>
          <p:grpSpPr>
            <a:xfrm>
              <a:off x="2343137" y="1973878"/>
              <a:ext cx="4248184" cy="2737967"/>
              <a:chOff x="2343137" y="1973878"/>
              <a:chExt cx="4248184" cy="2737967"/>
            </a:xfrm>
          </p:grpSpPr>
          <p:cxnSp>
            <p:nvCxnSpPr>
              <p:cNvPr id="443" name="Google Shape;443;p45"/>
              <p:cNvCxnSpPr>
                <a:stCxn id="444" idx="2"/>
                <a:endCxn id="445" idx="1"/>
              </p:cNvCxnSpPr>
              <p:nvPr/>
            </p:nvCxnSpPr>
            <p:spPr>
              <a:xfrm rot="-5400000" flipH="1">
                <a:off x="2484020" y="3253395"/>
                <a:ext cx="1847700" cy="637200"/>
              </a:xfrm>
              <a:prstGeom prst="bentConnector2">
                <a:avLst/>
              </a:prstGeom>
              <a:noFill/>
              <a:ln w="12700" cap="flat" cmpd="sng">
                <a:solidFill>
                  <a:srgbClr val="833C0B"/>
                </a:solidFill>
                <a:prstDash val="solid"/>
                <a:round/>
                <a:headEnd type="none" w="sm" len="sm"/>
                <a:tailEnd type="triangle" w="med" len="med"/>
              </a:ln>
            </p:spPr>
          </p:cxnSp>
          <p:grpSp>
            <p:nvGrpSpPr>
              <p:cNvPr id="446" name="Google Shape;446;p45"/>
              <p:cNvGrpSpPr/>
              <p:nvPr/>
            </p:nvGrpSpPr>
            <p:grpSpPr>
              <a:xfrm>
                <a:off x="2343137" y="1973878"/>
                <a:ext cx="4248184" cy="2737967"/>
                <a:chOff x="2343137" y="1973878"/>
                <a:chExt cx="4248184" cy="2737967"/>
              </a:xfrm>
            </p:grpSpPr>
            <p:sp>
              <p:nvSpPr>
                <p:cNvPr id="444" name="Google Shape;444;p45"/>
                <p:cNvSpPr/>
                <p:nvPr/>
              </p:nvSpPr>
              <p:spPr>
                <a:xfrm>
                  <a:off x="2343137" y="2188571"/>
                  <a:ext cx="1492266" cy="459574"/>
                </a:xfrm>
                <a:prstGeom prst="roundRect">
                  <a:avLst>
                    <a:gd name="adj" fmla="val 16667"/>
                  </a:avLst>
                </a:prstGeom>
                <a:solidFill>
                  <a:srgbClr val="FFF6ED"/>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IC 設計公司</a:t>
                  </a:r>
                  <a:endParaRPr sz="1400" b="0" i="0" u="none" strike="noStrike" cap="none">
                    <a:solidFill>
                      <a:srgbClr val="000000"/>
                    </a:solidFill>
                    <a:latin typeface="Microsoft JhengHei"/>
                    <a:ea typeface="Microsoft JhengHei"/>
                    <a:cs typeface="Microsoft JhengHei"/>
                    <a:sym typeface="Microsoft JhengHei"/>
                  </a:endParaRPr>
                </a:p>
              </p:txBody>
            </p:sp>
            <p:sp>
              <p:nvSpPr>
                <p:cNvPr id="447" name="Google Shape;447;p45"/>
                <p:cNvSpPr/>
                <p:nvPr/>
              </p:nvSpPr>
              <p:spPr>
                <a:xfrm>
                  <a:off x="5099055" y="2216145"/>
                  <a:ext cx="1492266" cy="432000"/>
                </a:xfrm>
                <a:prstGeom prst="roundRect">
                  <a:avLst>
                    <a:gd name="adj" fmla="val 16667"/>
                  </a:avLst>
                </a:prstGeom>
                <a:solidFill>
                  <a:srgbClr val="FFF6ED"/>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IC 設計服務</a:t>
                  </a:r>
                  <a:endParaRPr sz="1400" b="0" i="0" u="none" strike="noStrike" cap="none">
                    <a:solidFill>
                      <a:srgbClr val="000000"/>
                    </a:solidFill>
                    <a:latin typeface="Microsoft JhengHei"/>
                    <a:ea typeface="Microsoft JhengHei"/>
                    <a:cs typeface="Microsoft JhengHei"/>
                    <a:sym typeface="Microsoft JhengHei"/>
                  </a:endParaRPr>
                </a:p>
              </p:txBody>
            </p:sp>
            <p:cxnSp>
              <p:nvCxnSpPr>
                <p:cNvPr id="448" name="Google Shape;448;p45"/>
                <p:cNvCxnSpPr/>
                <p:nvPr/>
              </p:nvCxnSpPr>
              <p:spPr>
                <a:xfrm>
                  <a:off x="3928536" y="2364411"/>
                  <a:ext cx="1105127" cy="0"/>
                </a:xfrm>
                <a:prstGeom prst="straightConnector1">
                  <a:avLst/>
                </a:prstGeom>
                <a:noFill/>
                <a:ln w="12700" cap="flat" cmpd="sng">
                  <a:solidFill>
                    <a:srgbClr val="833C0B"/>
                  </a:solidFill>
                  <a:prstDash val="dash"/>
                  <a:round/>
                  <a:headEnd type="none" w="sm" len="sm"/>
                  <a:tailEnd type="triangle" w="med" len="med"/>
                </a:ln>
              </p:spPr>
            </p:cxnSp>
            <p:cxnSp>
              <p:nvCxnSpPr>
                <p:cNvPr id="449" name="Google Shape;449;p45"/>
                <p:cNvCxnSpPr/>
                <p:nvPr/>
              </p:nvCxnSpPr>
              <p:spPr>
                <a:xfrm rot="10800000">
                  <a:off x="3911601" y="2525278"/>
                  <a:ext cx="1105127" cy="0"/>
                </a:xfrm>
                <a:prstGeom prst="straightConnector1">
                  <a:avLst/>
                </a:prstGeom>
                <a:noFill/>
                <a:ln w="12700" cap="flat" cmpd="sng">
                  <a:solidFill>
                    <a:srgbClr val="833C0B"/>
                  </a:solidFill>
                  <a:prstDash val="dash"/>
                  <a:round/>
                  <a:headEnd type="none" w="sm" len="sm"/>
                  <a:tailEnd type="triangle" w="med" len="med"/>
                </a:ln>
              </p:spPr>
            </p:cxnSp>
            <p:sp>
              <p:nvSpPr>
                <p:cNvPr id="450" name="Google Shape;450;p45"/>
                <p:cNvSpPr txBox="1"/>
                <p:nvPr/>
              </p:nvSpPr>
              <p:spPr>
                <a:xfrm>
                  <a:off x="4149228" y="2558385"/>
                  <a:ext cx="762430" cy="3807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IP出售</a:t>
                  </a:r>
                  <a:endParaRPr sz="1400" b="0" i="0" u="none" strike="noStrike" cap="none">
                    <a:solidFill>
                      <a:srgbClr val="000000"/>
                    </a:solidFill>
                    <a:latin typeface="Microsoft JhengHei"/>
                    <a:ea typeface="Microsoft JhengHei"/>
                    <a:cs typeface="Microsoft JhengHei"/>
                    <a:sym typeface="Microsoft JhengHei"/>
                  </a:endParaRPr>
                </a:p>
              </p:txBody>
            </p:sp>
            <p:sp>
              <p:nvSpPr>
                <p:cNvPr id="451" name="Google Shape;451;p45"/>
                <p:cNvSpPr txBox="1"/>
                <p:nvPr/>
              </p:nvSpPr>
              <p:spPr>
                <a:xfrm>
                  <a:off x="4157695" y="1973878"/>
                  <a:ext cx="762430" cy="3807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權利金</a:t>
                  </a:r>
                  <a:endParaRPr sz="1400" b="0" i="0" u="none" strike="noStrike" cap="none">
                    <a:solidFill>
                      <a:srgbClr val="000000"/>
                    </a:solidFill>
                    <a:latin typeface="Microsoft JhengHei"/>
                    <a:ea typeface="Microsoft JhengHei"/>
                    <a:cs typeface="Microsoft JhengHei"/>
                    <a:sym typeface="Microsoft JhengHei"/>
                  </a:endParaRPr>
                </a:p>
              </p:txBody>
            </p:sp>
            <p:sp>
              <p:nvSpPr>
                <p:cNvPr id="452" name="Google Shape;452;p45"/>
                <p:cNvSpPr/>
                <p:nvPr/>
              </p:nvSpPr>
              <p:spPr>
                <a:xfrm>
                  <a:off x="5099055" y="2935023"/>
                  <a:ext cx="1492266"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NRE 委外設計</a:t>
                  </a:r>
                  <a:endParaRPr sz="1400" b="0" i="0" u="none" strike="noStrike" cap="none">
                    <a:solidFill>
                      <a:srgbClr val="000000"/>
                    </a:solidFill>
                    <a:latin typeface="Microsoft JhengHei"/>
                    <a:ea typeface="Microsoft JhengHei"/>
                    <a:cs typeface="Microsoft JhengHei"/>
                    <a:sym typeface="Microsoft JhengHei"/>
                  </a:endParaRPr>
                </a:p>
              </p:txBody>
            </p:sp>
            <p:sp>
              <p:nvSpPr>
                <p:cNvPr id="453" name="Google Shape;453;p45"/>
                <p:cNvSpPr/>
                <p:nvPr/>
              </p:nvSpPr>
              <p:spPr>
                <a:xfrm>
                  <a:off x="5099055" y="3648662"/>
                  <a:ext cx="1492266"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Turn-Key 統包</a:t>
                  </a:r>
                  <a:endParaRPr sz="1400" b="0" i="0" u="none" strike="noStrike" cap="none">
                    <a:solidFill>
                      <a:srgbClr val="000000"/>
                    </a:solidFill>
                    <a:latin typeface="Microsoft JhengHei"/>
                    <a:ea typeface="Microsoft JhengHei"/>
                    <a:cs typeface="Microsoft JhengHei"/>
                    <a:sym typeface="Microsoft JhengHei"/>
                  </a:endParaRPr>
                </a:p>
              </p:txBody>
            </p:sp>
            <p:sp>
              <p:nvSpPr>
                <p:cNvPr id="445" name="Google Shape;445;p45"/>
                <p:cNvSpPr/>
                <p:nvPr/>
              </p:nvSpPr>
              <p:spPr>
                <a:xfrm>
                  <a:off x="3726498" y="4279845"/>
                  <a:ext cx="1492266" cy="432000"/>
                </a:xfrm>
                <a:prstGeom prst="roundRect">
                  <a:avLst>
                    <a:gd name="adj" fmla="val 16667"/>
                  </a:avLst>
                </a:prstGeom>
                <a:solidFill>
                  <a:schemeClr val="lt1"/>
                </a:solidFill>
                <a:ln w="28575" cap="flat" cmpd="sng">
                  <a:solidFill>
                    <a:srgbClr val="F1A63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晶圓代工</a:t>
                  </a:r>
                  <a:endParaRPr sz="1400" b="0" i="0" u="none" strike="noStrike" cap="none">
                    <a:solidFill>
                      <a:srgbClr val="000000"/>
                    </a:solidFill>
                    <a:latin typeface="Microsoft JhengHei"/>
                    <a:ea typeface="Microsoft JhengHei"/>
                    <a:cs typeface="Microsoft JhengHei"/>
                    <a:sym typeface="Microsoft JhengHei"/>
                  </a:endParaRPr>
                </a:p>
              </p:txBody>
            </p:sp>
            <p:cxnSp>
              <p:nvCxnSpPr>
                <p:cNvPr id="454" name="Google Shape;454;p45"/>
                <p:cNvCxnSpPr>
                  <a:stCxn id="447" idx="2"/>
                  <a:endCxn id="452" idx="0"/>
                </p:cNvCxnSpPr>
                <p:nvPr/>
              </p:nvCxnSpPr>
              <p:spPr>
                <a:xfrm>
                  <a:off x="5845188" y="2648145"/>
                  <a:ext cx="0" cy="286800"/>
                </a:xfrm>
                <a:prstGeom prst="straightConnector1">
                  <a:avLst/>
                </a:prstGeom>
                <a:noFill/>
                <a:ln w="12700" cap="flat" cmpd="sng">
                  <a:solidFill>
                    <a:srgbClr val="833C0B"/>
                  </a:solidFill>
                  <a:prstDash val="solid"/>
                  <a:round/>
                  <a:headEnd type="none" w="sm" len="sm"/>
                  <a:tailEnd type="triangle" w="med" len="med"/>
                </a:ln>
              </p:spPr>
            </p:cxnSp>
            <p:cxnSp>
              <p:nvCxnSpPr>
                <p:cNvPr id="455" name="Google Shape;455;p45"/>
                <p:cNvCxnSpPr>
                  <a:stCxn id="452" idx="2"/>
                  <a:endCxn id="453" idx="0"/>
                </p:cNvCxnSpPr>
                <p:nvPr/>
              </p:nvCxnSpPr>
              <p:spPr>
                <a:xfrm>
                  <a:off x="5845188" y="3367023"/>
                  <a:ext cx="0" cy="281700"/>
                </a:xfrm>
                <a:prstGeom prst="straightConnector1">
                  <a:avLst/>
                </a:prstGeom>
                <a:noFill/>
                <a:ln w="12700" cap="flat" cmpd="sng">
                  <a:solidFill>
                    <a:srgbClr val="833C0B"/>
                  </a:solidFill>
                  <a:prstDash val="solid"/>
                  <a:round/>
                  <a:headEnd type="none" w="sm" len="sm"/>
                  <a:tailEnd type="triangle" w="med" len="med"/>
                </a:ln>
              </p:spPr>
            </p:cxnSp>
          </p:grpSp>
          <p:cxnSp>
            <p:nvCxnSpPr>
              <p:cNvPr id="456" name="Google Shape;456;p45"/>
              <p:cNvCxnSpPr>
                <a:stCxn id="453" idx="2"/>
                <a:endCxn id="445" idx="3"/>
              </p:cNvCxnSpPr>
              <p:nvPr/>
            </p:nvCxnSpPr>
            <p:spPr>
              <a:xfrm rot="5400000">
                <a:off x="5324388" y="3975062"/>
                <a:ext cx="415200" cy="626400"/>
              </a:xfrm>
              <a:prstGeom prst="bentConnector2">
                <a:avLst/>
              </a:prstGeom>
              <a:noFill/>
              <a:ln w="12700" cap="flat" cmpd="sng">
                <a:solidFill>
                  <a:srgbClr val="833C0B"/>
                </a:solidFill>
                <a:prstDash val="solid"/>
                <a:round/>
                <a:headEnd type="none" w="sm" len="sm"/>
                <a:tailEnd type="triangle" w="med" len="med"/>
              </a:ln>
            </p:spPr>
          </p:cxnSp>
        </p:grpSp>
        <p:sp>
          <p:nvSpPr>
            <p:cNvPr id="457" name="Google Shape;457;p45"/>
            <p:cNvSpPr txBox="1"/>
            <p:nvPr/>
          </p:nvSpPr>
          <p:spPr>
            <a:xfrm>
              <a:off x="6982385" y="3716776"/>
              <a:ext cx="1492266" cy="3807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量產晶片抽成</a:t>
              </a:r>
              <a:endParaRPr sz="1400" b="0" i="0" u="none" strike="noStrike" cap="none">
                <a:solidFill>
                  <a:srgbClr val="000000"/>
                </a:solidFill>
                <a:latin typeface="Microsoft JhengHei"/>
                <a:ea typeface="Microsoft JhengHei"/>
                <a:cs typeface="Microsoft JhengHei"/>
                <a:sym typeface="Microsoft JhengHei"/>
              </a:endParaRPr>
            </a:p>
          </p:txBody>
        </p:sp>
        <p:pic>
          <p:nvPicPr>
            <p:cNvPr id="458" name="Google Shape;458;p45"/>
            <p:cNvPicPr preferRelativeResize="0"/>
            <p:nvPr/>
          </p:nvPicPr>
          <p:blipFill rotWithShape="1">
            <a:blip r:embed="rId4">
              <a:alphaModFix/>
            </a:blip>
            <a:srcRect/>
            <a:stretch/>
          </p:blipFill>
          <p:spPr>
            <a:xfrm>
              <a:off x="3892328" y="1955702"/>
              <a:ext cx="342887" cy="342887"/>
            </a:xfrm>
            <a:prstGeom prst="rect">
              <a:avLst/>
            </a:prstGeom>
            <a:noFill/>
            <a:ln>
              <a:noFill/>
            </a:ln>
          </p:spPr>
        </p:pic>
        <p:pic>
          <p:nvPicPr>
            <p:cNvPr id="459" name="Google Shape;459;p45"/>
            <p:cNvPicPr preferRelativeResize="0"/>
            <p:nvPr/>
          </p:nvPicPr>
          <p:blipFill rotWithShape="1">
            <a:blip r:embed="rId4">
              <a:alphaModFix/>
            </a:blip>
            <a:srcRect/>
            <a:stretch/>
          </p:blipFill>
          <p:spPr>
            <a:xfrm>
              <a:off x="6691842" y="2992066"/>
              <a:ext cx="342887" cy="342887"/>
            </a:xfrm>
            <a:prstGeom prst="rect">
              <a:avLst/>
            </a:prstGeom>
            <a:noFill/>
            <a:ln>
              <a:noFill/>
            </a:ln>
          </p:spPr>
        </p:pic>
        <p:pic>
          <p:nvPicPr>
            <p:cNvPr id="460" name="Google Shape;460;p45"/>
            <p:cNvPicPr preferRelativeResize="0"/>
            <p:nvPr/>
          </p:nvPicPr>
          <p:blipFill rotWithShape="1">
            <a:blip r:embed="rId4">
              <a:alphaModFix/>
            </a:blip>
            <a:srcRect/>
            <a:stretch/>
          </p:blipFill>
          <p:spPr>
            <a:xfrm>
              <a:off x="6691842" y="3689735"/>
              <a:ext cx="342887" cy="342887"/>
            </a:xfrm>
            <a:prstGeom prst="rect">
              <a:avLst/>
            </a:prstGeom>
            <a:noFill/>
            <a:ln>
              <a:noFill/>
            </a:ln>
          </p:spPr>
        </p:pic>
        <p:sp>
          <p:nvSpPr>
            <p:cNvPr id="461" name="Google Shape;461;p45"/>
            <p:cNvSpPr txBox="1"/>
            <p:nvPr/>
          </p:nvSpPr>
          <p:spPr>
            <a:xfrm>
              <a:off x="6982385" y="3031210"/>
              <a:ext cx="1492266" cy="3807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一次性工程費用</a:t>
              </a:r>
              <a:endParaRPr sz="1400" b="0" i="0" u="none" strike="noStrike" cap="none">
                <a:solidFill>
                  <a:srgbClr val="000000"/>
                </a:solidFill>
                <a:latin typeface="Microsoft JhengHei"/>
                <a:ea typeface="Microsoft JhengHei"/>
                <a:cs typeface="Microsoft JhengHei"/>
                <a:sym typeface="Microsoft JhengHei"/>
              </a:endParaRPr>
            </a:p>
          </p:txBody>
        </p:sp>
        <p:grpSp>
          <p:nvGrpSpPr>
            <p:cNvPr id="462" name="Google Shape;462;p45"/>
            <p:cNvGrpSpPr/>
            <p:nvPr/>
          </p:nvGrpSpPr>
          <p:grpSpPr>
            <a:xfrm>
              <a:off x="573638" y="2975662"/>
              <a:ext cx="1769476" cy="747782"/>
              <a:chOff x="365917" y="2219677"/>
              <a:chExt cx="1769476" cy="747782"/>
            </a:xfrm>
          </p:grpSpPr>
          <p:pic>
            <p:nvPicPr>
              <p:cNvPr id="463" name="Google Shape;463;p45"/>
              <p:cNvPicPr preferRelativeResize="0"/>
              <p:nvPr/>
            </p:nvPicPr>
            <p:blipFill rotWithShape="1">
              <a:blip r:embed="rId4">
                <a:alphaModFix/>
              </a:blip>
              <a:srcRect/>
              <a:stretch/>
            </p:blipFill>
            <p:spPr>
              <a:xfrm>
                <a:off x="365917" y="2254616"/>
                <a:ext cx="342887" cy="342887"/>
              </a:xfrm>
              <a:prstGeom prst="rect">
                <a:avLst/>
              </a:prstGeom>
              <a:noFill/>
              <a:ln>
                <a:noFill/>
              </a:ln>
            </p:spPr>
          </p:pic>
          <p:sp>
            <p:nvSpPr>
              <p:cNvPr id="464" name="Google Shape;464;p45"/>
              <p:cNvSpPr txBox="1"/>
              <p:nvPr/>
            </p:nvSpPr>
            <p:spPr>
              <a:xfrm>
                <a:off x="643127" y="2219677"/>
                <a:ext cx="1492266" cy="38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晶片電路設計</a:t>
                </a:r>
                <a:endParaRPr sz="1400" b="0" i="0" u="none" strike="noStrike" cap="none">
                  <a:solidFill>
                    <a:srgbClr val="000000"/>
                  </a:solidFill>
                  <a:latin typeface="Microsoft JhengHei"/>
                  <a:ea typeface="Microsoft JhengHei"/>
                  <a:cs typeface="Microsoft JhengHei"/>
                  <a:sym typeface="Microsoft JhengHei"/>
                </a:endParaRPr>
              </a:p>
            </p:txBody>
          </p:sp>
          <p:pic>
            <p:nvPicPr>
              <p:cNvPr id="465" name="Google Shape;465;p45"/>
              <p:cNvPicPr preferRelativeResize="0"/>
              <p:nvPr/>
            </p:nvPicPr>
            <p:blipFill rotWithShape="1">
              <a:blip r:embed="rId4">
                <a:alphaModFix/>
              </a:blip>
              <a:srcRect/>
              <a:stretch/>
            </p:blipFill>
            <p:spPr>
              <a:xfrm>
                <a:off x="365917" y="2624572"/>
                <a:ext cx="342887" cy="342887"/>
              </a:xfrm>
              <a:prstGeom prst="rect">
                <a:avLst/>
              </a:prstGeom>
              <a:noFill/>
              <a:ln>
                <a:noFill/>
              </a:ln>
            </p:spPr>
          </p:pic>
          <p:sp>
            <p:nvSpPr>
              <p:cNvPr id="466" name="Google Shape;466;p45"/>
              <p:cNvSpPr txBox="1"/>
              <p:nvPr/>
            </p:nvSpPr>
            <p:spPr>
              <a:xfrm>
                <a:off x="643127" y="2573332"/>
                <a:ext cx="1492266" cy="38079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833C0B"/>
                    </a:solidFill>
                    <a:latin typeface="Microsoft JhengHei"/>
                    <a:ea typeface="Microsoft JhengHei"/>
                    <a:cs typeface="Microsoft JhengHei"/>
                    <a:sym typeface="Microsoft JhengHei"/>
                  </a:rPr>
                  <a:t>晶片銷售</a:t>
                </a:r>
                <a:endParaRPr sz="1400" b="0" i="0" u="none" strike="noStrike" cap="none">
                  <a:solidFill>
                    <a:srgbClr val="000000"/>
                  </a:solidFill>
                  <a:latin typeface="Microsoft JhengHei"/>
                  <a:ea typeface="Microsoft JhengHei"/>
                  <a:cs typeface="Microsoft JhengHei"/>
                  <a:sym typeface="Microsoft JhengHei"/>
                </a:endParaRPr>
              </a:p>
            </p:txBody>
          </p:sp>
        </p:grpSp>
      </p:grpSp>
      <p:grpSp>
        <p:nvGrpSpPr>
          <p:cNvPr id="467" name="Google Shape;467;p45"/>
          <p:cNvGrpSpPr/>
          <p:nvPr/>
        </p:nvGrpSpPr>
        <p:grpSpPr>
          <a:xfrm>
            <a:off x="242301" y="434035"/>
            <a:ext cx="484808" cy="484808"/>
            <a:chOff x="1628775" y="1381125"/>
            <a:chExt cx="1352700" cy="1352700"/>
          </a:xfrm>
        </p:grpSpPr>
        <p:sp>
          <p:nvSpPr>
            <p:cNvPr id="468" name="Google Shape;468;p45"/>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469" name="Google Shape;469;p45"/>
            <p:cNvPicPr preferRelativeResize="0"/>
            <p:nvPr/>
          </p:nvPicPr>
          <p:blipFill rotWithShape="1">
            <a:blip r:embed="rId5">
              <a:alphaModFix/>
            </a:blip>
            <a:srcRect/>
            <a:stretch/>
          </p:blipFill>
          <p:spPr>
            <a:xfrm>
              <a:off x="1760962" y="1929413"/>
              <a:ext cx="1134638" cy="309446"/>
            </a:xfrm>
            <a:prstGeom prst="rect">
              <a:avLst/>
            </a:prstGeom>
            <a:noFill/>
            <a:ln>
              <a:noFill/>
            </a:ln>
          </p:spPr>
        </p:pic>
      </p:grpSp>
      <p:sp>
        <p:nvSpPr>
          <p:cNvPr id="470" name="Google Shape;470;p45"/>
          <p:cNvSpPr txBox="1"/>
          <p:nvPr/>
        </p:nvSpPr>
        <p:spPr>
          <a:xfrm>
            <a:off x="727109" y="512861"/>
            <a:ext cx="7946400" cy="34621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IC 設計產業分為晶片設計與設計服務</a:t>
            </a:r>
            <a:endParaRPr sz="1800" b="1" i="0" u="none" strike="noStrike" cap="none">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29"/>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259" name="Google Shape;259;p29"/>
          <p:cNvGrpSpPr/>
          <p:nvPr/>
        </p:nvGrpSpPr>
        <p:grpSpPr>
          <a:xfrm>
            <a:off x="242301" y="434035"/>
            <a:ext cx="484808" cy="484808"/>
            <a:chOff x="1628775" y="1381125"/>
            <a:chExt cx="1352700" cy="1352700"/>
          </a:xfrm>
        </p:grpSpPr>
        <p:sp>
          <p:nvSpPr>
            <p:cNvPr id="260" name="Google Shape;260;p29"/>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61" name="Google Shape;261;p29"/>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262" name="Google Shape;262;p29"/>
          <p:cNvSpPr txBox="1"/>
          <p:nvPr/>
        </p:nvSpPr>
        <p:spPr>
          <a:xfrm>
            <a:off x="727100" y="434024"/>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icrosoft JhengHei"/>
              <a:ea typeface="Microsoft JhengHei"/>
              <a:cs typeface="Microsoft JhengHei"/>
              <a:sym typeface="Microsoft JhengHei"/>
            </a:endParaRPr>
          </a:p>
        </p:txBody>
      </p:sp>
      <p:cxnSp>
        <p:nvCxnSpPr>
          <p:cNvPr id="263" name="Google Shape;263;p29"/>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264" name="Google Shape;264;p29"/>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華南投顧研究報告,財報狗</a:t>
            </a:r>
            <a:endParaRPr sz="1100" i="0" u="none" strike="noStrike" cap="none" dirty="0">
              <a:solidFill>
                <a:srgbClr val="000000"/>
              </a:solidFill>
              <a:latin typeface="Arial"/>
              <a:ea typeface="Arial"/>
              <a:cs typeface="Arial"/>
              <a:sym typeface="Arial"/>
            </a:endParaRPr>
          </a:p>
        </p:txBody>
      </p:sp>
      <p:sp>
        <p:nvSpPr>
          <p:cNvPr id="265" name="Google Shape;265;p29"/>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r>
              <a:rPr lang="zh-TW"/>
              <a:t>11</a:t>
            </a:r>
            <a:endParaRPr/>
          </a:p>
        </p:txBody>
      </p:sp>
      <p:sp>
        <p:nvSpPr>
          <p:cNvPr id="266" name="Google Shape;266;p29"/>
          <p:cNvSpPr/>
          <p:nvPr/>
        </p:nvSpPr>
        <p:spPr>
          <a:xfrm>
            <a:off x="530436" y="2254271"/>
            <a:ext cx="3944100" cy="330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dk1"/>
                </a:solidFill>
                <a:latin typeface="Microsoft JhengHei"/>
                <a:ea typeface="Microsoft JhengHei"/>
                <a:cs typeface="Microsoft JhengHei"/>
                <a:sym typeface="Microsoft JhengHei"/>
              </a:rPr>
              <a:t>台美廠毛利率比較 (2025)</a:t>
            </a:r>
            <a:endParaRPr sz="1400" b="1" i="0" u="none" strike="noStrike" cap="none">
              <a:solidFill>
                <a:schemeClr val="dk1"/>
              </a:solidFill>
              <a:latin typeface="Microsoft JhengHei"/>
              <a:ea typeface="Microsoft JhengHei"/>
              <a:cs typeface="Microsoft JhengHei"/>
              <a:sym typeface="Microsoft JhengHei"/>
            </a:endParaRPr>
          </a:p>
        </p:txBody>
      </p:sp>
      <p:sp>
        <p:nvSpPr>
          <p:cNvPr id="267" name="Google Shape;267;p29"/>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FFFFFF"/>
                </a:solidFill>
                <a:latin typeface="Microsoft JhengHei"/>
                <a:ea typeface="Microsoft JhengHei"/>
                <a:cs typeface="Microsoft JhengHei"/>
                <a:sym typeface="Microsoft JhengHei"/>
              </a:rPr>
              <a:t>公司簡介</a:t>
            </a:r>
            <a:endParaRPr sz="1100" b="0" i="0" u="none" strike="noStrike" cap="none">
              <a:solidFill>
                <a:srgbClr val="000000"/>
              </a:solidFill>
              <a:latin typeface="Arial"/>
              <a:ea typeface="Arial"/>
              <a:cs typeface="Arial"/>
              <a:sym typeface="Arial"/>
            </a:endParaRPr>
          </a:p>
        </p:txBody>
      </p:sp>
      <p:sp>
        <p:nvSpPr>
          <p:cNvPr id="268" name="Google Shape;268;p29"/>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0" i="0" u="none" strike="noStrike" cap="none">
              <a:solidFill>
                <a:srgbClr val="C9B4A5"/>
              </a:solidFill>
              <a:latin typeface="Arial"/>
              <a:ea typeface="Arial"/>
              <a:cs typeface="Arial"/>
              <a:sym typeface="Arial"/>
            </a:endParaRPr>
          </a:p>
        </p:txBody>
      </p:sp>
      <p:sp>
        <p:nvSpPr>
          <p:cNvPr id="269" name="Google Shape;269;p29"/>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270" name="Google Shape;270;p29"/>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271" name="Google Shape;271;p29"/>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272" name="Google Shape;272;p29"/>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273" name="Google Shape;273;p29"/>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274" name="Google Shape;274;p29"/>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公司簡介</a:t>
            </a:r>
            <a:endParaRPr sz="1100" b="0" i="0" u="none" strike="noStrike" cap="none">
              <a:solidFill>
                <a:srgbClr val="C9B4A5"/>
              </a:solidFill>
              <a:latin typeface="Arial"/>
              <a:ea typeface="Arial"/>
              <a:cs typeface="Arial"/>
              <a:sym typeface="Arial"/>
            </a:endParaRPr>
          </a:p>
        </p:txBody>
      </p:sp>
      <p:sp>
        <p:nvSpPr>
          <p:cNvPr id="275" name="Google Shape;275;p29"/>
          <p:cNvSpPr txBox="1"/>
          <p:nvPr/>
        </p:nvSpPr>
        <p:spPr>
          <a:xfrm>
            <a:off x="727100" y="329998"/>
            <a:ext cx="7946400" cy="695545"/>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zh-TW" sz="1800" b="1" i="0" u="none" strike="noStrike" cap="none" dirty="0">
                <a:solidFill>
                  <a:schemeClr val="dk1"/>
                </a:solidFill>
                <a:latin typeface="Microsoft JhengHei"/>
                <a:ea typeface="Microsoft JhengHei"/>
                <a:cs typeface="Microsoft JhengHei"/>
                <a:sym typeface="Microsoft JhengHei"/>
              </a:rPr>
              <a:t>商業模式比較</a:t>
            </a:r>
            <a:endParaRPr sz="1800" b="1" i="0" u="none" strike="noStrike" cap="none" dirty="0">
              <a:solidFill>
                <a:schemeClr val="dk1"/>
              </a:solidFill>
              <a:latin typeface="Microsoft JhengHei"/>
              <a:ea typeface="Microsoft JhengHei"/>
              <a:cs typeface="Microsoft JhengHei"/>
              <a:sym typeface="Microsoft JhengHei"/>
            </a:endParaRPr>
          </a:p>
        </p:txBody>
      </p:sp>
      <p:sp>
        <p:nvSpPr>
          <p:cNvPr id="276" name="Google Shape;276;p29"/>
          <p:cNvSpPr/>
          <p:nvPr/>
        </p:nvSpPr>
        <p:spPr>
          <a:xfrm>
            <a:off x="4579700" y="2241509"/>
            <a:ext cx="4093800" cy="333581"/>
          </a:xfrm>
          <a:prstGeom prst="rect">
            <a:avLst/>
          </a:prstGeom>
          <a:solidFill>
            <a:srgbClr val="F1A539"/>
          </a:solidFill>
          <a:ln>
            <a:noFill/>
          </a:ln>
        </p:spPr>
        <p:txBody>
          <a:bodyPr spcFirstLastPara="1" wrap="square" lIns="68575" tIns="34275" rIns="68575" bIns="34275" anchor="ctr" anchorCtr="0">
            <a:noAutofit/>
          </a:bodyPr>
          <a:lstStyle/>
          <a:p>
            <a:pPr marL="0" marR="0" lvl="0" indent="0" algn="ctr" rtl="0">
              <a:lnSpc>
                <a:spcPct val="115000"/>
              </a:lnSpc>
              <a:spcBef>
                <a:spcPts val="1200"/>
              </a:spcBef>
              <a:spcAft>
                <a:spcPts val="1200"/>
              </a:spcAft>
              <a:buClr>
                <a:schemeClr val="dk1"/>
              </a:buClr>
              <a:buSzPts val="1100"/>
              <a:buFont typeface="Arial"/>
              <a:buNone/>
            </a:pPr>
            <a:r>
              <a:rPr lang="zh-TW" sz="1400" b="1" i="0" u="none" strike="noStrike" cap="none">
                <a:solidFill>
                  <a:schemeClr val="dk1"/>
                </a:solidFill>
                <a:latin typeface="Microsoft JhengHei"/>
                <a:ea typeface="Microsoft JhengHei"/>
                <a:cs typeface="Microsoft JhengHei"/>
                <a:sym typeface="Microsoft JhengHei"/>
              </a:rPr>
              <a:t>商業模式比較</a:t>
            </a:r>
            <a:endParaRPr sz="700" b="0" i="0" u="none" strike="noStrike" cap="none">
              <a:solidFill>
                <a:srgbClr val="000000"/>
              </a:solidFill>
              <a:latin typeface="Arial"/>
              <a:ea typeface="Arial"/>
              <a:cs typeface="Arial"/>
              <a:sym typeface="Arial"/>
            </a:endParaRPr>
          </a:p>
        </p:txBody>
      </p:sp>
      <p:graphicFrame>
        <p:nvGraphicFramePr>
          <p:cNvPr id="277" name="Google Shape;277;p29"/>
          <p:cNvGraphicFramePr/>
          <p:nvPr/>
        </p:nvGraphicFramePr>
        <p:xfrm>
          <a:off x="4579699" y="2604139"/>
          <a:ext cx="4093775" cy="2114650"/>
        </p:xfrm>
        <a:graphic>
          <a:graphicData uri="http://schemas.openxmlformats.org/drawingml/2006/table">
            <a:tbl>
              <a:tblPr>
                <a:noFill/>
              </a:tblPr>
              <a:tblGrid>
                <a:gridCol w="917450">
                  <a:extLst>
                    <a:ext uri="{9D8B030D-6E8A-4147-A177-3AD203B41FA5}">
                      <a16:colId xmlns:a16="http://schemas.microsoft.com/office/drawing/2014/main" val="20000"/>
                    </a:ext>
                  </a:extLst>
                </a:gridCol>
                <a:gridCol w="955550">
                  <a:extLst>
                    <a:ext uri="{9D8B030D-6E8A-4147-A177-3AD203B41FA5}">
                      <a16:colId xmlns:a16="http://schemas.microsoft.com/office/drawing/2014/main" val="20001"/>
                    </a:ext>
                  </a:extLst>
                </a:gridCol>
                <a:gridCol w="1203250">
                  <a:extLst>
                    <a:ext uri="{9D8B030D-6E8A-4147-A177-3AD203B41FA5}">
                      <a16:colId xmlns:a16="http://schemas.microsoft.com/office/drawing/2014/main" val="20002"/>
                    </a:ext>
                  </a:extLst>
                </a:gridCol>
                <a:gridCol w="1017525">
                  <a:extLst>
                    <a:ext uri="{9D8B030D-6E8A-4147-A177-3AD203B41FA5}">
                      <a16:colId xmlns:a16="http://schemas.microsoft.com/office/drawing/2014/main" val="20003"/>
                    </a:ext>
                  </a:extLst>
                </a:gridCol>
              </a:tblGrid>
              <a:tr h="332550">
                <a:tc>
                  <a:txBody>
                    <a:bodyPr/>
                    <a:lstStyle/>
                    <a:p>
                      <a:pPr marL="0" marR="0" lvl="0" indent="0" algn="ctr" rtl="0">
                        <a:lnSpc>
                          <a:spcPct val="100000"/>
                        </a:lnSpc>
                        <a:spcBef>
                          <a:spcPts val="0"/>
                        </a:spcBef>
                        <a:spcAft>
                          <a:spcPts val="0"/>
                        </a:spcAft>
                        <a:buClr>
                          <a:srgbClr val="000000"/>
                        </a:buClr>
                        <a:buSzPts val="1100"/>
                        <a:buFont typeface="Arial"/>
                        <a:buNone/>
                      </a:pPr>
                      <a:r>
                        <a:rPr lang="zh-TW" sz="1100" b="1" u="none" strike="noStrike" cap="none">
                          <a:latin typeface="Microsoft JhengHei"/>
                          <a:ea typeface="Microsoft JhengHei"/>
                          <a:cs typeface="Microsoft JhengHei"/>
                          <a:sym typeface="Microsoft JhengHei"/>
                        </a:rPr>
                        <a:t>項目</a:t>
                      </a:r>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539"/>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b="1" u="none" strike="noStrike" cap="none">
                          <a:latin typeface="Microsoft JhengHei"/>
                          <a:ea typeface="Microsoft JhengHei"/>
                          <a:cs typeface="Microsoft JhengHei"/>
                          <a:sym typeface="Microsoft JhengHei"/>
                        </a:rPr>
                        <a:t>NRE</a:t>
                      </a:r>
                      <a:endParaRPr sz="1100" b="1"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539"/>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b="1" u="none" strike="noStrike" cap="none">
                          <a:latin typeface="Microsoft JhengHei"/>
                          <a:ea typeface="Microsoft JhengHei"/>
                          <a:cs typeface="Microsoft JhengHei"/>
                          <a:sym typeface="Microsoft JhengHei"/>
                        </a:rPr>
                        <a:t>Turnkey</a:t>
                      </a:r>
                      <a:endParaRPr sz="1100" b="1"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539"/>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b="1" u="none" strike="noStrike" cap="none">
                          <a:latin typeface="Microsoft JhengHei"/>
                          <a:ea typeface="Microsoft JhengHei"/>
                          <a:cs typeface="Microsoft JhengHei"/>
                          <a:sym typeface="Microsoft JhengHei"/>
                        </a:rPr>
                        <a:t>COT</a:t>
                      </a:r>
                      <a:endParaRPr sz="1100" b="1"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539"/>
                    </a:solidFill>
                  </a:tcPr>
                </a:tc>
                <a:extLst>
                  <a:ext uri="{0D108BD9-81ED-4DB2-BD59-A6C34878D82A}">
                    <a16:rowId xmlns:a16="http://schemas.microsoft.com/office/drawing/2014/main" val="10000"/>
                  </a:ext>
                </a:extLst>
              </a:tr>
              <a:tr h="332550">
                <a:tc>
                  <a:txBody>
                    <a:bodyPr/>
                    <a:lstStyle/>
                    <a:p>
                      <a:pPr marL="0" marR="0" lvl="0" indent="0" algn="ctr" rtl="0">
                        <a:lnSpc>
                          <a:spcPct val="100000"/>
                        </a:lnSpc>
                        <a:spcBef>
                          <a:spcPts val="0"/>
                        </a:spcBef>
                        <a:spcAft>
                          <a:spcPts val="0"/>
                        </a:spcAft>
                        <a:buClr>
                          <a:srgbClr val="000000"/>
                        </a:buClr>
                        <a:buSzPts val="1100"/>
                        <a:buFont typeface="Arial"/>
                        <a:buNone/>
                      </a:pPr>
                      <a:r>
                        <a:rPr lang="zh-TW" sz="1100" b="0" u="none" strike="noStrike" cap="none">
                          <a:latin typeface="Microsoft JhengHei"/>
                          <a:ea typeface="Microsoft JhengHei"/>
                          <a:cs typeface="Microsoft JhengHei"/>
                          <a:sym typeface="Microsoft JhengHei"/>
                        </a:rPr>
                        <a:t>定義</a:t>
                      </a:r>
                      <a:endParaRPr sz="1100" b="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一次性費用</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統包服務</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一次性設計</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1"/>
                  </a:ext>
                </a:extLst>
              </a:tr>
              <a:tr h="332550">
                <a:tc>
                  <a:txBody>
                    <a:bodyPr/>
                    <a:lstStyle/>
                    <a:p>
                      <a:pPr marL="0" marR="0" lvl="0" indent="0" algn="ctr" rtl="0">
                        <a:lnSpc>
                          <a:spcPct val="100000"/>
                        </a:lnSpc>
                        <a:spcBef>
                          <a:spcPts val="0"/>
                        </a:spcBef>
                        <a:spcAft>
                          <a:spcPts val="0"/>
                        </a:spcAft>
                        <a:buClr>
                          <a:srgbClr val="000000"/>
                        </a:buClr>
                        <a:buSzPts val="1100"/>
                        <a:buFont typeface="Arial"/>
                        <a:buNone/>
                      </a:pPr>
                      <a:r>
                        <a:rPr lang="zh-TW" sz="1100" b="0" u="none" strike="noStrike" cap="none">
                          <a:latin typeface="Microsoft JhengHei"/>
                          <a:ea typeface="Microsoft JhengHei"/>
                          <a:cs typeface="Microsoft JhengHei"/>
                          <a:sym typeface="Microsoft JhengHei"/>
                        </a:rPr>
                        <a:t>客製化程度</a:t>
                      </a:r>
                      <a:endParaRPr sz="1100" b="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低</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2"/>
                  </a:ext>
                </a:extLst>
              </a:tr>
              <a:tr h="362200">
                <a:tc>
                  <a:txBody>
                    <a:bodyPr/>
                    <a:lstStyle/>
                    <a:p>
                      <a:pPr marL="0" marR="0" lvl="0" indent="0" algn="ctr" rtl="0">
                        <a:lnSpc>
                          <a:spcPct val="100000"/>
                        </a:lnSpc>
                        <a:spcBef>
                          <a:spcPts val="0"/>
                        </a:spcBef>
                        <a:spcAft>
                          <a:spcPts val="0"/>
                        </a:spcAft>
                        <a:buClr>
                          <a:srgbClr val="000000"/>
                        </a:buClr>
                        <a:buSzPts val="1100"/>
                        <a:buFont typeface="Arial"/>
                        <a:buNone/>
                      </a:pPr>
                      <a:r>
                        <a:rPr lang="zh-TW" sz="1100" b="0" u="none" strike="noStrike" cap="none">
                          <a:latin typeface="Microsoft JhengHei"/>
                          <a:ea typeface="Microsoft JhengHei"/>
                          <a:cs typeface="Microsoft JhengHei"/>
                          <a:sym typeface="Microsoft JhengHei"/>
                        </a:rPr>
                        <a:t>收入模式</a:t>
                      </a:r>
                      <a:endParaRPr sz="1100" b="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一次性</a:t>
                      </a:r>
                      <a:endParaRPr sz="1100" u="none" strike="noStrike" cap="none" dirty="0">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隨出貨量增加</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zh-TW" sz="1100" u="none" strike="noStrike" cap="none">
                          <a:latin typeface="Microsoft JhengHei"/>
                          <a:ea typeface="Microsoft JhengHei"/>
                          <a:cs typeface="Microsoft JhengHei"/>
                          <a:sym typeface="Microsoft JhengHei"/>
                        </a:rPr>
                        <a:t>一次性</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3"/>
                  </a:ext>
                </a:extLst>
              </a:tr>
              <a:tr h="345250">
                <a:tc>
                  <a:txBody>
                    <a:bodyPr/>
                    <a:lstStyle/>
                    <a:p>
                      <a:pPr marL="0" marR="0" lvl="0" indent="0" algn="ctr" rtl="0">
                        <a:lnSpc>
                          <a:spcPct val="100000"/>
                        </a:lnSpc>
                        <a:spcBef>
                          <a:spcPts val="0"/>
                        </a:spcBef>
                        <a:spcAft>
                          <a:spcPts val="0"/>
                        </a:spcAft>
                        <a:buClr>
                          <a:srgbClr val="000000"/>
                        </a:buClr>
                        <a:buSzPts val="1100"/>
                        <a:buFont typeface="Arial"/>
                        <a:buNone/>
                      </a:pPr>
                      <a:r>
                        <a:rPr lang="zh-TW" sz="1100" b="0" u="none" strike="noStrike" cap="none">
                          <a:latin typeface="Microsoft JhengHei"/>
                          <a:ea typeface="Microsoft JhengHei"/>
                          <a:cs typeface="Microsoft JhengHei"/>
                          <a:sym typeface="Microsoft JhengHei"/>
                        </a:rPr>
                        <a:t>量產責任</a:t>
                      </a:r>
                      <a:endParaRPr sz="1100" b="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客戶</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IC設計服務公司</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客戶</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4"/>
                  </a:ext>
                </a:extLst>
              </a:tr>
              <a:tr h="332550">
                <a:tc>
                  <a:txBody>
                    <a:bodyPr/>
                    <a:lstStyle/>
                    <a:p>
                      <a:pPr marL="0" marR="0" lvl="0" indent="0" algn="ctr" rtl="0">
                        <a:lnSpc>
                          <a:spcPct val="100000"/>
                        </a:lnSpc>
                        <a:spcBef>
                          <a:spcPts val="0"/>
                        </a:spcBef>
                        <a:spcAft>
                          <a:spcPts val="0"/>
                        </a:spcAft>
                        <a:buClr>
                          <a:srgbClr val="000000"/>
                        </a:buClr>
                        <a:buSzPts val="1100"/>
                        <a:buFont typeface="Arial"/>
                        <a:buNone/>
                      </a:pPr>
                      <a:r>
                        <a:rPr lang="zh-TW" sz="1100" b="0" u="none" strike="noStrike" cap="none" dirty="0">
                          <a:solidFill>
                            <a:schemeClr val="dk1"/>
                          </a:solidFill>
                          <a:latin typeface="Microsoft JhengHei"/>
                          <a:ea typeface="Microsoft JhengHei"/>
                          <a:cs typeface="Microsoft JhengHei"/>
                          <a:sym typeface="Microsoft JhengHei"/>
                        </a:rPr>
                        <a:t>毛利率</a:t>
                      </a:r>
                      <a:endParaRPr sz="1100" b="0" u="none" strike="noStrike" cap="none" dirty="0">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高</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中</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高</a:t>
                      </a:r>
                      <a:endParaRPr sz="1100" u="none" strike="noStrike" cap="none" dirty="0">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5"/>
                  </a:ext>
                </a:extLst>
              </a:tr>
            </a:tbl>
          </a:graphicData>
        </a:graphic>
      </p:graphicFrame>
      <p:sp>
        <p:nvSpPr>
          <p:cNvPr id="278" name="Google Shape;278;p29"/>
          <p:cNvSpPr/>
          <p:nvPr/>
        </p:nvSpPr>
        <p:spPr>
          <a:xfrm>
            <a:off x="452601" y="1032908"/>
            <a:ext cx="8254200" cy="108453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9" name="Google Shape;279;p29"/>
          <p:cNvSpPr txBox="1"/>
          <p:nvPr/>
        </p:nvSpPr>
        <p:spPr>
          <a:xfrm>
            <a:off x="437199" y="1048321"/>
            <a:ext cx="8223400" cy="104641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00000"/>
              </a:lnSpc>
              <a:spcBef>
                <a:spcPts val="0"/>
              </a:spcBef>
              <a:spcAft>
                <a:spcPts val="0"/>
              </a:spcAft>
              <a:buClr>
                <a:schemeClr val="dk1"/>
              </a:buClr>
              <a:buSzPts val="1100"/>
              <a:buFont typeface="Arial"/>
              <a:buChar char="•"/>
            </a:pPr>
            <a:r>
              <a:rPr lang="zh-TW" sz="1400" b="0" i="0" u="none" strike="noStrike" cap="none" dirty="0">
                <a:solidFill>
                  <a:schemeClr val="dk1"/>
                </a:solidFill>
                <a:latin typeface="Microsoft JhengHei"/>
                <a:ea typeface="Microsoft JhengHei"/>
                <a:cs typeface="Microsoft JhengHei"/>
                <a:sym typeface="Microsoft JhengHei"/>
              </a:rPr>
              <a:t>在 AI ASIC 專案之中，台系廠商與美系廠商皆逐漸以 </a:t>
            </a:r>
            <a:r>
              <a:rPr lang="zh-TW" sz="1400" b="1" i="0" u="none" strike="noStrike" cap="none" dirty="0">
                <a:solidFill>
                  <a:schemeClr val="dk1"/>
                </a:solidFill>
                <a:latin typeface="Microsoft JhengHei"/>
                <a:ea typeface="Microsoft JhengHei"/>
                <a:cs typeface="Microsoft JhengHei"/>
                <a:sym typeface="Microsoft JhengHei"/>
              </a:rPr>
              <a:t>Turnkey 模式</a:t>
            </a:r>
            <a:r>
              <a:rPr lang="zh-TW" sz="1400" b="0" i="0" u="none" strike="noStrike" cap="none" dirty="0">
                <a:solidFill>
                  <a:schemeClr val="dk1"/>
                </a:solidFill>
                <a:latin typeface="Microsoft JhengHei"/>
                <a:ea typeface="Microsoft JhengHei"/>
                <a:cs typeface="Microsoft JhengHei"/>
                <a:sym typeface="Microsoft JhengHei"/>
              </a:rPr>
              <a:t> 作為主要營收來源，協助客戶完成從後端設計到量產交付的全流程服務。此模式強化了其在供應鏈中的主導角色。然而，從產品組合與獲利結構來看，美系廠商 </a:t>
            </a:r>
            <a:r>
              <a:rPr lang="zh-TW" sz="1400" b="1" i="0" u="none" strike="noStrike" cap="none" dirty="0">
                <a:solidFill>
                  <a:schemeClr val="dk1"/>
                </a:solidFill>
                <a:latin typeface="Microsoft JhengHei"/>
                <a:ea typeface="Microsoft JhengHei"/>
                <a:cs typeface="Microsoft JhengHei"/>
                <a:sym typeface="Microsoft JhengHei"/>
              </a:rPr>
              <a:t>NRE 業務 </a:t>
            </a:r>
            <a:r>
              <a:rPr lang="zh-TW" sz="1400" b="0" i="0" u="none" strike="noStrike" cap="none" dirty="0">
                <a:solidFill>
                  <a:schemeClr val="dk1"/>
                </a:solidFill>
                <a:latin typeface="Microsoft JhengHei"/>
                <a:ea typeface="Microsoft JhengHei"/>
                <a:cs typeface="Microsoft JhengHei"/>
                <a:sym typeface="Microsoft JhengHei"/>
              </a:rPr>
              <a:t>占比較高，毛利率因此普遍優於台系廠商。整體而言， Turnkey 模式雖提高營收穩定性，但相對壓低了單案獲利水準。</a:t>
            </a:r>
            <a:endParaRPr sz="1700" b="0" i="0" u="none" strike="noStrike" cap="none" dirty="0">
              <a:solidFill>
                <a:schemeClr val="dk1"/>
              </a:solidFill>
              <a:latin typeface="Microsoft JhengHei"/>
              <a:ea typeface="Microsoft JhengHei"/>
              <a:cs typeface="Microsoft JhengHei"/>
              <a:sym typeface="Microsoft JhengHei"/>
            </a:endParaRPr>
          </a:p>
        </p:txBody>
      </p:sp>
      <p:graphicFrame>
        <p:nvGraphicFramePr>
          <p:cNvPr id="2" name="圖表 1">
            <a:extLst>
              <a:ext uri="{FF2B5EF4-FFF2-40B4-BE49-F238E27FC236}">
                <a16:creationId xmlns:a16="http://schemas.microsoft.com/office/drawing/2014/main" id="{B4B5C0B1-D754-A98C-7006-624B2928A8F4}"/>
              </a:ext>
            </a:extLst>
          </p:cNvPr>
          <p:cNvGraphicFramePr/>
          <p:nvPr>
            <p:extLst>
              <p:ext uri="{D42A27DB-BD31-4B8C-83A1-F6EECF244321}">
                <p14:modId xmlns:p14="http://schemas.microsoft.com/office/powerpoint/2010/main" val="467415590"/>
              </p:ext>
            </p:extLst>
          </p:nvPr>
        </p:nvGraphicFramePr>
        <p:xfrm>
          <a:off x="530435" y="2571750"/>
          <a:ext cx="3944099" cy="2135103"/>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28"/>
          <p:cNvPicPr preferRelativeResize="0"/>
          <p:nvPr/>
        </p:nvPicPr>
        <p:blipFill rotWithShape="1">
          <a:blip r:embed="rId3">
            <a:alphaModFix/>
          </a:blip>
          <a:srcRect/>
          <a:stretch/>
        </p:blipFill>
        <p:spPr>
          <a:xfrm>
            <a:off x="7646482" y="4902041"/>
            <a:ext cx="1085425" cy="168988"/>
          </a:xfrm>
          <a:prstGeom prst="rect">
            <a:avLst/>
          </a:prstGeom>
          <a:noFill/>
          <a:ln>
            <a:noFill/>
          </a:ln>
        </p:spPr>
      </p:pic>
      <p:cxnSp>
        <p:nvCxnSpPr>
          <p:cNvPr id="235" name="Google Shape;235;p28"/>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236" name="Google Shape;236;p28"/>
          <p:cNvSpPr/>
          <p:nvPr/>
        </p:nvSpPr>
        <p:spPr>
          <a:xfrm>
            <a:off x="403343" y="980366"/>
            <a:ext cx="8254200" cy="1148288"/>
          </a:xfrm>
          <a:prstGeom prst="rect">
            <a:avLst/>
          </a:prstGeom>
          <a:solidFill>
            <a:srgbClr val="FFF6ED"/>
          </a:solidFill>
          <a:ln>
            <a:noFill/>
          </a:ln>
        </p:spPr>
        <p:txBody>
          <a:bodyPr spcFirstLastPara="1" wrap="square" lIns="68575" tIns="34275" rIns="68575" bIns="34275" anchor="ctr" anchorCtr="0">
            <a:noAutofit/>
          </a:bodyPr>
          <a:lstStyle/>
          <a:p>
            <a:pPr marL="285750" marR="0" lvl="0" indent="-285750" algn="l" rtl="0">
              <a:lnSpc>
                <a:spcPct val="100000"/>
              </a:lnSpc>
              <a:spcBef>
                <a:spcPts val="0"/>
              </a:spcBef>
              <a:spcAft>
                <a:spcPts val="0"/>
              </a:spcAft>
              <a:buClr>
                <a:schemeClr val="dk1"/>
              </a:buClr>
              <a:buSzPts val="1100"/>
              <a:buFont typeface="Arial"/>
              <a:buChar char="•"/>
            </a:pPr>
            <a:r>
              <a:rPr lang="zh-TW" sz="1400" b="0" i="0" u="none" strike="noStrike" cap="none" dirty="0">
                <a:solidFill>
                  <a:schemeClr val="dk1"/>
                </a:solidFill>
                <a:latin typeface="Microsoft JhengHei"/>
                <a:ea typeface="Microsoft JhengHei"/>
                <a:cs typeface="Microsoft JhengHei"/>
                <a:sym typeface="Microsoft JhengHei"/>
              </a:rPr>
              <a:t>AWS 與 Marvell 合作開發 Trainium v2，並攜手 世芯電子（Alchip） 進行 Trainium v3，2025年ASIC出貨量預估為美系CSP中成長最快。 Meta 與博通（Broadcom） 共同開發 MTIA v2，聚焦於能效最佳化與低延遲推論架構。Microsoft 初步研發 Maia v2，由 創意電子 負責設計並與 Marvell 合作開發進階版。Google 推出 TPU v6 Trillium，主打高能效比與大型模型最佳化，並新增與聯發科 合作以強化新一代AI晶片研發。</a:t>
            </a:r>
            <a:endParaRPr sz="2400" b="0" i="0" u="none" strike="noStrike" cap="none" dirty="0">
              <a:solidFill>
                <a:schemeClr val="dk1"/>
              </a:solidFill>
              <a:latin typeface="Microsoft JhengHei"/>
              <a:ea typeface="Microsoft JhengHei"/>
              <a:cs typeface="Microsoft JhengHei"/>
              <a:sym typeface="Microsoft JhengHei"/>
            </a:endParaRPr>
          </a:p>
        </p:txBody>
      </p:sp>
      <p:sp>
        <p:nvSpPr>
          <p:cNvPr id="237" name="Google Shape;237;p28"/>
          <p:cNvSpPr txBox="1"/>
          <p:nvPr/>
        </p:nvSpPr>
        <p:spPr>
          <a:xfrm>
            <a:off x="242306" y="4834700"/>
            <a:ext cx="7231500" cy="408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a:solidFill>
                  <a:schemeClr val="dk1"/>
                </a:solidFill>
                <a:latin typeface="Microsoft JhengHei"/>
                <a:ea typeface="Microsoft JhengHei"/>
                <a:cs typeface="Microsoft JhengHei"/>
                <a:sym typeface="Microsoft JhengHei"/>
              </a:rPr>
              <a:t>資料來源：富邦投顧 工商時報</a:t>
            </a:r>
            <a:endParaRPr sz="1100" b="1" i="0" u="none" strike="noStrike" cap="none">
              <a:solidFill>
                <a:schemeClr val="dk1"/>
              </a:solidFill>
              <a:latin typeface="Microsoft JhengHei"/>
              <a:ea typeface="Microsoft JhengHei"/>
              <a:cs typeface="Microsoft JhengHei"/>
              <a:sym typeface="Microsoft JhengHei"/>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dk1"/>
              </a:solidFill>
              <a:latin typeface="Microsoft JhengHei"/>
              <a:ea typeface="Microsoft JhengHei"/>
              <a:cs typeface="Microsoft JhengHei"/>
              <a:sym typeface="Microsoft JhengHei"/>
            </a:endParaRPr>
          </a:p>
        </p:txBody>
      </p:sp>
      <p:grpSp>
        <p:nvGrpSpPr>
          <p:cNvPr id="238" name="Google Shape;238;p28"/>
          <p:cNvGrpSpPr/>
          <p:nvPr/>
        </p:nvGrpSpPr>
        <p:grpSpPr>
          <a:xfrm>
            <a:off x="242301" y="434035"/>
            <a:ext cx="484808" cy="484808"/>
            <a:chOff x="1628775" y="1381125"/>
            <a:chExt cx="1352700" cy="1352700"/>
          </a:xfrm>
        </p:grpSpPr>
        <p:sp>
          <p:nvSpPr>
            <p:cNvPr id="239" name="Google Shape;239;p28"/>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40" name="Google Shape;240;p28"/>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241" name="Google Shape;241;p28"/>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r>
              <a:rPr lang="zh-TW" dirty="0"/>
              <a:t>8</a:t>
            </a:r>
            <a:endParaRPr dirty="0"/>
          </a:p>
        </p:txBody>
      </p:sp>
      <p:sp>
        <p:nvSpPr>
          <p:cNvPr id="242" name="Google Shape;242;p28"/>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FFFFFF"/>
                </a:solidFill>
                <a:latin typeface="Microsoft JhengHei"/>
                <a:ea typeface="Microsoft JhengHei"/>
                <a:cs typeface="Microsoft JhengHei"/>
                <a:sym typeface="Microsoft JhengHei"/>
              </a:rPr>
              <a:t>公司簡介</a:t>
            </a:r>
            <a:endParaRPr sz="1100" b="0" i="0" u="none" strike="noStrike" cap="none">
              <a:solidFill>
                <a:srgbClr val="000000"/>
              </a:solidFill>
              <a:latin typeface="Arial"/>
              <a:ea typeface="Arial"/>
              <a:cs typeface="Arial"/>
              <a:sym typeface="Arial"/>
            </a:endParaRPr>
          </a:p>
        </p:txBody>
      </p:sp>
      <p:sp>
        <p:nvSpPr>
          <p:cNvPr id="243" name="Google Shape;243;p28"/>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0" i="0" u="none" strike="noStrike" cap="none">
              <a:solidFill>
                <a:srgbClr val="C9B4A5"/>
              </a:solidFill>
              <a:latin typeface="Arial"/>
              <a:ea typeface="Arial"/>
              <a:cs typeface="Arial"/>
              <a:sym typeface="Arial"/>
            </a:endParaRPr>
          </a:p>
        </p:txBody>
      </p:sp>
      <p:sp>
        <p:nvSpPr>
          <p:cNvPr id="244" name="Google Shape;244;p28"/>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245" name="Google Shape;245;p28"/>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246" name="Google Shape;246;p28"/>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247" name="Google Shape;247;p28"/>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248" name="Google Shape;248;p28"/>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公司簡介</a:t>
            </a:r>
            <a:endParaRPr sz="1100" b="0" i="0" u="none" strike="noStrike" cap="none">
              <a:solidFill>
                <a:srgbClr val="C9B4A5"/>
              </a:solidFill>
              <a:latin typeface="Arial"/>
              <a:ea typeface="Arial"/>
              <a:cs typeface="Arial"/>
              <a:sym typeface="Arial"/>
            </a:endParaRPr>
          </a:p>
        </p:txBody>
      </p:sp>
      <p:sp>
        <p:nvSpPr>
          <p:cNvPr id="249" name="Google Shape;249;p28"/>
          <p:cNvSpPr txBox="1"/>
          <p:nvPr/>
        </p:nvSpPr>
        <p:spPr>
          <a:xfrm>
            <a:off x="696332" y="485616"/>
            <a:ext cx="3218700" cy="40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CSP投入ASIC研發</a:t>
            </a:r>
            <a:endParaRPr sz="1800" b="1" i="0" u="none" strike="noStrike" cap="none">
              <a:solidFill>
                <a:schemeClr val="dk1"/>
              </a:solidFill>
              <a:latin typeface="Microsoft JhengHei"/>
              <a:ea typeface="Microsoft JhengHei"/>
              <a:cs typeface="Microsoft JhengHei"/>
              <a:sym typeface="Microsoft JhengHei"/>
            </a:endParaRPr>
          </a:p>
        </p:txBody>
      </p:sp>
      <p:sp>
        <p:nvSpPr>
          <p:cNvPr id="250" name="Google Shape;250;p28"/>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推薦個股</a:t>
            </a:r>
            <a:endParaRPr sz="1100" b="0" i="0" u="none" strike="noStrike" cap="none">
              <a:solidFill>
                <a:srgbClr val="C9B4A5"/>
              </a:solidFill>
              <a:latin typeface="Arial"/>
              <a:ea typeface="Arial"/>
              <a:cs typeface="Arial"/>
              <a:sym typeface="Arial"/>
            </a:endParaRPr>
          </a:p>
        </p:txBody>
      </p:sp>
      <p:graphicFrame>
        <p:nvGraphicFramePr>
          <p:cNvPr id="251" name="Google Shape;251;p28"/>
          <p:cNvGraphicFramePr/>
          <p:nvPr/>
        </p:nvGraphicFramePr>
        <p:xfrm>
          <a:off x="403343" y="2571750"/>
          <a:ext cx="8254050" cy="2122350"/>
        </p:xfrm>
        <a:graphic>
          <a:graphicData uri="http://schemas.openxmlformats.org/drawingml/2006/table">
            <a:tbl>
              <a:tblPr>
                <a:noFill/>
              </a:tblPr>
              <a:tblGrid>
                <a:gridCol w="2194875">
                  <a:extLst>
                    <a:ext uri="{9D8B030D-6E8A-4147-A177-3AD203B41FA5}">
                      <a16:colId xmlns:a16="http://schemas.microsoft.com/office/drawing/2014/main" val="20000"/>
                    </a:ext>
                  </a:extLst>
                </a:gridCol>
                <a:gridCol w="2315875">
                  <a:extLst>
                    <a:ext uri="{9D8B030D-6E8A-4147-A177-3AD203B41FA5}">
                      <a16:colId xmlns:a16="http://schemas.microsoft.com/office/drawing/2014/main" val="20001"/>
                    </a:ext>
                  </a:extLst>
                </a:gridCol>
                <a:gridCol w="1588400">
                  <a:extLst>
                    <a:ext uri="{9D8B030D-6E8A-4147-A177-3AD203B41FA5}">
                      <a16:colId xmlns:a16="http://schemas.microsoft.com/office/drawing/2014/main" val="20002"/>
                    </a:ext>
                  </a:extLst>
                </a:gridCol>
                <a:gridCol w="2154900">
                  <a:extLst>
                    <a:ext uri="{9D8B030D-6E8A-4147-A177-3AD203B41FA5}">
                      <a16:colId xmlns:a16="http://schemas.microsoft.com/office/drawing/2014/main" val="20003"/>
                    </a:ext>
                  </a:extLst>
                </a:gridCol>
              </a:tblGrid>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業者</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63B"/>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晶片名稱</a:t>
                      </a:r>
                      <a:endParaRPr sz="1100" u="none" strike="noStrike" cap="none" dirty="0">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63B"/>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製程</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63B"/>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2025採用比例</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1A63B"/>
                    </a:solidFill>
                  </a:tcPr>
                </a:tc>
                <a:extLst>
                  <a:ext uri="{0D108BD9-81ED-4DB2-BD59-A6C34878D82A}">
                    <a16:rowId xmlns:a16="http://schemas.microsoft.com/office/drawing/2014/main" val="10000"/>
                  </a:ext>
                </a:extLst>
              </a:tr>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Google</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TPU v5/v6/v7</a:t>
                      </a:r>
                      <a:endParaRPr sz="1100" u="none" strike="noStrike" cap="none" dirty="0">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5–3 nm</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76%</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1"/>
                  </a:ext>
                </a:extLst>
              </a:tr>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AWS</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Trainium、Inferentia</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7–3 nm</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23%</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2"/>
                  </a:ext>
                </a:extLst>
              </a:tr>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Microsoft</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Maia</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5–3 nm</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4%</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3"/>
                  </a:ext>
                </a:extLst>
              </a:tr>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Meta</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MTIA</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5–3 nm</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dirty="0">
                          <a:latin typeface="Microsoft JhengHei"/>
                          <a:ea typeface="Microsoft JhengHei"/>
                          <a:cs typeface="Microsoft JhengHei"/>
                          <a:sym typeface="Microsoft JhengHei"/>
                        </a:rPr>
                        <a:t>13%</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4"/>
                  </a:ext>
                </a:extLst>
              </a:tr>
              <a:tr h="353725">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Intel</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Gaudi 2/3、Falcon</a:t>
                      </a:r>
                      <a:endParaRPr sz="1100" u="none" strike="noStrike" cap="none">
                        <a:latin typeface="Microsoft JhengHei"/>
                        <a:ea typeface="Microsoft JhengHei"/>
                        <a:cs typeface="Microsoft JhengHei"/>
                        <a:sym typeface="Microsoft JhengHei"/>
                      </a:endParaRPr>
                    </a:p>
                  </a:txBody>
                  <a:tcPr marL="91425" marR="91425" marT="91425" marB="914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zh-TW" sz="1100" u="none" strike="noStrike" cap="none">
                          <a:latin typeface="Microsoft JhengHei"/>
                          <a:ea typeface="Microsoft JhengHei"/>
                          <a:cs typeface="Microsoft JhengHei"/>
                          <a:sym typeface="Microsoft JhengHei"/>
                        </a:rPr>
                        <a:t>7–3 nm</a:t>
                      </a:r>
                      <a:endParaRPr sz="1100" u="none" strike="noStrike" cap="none">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tc>
                  <a:txBody>
                    <a:bodyPr/>
                    <a:lstStyle/>
                    <a:p>
                      <a:pPr marL="0" marR="0" lvl="0" indent="0" algn="ctr" rtl="0">
                        <a:lnSpc>
                          <a:spcPct val="100000"/>
                        </a:lnSpc>
                        <a:spcBef>
                          <a:spcPts val="0"/>
                        </a:spcBef>
                        <a:spcAft>
                          <a:spcPts val="0"/>
                        </a:spcAft>
                        <a:buClr>
                          <a:schemeClr val="dk1"/>
                        </a:buClr>
                        <a:buSzPts val="1100"/>
                        <a:buFont typeface="Arial"/>
                        <a:buNone/>
                      </a:pPr>
                      <a:r>
                        <a:rPr lang="zh-TW" sz="1100" u="none" strike="noStrike" cap="none" dirty="0">
                          <a:solidFill>
                            <a:schemeClr val="dk1"/>
                          </a:solidFill>
                          <a:latin typeface="Microsoft JhengHei"/>
                          <a:ea typeface="Microsoft JhengHei"/>
                          <a:cs typeface="Microsoft JhengHei"/>
                          <a:sym typeface="Microsoft JhengHei"/>
                        </a:rPr>
                        <a:t>2%</a:t>
                      </a:r>
                      <a:endParaRPr sz="1100" u="none" strike="noStrike" cap="none" dirty="0">
                        <a:latin typeface="Microsoft JhengHei"/>
                        <a:ea typeface="Microsoft JhengHei"/>
                        <a:cs typeface="Microsoft JhengHei"/>
                        <a:sym typeface="Microsoft JhengHei"/>
                      </a:endParaRPr>
                    </a:p>
                  </a:txBody>
                  <a:tcPr marL="91425" marR="91425" marT="91425" marB="914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F6ED"/>
                    </a:solidFill>
                  </a:tcPr>
                </a:tc>
                <a:extLst>
                  <a:ext uri="{0D108BD9-81ED-4DB2-BD59-A6C34878D82A}">
                    <a16:rowId xmlns:a16="http://schemas.microsoft.com/office/drawing/2014/main" val="10005"/>
                  </a:ext>
                </a:extLst>
              </a:tr>
            </a:tbl>
          </a:graphicData>
        </a:graphic>
      </p:graphicFrame>
      <p:sp>
        <p:nvSpPr>
          <p:cNvPr id="252" name="Google Shape;252;p28"/>
          <p:cNvSpPr txBox="1"/>
          <p:nvPr/>
        </p:nvSpPr>
        <p:spPr>
          <a:xfrm>
            <a:off x="403481" y="2195983"/>
            <a:ext cx="8254062" cy="328088"/>
          </a:xfrm>
          <a:prstGeom prst="rect">
            <a:avLst/>
          </a:prstGeom>
          <a:solidFill>
            <a:srgbClr val="F1A53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dirty="0">
                <a:solidFill>
                  <a:schemeClr val="dk1"/>
                </a:solidFill>
                <a:latin typeface="微軟正黑體" panose="020B0604030504040204" pitchFamily="34" charset="-120"/>
                <a:ea typeface="微軟正黑體" panose="020B0604030504040204" pitchFamily="34" charset="-120"/>
                <a:cs typeface="Calibri"/>
                <a:sym typeface="Calibri"/>
              </a:rPr>
              <a:t>各CSP自研ASIC</a:t>
            </a:r>
            <a:endParaRPr sz="1400" b="1" i="0" u="none" strike="noStrike" cap="none" dirty="0">
              <a:solidFill>
                <a:schemeClr val="dk1"/>
              </a:solidFill>
              <a:latin typeface="微軟正黑體" panose="020B0604030504040204" pitchFamily="34" charset="-120"/>
              <a:ea typeface="微軟正黑體" panose="020B0604030504040204" pitchFamily="34" charset="-120"/>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8"/>
          <p:cNvSpPr/>
          <p:nvPr/>
        </p:nvSpPr>
        <p:spPr>
          <a:xfrm>
            <a:off x="6265158" y="1048038"/>
            <a:ext cx="303900" cy="3203100"/>
          </a:xfrm>
          <a:prstGeom prst="roundRect">
            <a:avLst>
              <a:gd name="adj" fmla="val 50000"/>
            </a:avLst>
          </a:prstGeom>
          <a:solidFill>
            <a:srgbClr val="F5E5D4"/>
          </a:solidFill>
          <a:ln>
            <a:noFill/>
          </a:ln>
          <a:effectLst>
            <a:outerShdw blurRad="241300" dist="38100" sx="102000" sy="102000" algn="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35" name="Google Shape;535;p48"/>
          <p:cNvSpPr/>
          <p:nvPr/>
        </p:nvSpPr>
        <p:spPr>
          <a:xfrm>
            <a:off x="58" y="0"/>
            <a:ext cx="5790300" cy="5143500"/>
          </a:xfrm>
          <a:prstGeom prst="rect">
            <a:avLst/>
          </a:prstGeom>
          <a:solidFill>
            <a:srgbClr val="F1A63B"/>
          </a:solidFill>
          <a:ln>
            <a:noFill/>
          </a:ln>
          <a:effectLst>
            <a:outerShdw blurRad="469900" dist="38100" algn="l" rotWithShape="0">
              <a:srgbClr val="000000">
                <a:alpha val="3882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dk1"/>
              </a:solidFill>
              <a:latin typeface="Microsoft JhengHei"/>
              <a:ea typeface="Microsoft JhengHei"/>
              <a:cs typeface="Microsoft JhengHei"/>
              <a:sym typeface="Microsoft JhengHei"/>
            </a:endParaRPr>
          </a:p>
        </p:txBody>
      </p:sp>
      <p:pic>
        <p:nvPicPr>
          <p:cNvPr id="536" name="Google Shape;536;p48"/>
          <p:cNvPicPr preferRelativeResize="0"/>
          <p:nvPr/>
        </p:nvPicPr>
        <p:blipFill rotWithShape="1">
          <a:blip r:embed="rId3">
            <a:alphaModFix/>
          </a:blip>
          <a:srcRect/>
          <a:stretch/>
        </p:blipFill>
        <p:spPr>
          <a:xfrm>
            <a:off x="7646482" y="4902041"/>
            <a:ext cx="1085425" cy="168988"/>
          </a:xfrm>
          <a:prstGeom prst="rect">
            <a:avLst/>
          </a:prstGeom>
          <a:noFill/>
          <a:ln>
            <a:noFill/>
          </a:ln>
        </p:spPr>
      </p:pic>
      <p:sp>
        <p:nvSpPr>
          <p:cNvPr id="537" name="Google Shape;537;p48"/>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US" altLang="zh-TW"/>
              <a:t>12</a:t>
            </a:fld>
            <a:endParaRPr/>
          </a:p>
        </p:txBody>
      </p:sp>
      <p:sp>
        <p:nvSpPr>
          <p:cNvPr id="538" name="Google Shape;538;p48"/>
          <p:cNvSpPr txBox="1"/>
          <p:nvPr/>
        </p:nvSpPr>
        <p:spPr>
          <a:xfrm>
            <a:off x="6862496" y="703162"/>
            <a:ext cx="354900" cy="284700"/>
          </a:xfrm>
          <a:prstGeom prst="rect">
            <a:avLst/>
          </a:prstGeom>
          <a:noFill/>
          <a:ln>
            <a:noFill/>
          </a:ln>
        </p:spPr>
        <p:txBody>
          <a:bodyPr spcFirstLastPara="1" wrap="square" lIns="68575" tIns="34275" rIns="68575" bIns="34275" anchor="t" anchorCtr="0">
            <a:spAutoFit/>
          </a:bodyPr>
          <a:lstStyle/>
          <a:p>
            <a:pPr marL="215900" marR="0" lvl="0" indent="-127000" algn="l" rtl="0">
              <a:spcBef>
                <a:spcPts val="0"/>
              </a:spcBef>
              <a:spcAft>
                <a:spcPts val="0"/>
              </a:spcAft>
              <a:buClr>
                <a:schemeClr val="dk1"/>
              </a:buClr>
              <a:buSzPts val="1400"/>
              <a:buFont typeface="Noto Sans Symbols"/>
              <a:buNone/>
            </a:pPr>
            <a:endParaRPr sz="1400">
              <a:solidFill>
                <a:schemeClr val="dk1"/>
              </a:solidFill>
              <a:latin typeface="Calibri"/>
              <a:ea typeface="Calibri"/>
              <a:cs typeface="Calibri"/>
              <a:sym typeface="Calibri"/>
            </a:endParaRPr>
          </a:p>
        </p:txBody>
      </p:sp>
      <p:sp>
        <p:nvSpPr>
          <p:cNvPr id="539" name="Google Shape;539;p48"/>
          <p:cNvSpPr/>
          <p:nvPr/>
        </p:nvSpPr>
        <p:spPr>
          <a:xfrm>
            <a:off x="6265158" y="1048038"/>
            <a:ext cx="303900" cy="1451400"/>
          </a:xfrm>
          <a:prstGeom prst="roundRect">
            <a:avLst>
              <a:gd name="adj" fmla="val 50000"/>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40" name="Google Shape;540;p48"/>
          <p:cNvSpPr txBox="1"/>
          <p:nvPr/>
        </p:nvSpPr>
        <p:spPr>
          <a:xfrm>
            <a:off x="1440952" y="2260051"/>
            <a:ext cx="2908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3600" b="1">
                <a:solidFill>
                  <a:srgbClr val="422108"/>
                </a:solidFill>
                <a:latin typeface="Microsoft JhengHei"/>
                <a:ea typeface="Microsoft JhengHei"/>
                <a:cs typeface="Microsoft JhengHei"/>
                <a:sym typeface="Microsoft JhengHei"/>
              </a:rPr>
              <a:t>成長動能</a:t>
            </a:r>
            <a:endParaRPr sz="3600">
              <a:solidFill>
                <a:srgbClr val="422108"/>
              </a:solidFill>
            </a:endParaRPr>
          </a:p>
        </p:txBody>
      </p:sp>
      <p:sp>
        <p:nvSpPr>
          <p:cNvPr id="541" name="Google Shape;541;p48"/>
          <p:cNvSpPr txBox="1"/>
          <p:nvPr/>
        </p:nvSpPr>
        <p:spPr>
          <a:xfrm>
            <a:off x="7109051" y="967048"/>
            <a:ext cx="1369500" cy="3209400"/>
          </a:xfrm>
          <a:prstGeom prst="rect">
            <a:avLst/>
          </a:prstGeom>
          <a:noFill/>
          <a:ln>
            <a:noFill/>
          </a:ln>
        </p:spPr>
        <p:txBody>
          <a:bodyPr spcFirstLastPara="1" wrap="square" lIns="68575" tIns="34275" rIns="68575" bIns="34275" anchor="t" anchorCtr="0">
            <a:spAutoFit/>
          </a:bodyPr>
          <a:lstStyle/>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產業介紹</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422108"/>
                </a:solidFill>
                <a:latin typeface="Microsoft JhengHei"/>
                <a:ea typeface="Microsoft JhengHei"/>
                <a:cs typeface="Microsoft JhengHei"/>
                <a:sym typeface="Microsoft JhengHei"/>
              </a:rPr>
              <a:t>成長動能</a:t>
            </a:r>
            <a:endParaRPr sz="2400" b="1">
              <a:solidFill>
                <a:srgbClr val="422108"/>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潛在風險</a:t>
            </a:r>
            <a:endParaRPr sz="2400" b="1">
              <a:solidFill>
                <a:srgbClr val="C9B4A5"/>
              </a:solidFill>
              <a:latin typeface="Microsoft JhengHei"/>
              <a:ea typeface="Microsoft JhengHei"/>
              <a:cs typeface="Microsoft JhengHei"/>
              <a:sym typeface="Microsoft JhengHei"/>
            </a:endParaRPr>
          </a:p>
          <a:p>
            <a:pPr marL="0" lvl="0" indent="0" algn="l" rtl="0">
              <a:lnSpc>
                <a:spcPct val="187500"/>
              </a:lnSpc>
              <a:spcBef>
                <a:spcPts val="0"/>
              </a:spcBef>
              <a:spcAft>
                <a:spcPts val="0"/>
              </a:spcAft>
              <a:buClr>
                <a:schemeClr val="dk1"/>
              </a:buClr>
              <a:buFont typeface="Arial"/>
              <a:buNone/>
            </a:pPr>
            <a:r>
              <a:rPr lang="zh-TW" sz="2400" b="1">
                <a:solidFill>
                  <a:srgbClr val="C9B4A5"/>
                </a:solidFill>
                <a:latin typeface="Microsoft JhengHei"/>
                <a:ea typeface="Microsoft JhengHei"/>
                <a:cs typeface="Microsoft JhengHei"/>
                <a:sym typeface="Microsoft JhengHei"/>
              </a:rPr>
              <a:t>投資標的</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結論</a:t>
            </a:r>
            <a:endParaRPr sz="2400" b="1">
              <a:solidFill>
                <a:srgbClr val="595959"/>
              </a:solidFill>
              <a:latin typeface="Microsoft JhengHei"/>
              <a:ea typeface="Microsoft JhengHei"/>
              <a:cs typeface="Microsoft JhengHei"/>
              <a:sym typeface="Microsoft JhengHe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pic>
        <p:nvPicPr>
          <p:cNvPr id="547" name="Google Shape;547;p49"/>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548" name="Google Shape;548;p49"/>
          <p:cNvGrpSpPr/>
          <p:nvPr/>
        </p:nvGrpSpPr>
        <p:grpSpPr>
          <a:xfrm>
            <a:off x="242301" y="434035"/>
            <a:ext cx="484808" cy="484808"/>
            <a:chOff x="1628775" y="1381125"/>
            <a:chExt cx="1352700" cy="1352700"/>
          </a:xfrm>
        </p:grpSpPr>
        <p:sp>
          <p:nvSpPr>
            <p:cNvPr id="549" name="Google Shape;549;p49"/>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550" name="Google Shape;550;p49"/>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551" name="Google Shape;551;p49"/>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chemeClr val="dk1"/>
                </a:solidFill>
                <a:latin typeface="Microsoft JhengHei"/>
                <a:ea typeface="Microsoft JhengHei"/>
                <a:cs typeface="Microsoft JhengHei"/>
                <a:sym typeface="Microsoft JhengHei"/>
              </a:rPr>
              <a:t>CSP資本支出持續擴張，AI 投資動能依然強勁</a:t>
            </a:r>
            <a:endParaRPr sz="1800" b="0" i="0" u="none" strike="noStrike" cap="none">
              <a:solidFill>
                <a:srgbClr val="000000"/>
              </a:solidFill>
              <a:latin typeface="Microsoft JhengHei"/>
              <a:ea typeface="Microsoft JhengHei"/>
              <a:cs typeface="Microsoft JhengHei"/>
              <a:sym typeface="Microsoft JhengHei"/>
            </a:endParaRPr>
          </a:p>
        </p:txBody>
      </p:sp>
      <p:cxnSp>
        <p:nvCxnSpPr>
          <p:cNvPr id="552" name="Google Shape;552;p49"/>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553" name="Google Shape;553;p49"/>
          <p:cNvSpPr txBox="1"/>
          <p:nvPr/>
        </p:nvSpPr>
        <p:spPr>
          <a:xfrm>
            <a:off x="272775" y="4884250"/>
            <a:ext cx="5209200" cy="242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i="0" u="none" strike="noStrike" cap="none" dirty="0">
                <a:solidFill>
                  <a:schemeClr val="dk1"/>
                </a:solidFill>
                <a:latin typeface="Microsoft JhengHei"/>
                <a:ea typeface="Microsoft JhengHei"/>
                <a:cs typeface="Microsoft JhengHei"/>
                <a:sym typeface="Microsoft JhengHei"/>
              </a:rPr>
              <a:t>Morgan Sranley Research,DIGITIMES,Platformonomics</a:t>
            </a:r>
            <a:endParaRPr sz="1100" i="0" u="none" strike="noStrike" cap="none" dirty="0">
              <a:solidFill>
                <a:srgbClr val="000000"/>
              </a:solidFill>
              <a:latin typeface="Arial"/>
              <a:ea typeface="Arial"/>
              <a:cs typeface="Arial"/>
              <a:sym typeface="Arial"/>
            </a:endParaRPr>
          </a:p>
        </p:txBody>
      </p:sp>
      <p:sp>
        <p:nvSpPr>
          <p:cNvPr id="554" name="Google Shape;554;p49"/>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13</a:t>
            </a:fld>
            <a:endParaRPr/>
          </a:p>
        </p:txBody>
      </p:sp>
      <p:sp>
        <p:nvSpPr>
          <p:cNvPr id="555" name="Google Shape;555;p49"/>
          <p:cNvSpPr/>
          <p:nvPr/>
        </p:nvSpPr>
        <p:spPr>
          <a:xfrm>
            <a:off x="445228" y="2721474"/>
            <a:ext cx="4029404" cy="280462"/>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b="1" i="0" u="none" strike="noStrike" cap="none">
                <a:solidFill>
                  <a:srgbClr val="000000"/>
                </a:solidFill>
                <a:latin typeface="Microsoft JhengHei"/>
                <a:ea typeface="Microsoft JhengHei"/>
                <a:cs typeface="Microsoft JhengHei"/>
                <a:sym typeface="Microsoft JhengHei"/>
              </a:rPr>
              <a:t>全球CSP資本支出總額(十億美元)</a:t>
            </a:r>
            <a:endParaRPr b="1" i="0" u="none" strike="noStrike" cap="none">
              <a:solidFill>
                <a:srgbClr val="000000"/>
              </a:solidFill>
              <a:latin typeface="Microsoft JhengHei"/>
              <a:ea typeface="Microsoft JhengHei"/>
              <a:cs typeface="Microsoft JhengHei"/>
              <a:sym typeface="Microsoft JhengHei"/>
            </a:endParaRPr>
          </a:p>
        </p:txBody>
      </p:sp>
      <p:sp>
        <p:nvSpPr>
          <p:cNvPr id="556" name="Google Shape;556;p49"/>
          <p:cNvSpPr/>
          <p:nvPr/>
        </p:nvSpPr>
        <p:spPr>
          <a:xfrm>
            <a:off x="445229" y="954671"/>
            <a:ext cx="8367600" cy="1724507"/>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57" name="Google Shape;557;p49"/>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1" i="0" u="none" strike="noStrike" cap="none">
              <a:solidFill>
                <a:srgbClr val="C9B4A5"/>
              </a:solidFill>
              <a:latin typeface="Microsoft JhengHei"/>
              <a:ea typeface="Microsoft JhengHei"/>
              <a:cs typeface="Microsoft JhengHei"/>
              <a:sym typeface="Microsoft JhengHei"/>
            </a:endParaRPr>
          </a:p>
        </p:txBody>
      </p:sp>
      <p:sp>
        <p:nvSpPr>
          <p:cNvPr id="558" name="Google Shape;558;p49"/>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559" name="Google Shape;559;p49"/>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560" name="Google Shape;560;p49"/>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561" name="Google Shape;561;p49"/>
          <p:cNvSpPr/>
          <p:nvPr/>
        </p:nvSpPr>
        <p:spPr>
          <a:xfrm>
            <a:off x="305860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成長動能</a:t>
            </a:r>
            <a:endParaRPr sz="1100" b="0" i="0" u="none" strike="noStrike" cap="none">
              <a:solidFill>
                <a:schemeClr val="lt1"/>
              </a:solidFill>
              <a:latin typeface="Arial"/>
              <a:ea typeface="Arial"/>
              <a:cs typeface="Arial"/>
              <a:sym typeface="Arial"/>
            </a:endParaRPr>
          </a:p>
        </p:txBody>
      </p:sp>
      <p:sp>
        <p:nvSpPr>
          <p:cNvPr id="562" name="Google Shape;562;p49"/>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grpSp>
        <p:nvGrpSpPr>
          <p:cNvPr id="563" name="Google Shape;563;p49"/>
          <p:cNvGrpSpPr/>
          <p:nvPr/>
        </p:nvGrpSpPr>
        <p:grpSpPr>
          <a:xfrm>
            <a:off x="4550800" y="2718583"/>
            <a:ext cx="4262032" cy="2066641"/>
            <a:chOff x="2131275" y="1025000"/>
            <a:chExt cx="4648901" cy="3719170"/>
          </a:xfrm>
        </p:grpSpPr>
        <p:sp>
          <p:nvSpPr>
            <p:cNvPr id="564" name="Google Shape;564;p49"/>
            <p:cNvSpPr/>
            <p:nvPr/>
          </p:nvSpPr>
          <p:spPr>
            <a:xfrm>
              <a:off x="2131275" y="1025000"/>
              <a:ext cx="1492200" cy="663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Microsoft JhengHei"/>
                  <a:ea typeface="Microsoft JhengHei"/>
                  <a:cs typeface="Microsoft JhengHei"/>
                  <a:sym typeface="Microsoft JhengHei"/>
                </a:rPr>
                <a:t>公司</a:t>
              </a:r>
              <a:endParaRPr sz="1100" b="0" i="0" u="none" strike="noStrike" cap="none">
                <a:solidFill>
                  <a:srgbClr val="000000"/>
                </a:solidFill>
                <a:latin typeface="Microsoft JhengHei"/>
                <a:ea typeface="Microsoft JhengHei"/>
                <a:cs typeface="Microsoft JhengHei"/>
                <a:sym typeface="Microsoft JhengHei"/>
              </a:endParaRPr>
            </a:p>
          </p:txBody>
        </p:sp>
        <p:sp>
          <p:nvSpPr>
            <p:cNvPr id="565" name="Google Shape;565;p49"/>
            <p:cNvSpPr/>
            <p:nvPr/>
          </p:nvSpPr>
          <p:spPr>
            <a:xfrm>
              <a:off x="3709626" y="1794820"/>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850億</a:t>
              </a:r>
              <a:endParaRPr sz="1100" b="0" i="0" u="none" strike="noStrike" cap="none">
                <a:solidFill>
                  <a:schemeClr val="dk1"/>
                </a:solidFill>
                <a:latin typeface="Microsoft JhengHei"/>
                <a:ea typeface="Microsoft JhengHei"/>
                <a:cs typeface="Microsoft JhengHei"/>
                <a:sym typeface="Microsoft JhengHei"/>
              </a:endParaRPr>
            </a:p>
          </p:txBody>
        </p:sp>
        <p:sp>
          <p:nvSpPr>
            <p:cNvPr id="566" name="Google Shape;566;p49"/>
            <p:cNvSpPr/>
            <p:nvPr/>
          </p:nvSpPr>
          <p:spPr>
            <a:xfrm>
              <a:off x="2131275" y="1794824"/>
              <a:ext cx="1492200" cy="663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Microsoft JhengHei"/>
                  <a:ea typeface="Microsoft JhengHei"/>
                  <a:cs typeface="Microsoft JhengHei"/>
                  <a:sym typeface="Microsoft JhengHei"/>
                </a:rPr>
                <a:t>Google</a:t>
              </a:r>
              <a:endParaRPr sz="1100" b="0" i="0" u="none" strike="noStrike" cap="none">
                <a:solidFill>
                  <a:srgbClr val="000000"/>
                </a:solidFill>
                <a:latin typeface="Microsoft JhengHei"/>
                <a:ea typeface="Microsoft JhengHei"/>
                <a:cs typeface="Microsoft JhengHei"/>
                <a:sym typeface="Microsoft JhengHei"/>
              </a:endParaRPr>
            </a:p>
          </p:txBody>
        </p:sp>
        <p:sp>
          <p:nvSpPr>
            <p:cNvPr id="567" name="Google Shape;567;p49"/>
            <p:cNvSpPr/>
            <p:nvPr/>
          </p:nvSpPr>
          <p:spPr>
            <a:xfrm>
              <a:off x="2131275" y="2567188"/>
              <a:ext cx="1492200" cy="663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Microsoft JhengHei"/>
                  <a:ea typeface="Microsoft JhengHei"/>
                  <a:cs typeface="Microsoft JhengHei"/>
                  <a:sym typeface="Microsoft JhengHei"/>
                </a:rPr>
                <a:t>Amazon</a:t>
              </a:r>
              <a:endParaRPr sz="1100" b="0" i="0" u="none" strike="noStrike" cap="none">
                <a:solidFill>
                  <a:srgbClr val="000000"/>
                </a:solidFill>
                <a:latin typeface="Microsoft JhengHei"/>
                <a:ea typeface="Microsoft JhengHei"/>
                <a:cs typeface="Microsoft JhengHei"/>
                <a:sym typeface="Microsoft JhengHei"/>
              </a:endParaRPr>
            </a:p>
          </p:txBody>
        </p:sp>
        <p:sp>
          <p:nvSpPr>
            <p:cNvPr id="568" name="Google Shape;568;p49"/>
            <p:cNvSpPr/>
            <p:nvPr/>
          </p:nvSpPr>
          <p:spPr>
            <a:xfrm>
              <a:off x="2131275" y="3314750"/>
              <a:ext cx="1492200" cy="663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Microsoft JhengHei"/>
                  <a:ea typeface="Microsoft JhengHei"/>
                  <a:cs typeface="Microsoft JhengHei"/>
                  <a:sym typeface="Microsoft JhengHei"/>
                </a:rPr>
                <a:t>Meta</a:t>
              </a:r>
              <a:endParaRPr sz="1100" b="0" i="0" u="none" strike="noStrike" cap="none">
                <a:solidFill>
                  <a:srgbClr val="000000"/>
                </a:solidFill>
                <a:latin typeface="Microsoft JhengHei"/>
                <a:ea typeface="Microsoft JhengHei"/>
                <a:cs typeface="Microsoft JhengHei"/>
                <a:sym typeface="Microsoft JhengHei"/>
              </a:endParaRPr>
            </a:p>
          </p:txBody>
        </p:sp>
        <p:sp>
          <p:nvSpPr>
            <p:cNvPr id="569" name="Google Shape;569;p49"/>
            <p:cNvSpPr/>
            <p:nvPr/>
          </p:nvSpPr>
          <p:spPr>
            <a:xfrm>
              <a:off x="2131275" y="4062300"/>
              <a:ext cx="1492200" cy="663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rgbClr val="000000"/>
                  </a:solidFill>
                  <a:latin typeface="Microsoft JhengHei"/>
                  <a:ea typeface="Microsoft JhengHei"/>
                  <a:cs typeface="Microsoft JhengHei"/>
                  <a:sym typeface="Microsoft JhengHei"/>
                </a:rPr>
                <a:t>Microsoft</a:t>
              </a:r>
              <a:endParaRPr sz="1100" b="0" i="0" u="none" strike="noStrike" cap="none">
                <a:solidFill>
                  <a:srgbClr val="000000"/>
                </a:solidFill>
                <a:latin typeface="Microsoft JhengHei"/>
                <a:ea typeface="Microsoft JhengHei"/>
                <a:cs typeface="Microsoft JhengHei"/>
                <a:sym typeface="Microsoft JhengHei"/>
              </a:endParaRPr>
            </a:p>
          </p:txBody>
        </p:sp>
        <p:sp>
          <p:nvSpPr>
            <p:cNvPr id="570" name="Google Shape;570;p49"/>
            <p:cNvSpPr/>
            <p:nvPr/>
          </p:nvSpPr>
          <p:spPr>
            <a:xfrm>
              <a:off x="3709636" y="1025000"/>
              <a:ext cx="1492200" cy="663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1" i="0" u="none" strike="noStrike" cap="none">
                  <a:solidFill>
                    <a:srgbClr val="FFFFFF"/>
                  </a:solidFill>
                  <a:latin typeface="Microsoft JhengHei"/>
                  <a:ea typeface="Microsoft JhengHei"/>
                  <a:cs typeface="Microsoft JhengHei"/>
                  <a:sym typeface="Microsoft JhengHei"/>
                </a:rPr>
                <a:t>25年資本支出</a:t>
              </a:r>
              <a:endParaRPr sz="1100" b="1" i="0" u="none" strike="noStrike" cap="none">
                <a:solidFill>
                  <a:srgbClr val="FFFFFF"/>
                </a:solidFill>
                <a:latin typeface="Microsoft JhengHei"/>
                <a:ea typeface="Microsoft JhengHei"/>
                <a:cs typeface="Microsoft JhengHei"/>
                <a:sym typeface="Microsoft JhengHei"/>
              </a:endParaRPr>
            </a:p>
            <a:p>
              <a:pPr marL="0" marR="0" lvl="0" indent="0" algn="ctr" rtl="0">
                <a:lnSpc>
                  <a:spcPct val="100000"/>
                </a:lnSpc>
                <a:spcBef>
                  <a:spcPts val="0"/>
                </a:spcBef>
                <a:spcAft>
                  <a:spcPts val="0"/>
                </a:spcAft>
                <a:buClr>
                  <a:srgbClr val="000000"/>
                </a:buClr>
                <a:buSzPts val="1100"/>
                <a:buFont typeface="Arial"/>
                <a:buNone/>
              </a:pPr>
              <a:r>
                <a:rPr lang="zh-TW" sz="1100" b="1" i="0" u="none" strike="noStrike" cap="none">
                  <a:solidFill>
                    <a:srgbClr val="FFFFFF"/>
                  </a:solidFill>
                  <a:latin typeface="Microsoft JhengHei"/>
                  <a:ea typeface="Microsoft JhengHei"/>
                  <a:cs typeface="Microsoft JhengHei"/>
                  <a:sym typeface="Microsoft JhengHei"/>
                </a:rPr>
                <a:t>(億美元)</a:t>
              </a:r>
              <a:endParaRPr sz="1100" b="1" i="0" u="none" strike="noStrike" cap="none">
                <a:solidFill>
                  <a:srgbClr val="000000"/>
                </a:solidFill>
                <a:latin typeface="Arial"/>
                <a:ea typeface="Arial"/>
                <a:cs typeface="Arial"/>
                <a:sym typeface="Arial"/>
              </a:endParaRPr>
            </a:p>
          </p:txBody>
        </p:sp>
        <p:sp>
          <p:nvSpPr>
            <p:cNvPr id="571" name="Google Shape;571;p49"/>
            <p:cNvSpPr/>
            <p:nvPr/>
          </p:nvSpPr>
          <p:spPr>
            <a:xfrm>
              <a:off x="5287973" y="1025000"/>
              <a:ext cx="1492200" cy="663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1" i="0" u="none" strike="noStrike" cap="none">
                  <a:solidFill>
                    <a:srgbClr val="FFFFFF"/>
                  </a:solidFill>
                  <a:latin typeface="Microsoft JhengHei"/>
                  <a:ea typeface="Microsoft JhengHei"/>
                  <a:cs typeface="Microsoft JhengHei"/>
                  <a:sym typeface="Microsoft JhengHei"/>
                </a:rPr>
                <a:t>YoY</a:t>
              </a:r>
              <a:endParaRPr sz="1100" b="1" i="0" u="none" strike="noStrike" cap="none">
                <a:solidFill>
                  <a:srgbClr val="000000"/>
                </a:solidFill>
                <a:latin typeface="Arial"/>
                <a:ea typeface="Arial"/>
                <a:cs typeface="Arial"/>
                <a:sym typeface="Arial"/>
              </a:endParaRPr>
            </a:p>
          </p:txBody>
        </p:sp>
        <p:sp>
          <p:nvSpPr>
            <p:cNvPr id="572" name="Google Shape;572;p49"/>
            <p:cNvSpPr/>
            <p:nvPr/>
          </p:nvSpPr>
          <p:spPr>
            <a:xfrm>
              <a:off x="3709626" y="2564645"/>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1,000</a:t>
              </a:r>
              <a:endParaRPr sz="1100" b="0" i="0" u="none" strike="noStrike" cap="none">
                <a:solidFill>
                  <a:schemeClr val="dk1"/>
                </a:solidFill>
                <a:latin typeface="Microsoft JhengHei"/>
                <a:ea typeface="Microsoft JhengHei"/>
                <a:cs typeface="Microsoft JhengHei"/>
                <a:sym typeface="Microsoft JhengHei"/>
              </a:endParaRPr>
            </a:p>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(約80%在 AWS )</a:t>
              </a:r>
              <a:endParaRPr sz="1100" b="0" i="0" u="none" strike="noStrike" cap="none">
                <a:solidFill>
                  <a:schemeClr val="dk1"/>
                </a:solidFill>
                <a:latin typeface="Microsoft JhengHei"/>
                <a:ea typeface="Microsoft JhengHei"/>
                <a:cs typeface="Microsoft JhengHei"/>
                <a:sym typeface="Microsoft JhengHei"/>
              </a:endParaRPr>
            </a:p>
          </p:txBody>
        </p:sp>
        <p:sp>
          <p:nvSpPr>
            <p:cNvPr id="573" name="Google Shape;573;p49"/>
            <p:cNvSpPr/>
            <p:nvPr/>
          </p:nvSpPr>
          <p:spPr>
            <a:xfrm>
              <a:off x="3709626" y="3314758"/>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Calibri"/>
                  <a:ea typeface="Calibri"/>
                  <a:cs typeface="Calibri"/>
                  <a:sym typeface="Calibri"/>
                </a:rPr>
                <a:t>660～720</a:t>
              </a:r>
              <a:endParaRPr sz="1100" b="0" i="0" u="none" strike="noStrike" cap="none">
                <a:solidFill>
                  <a:schemeClr val="dk1"/>
                </a:solidFill>
                <a:latin typeface="Calibri"/>
                <a:ea typeface="Calibri"/>
                <a:cs typeface="Calibri"/>
                <a:sym typeface="Calibri"/>
              </a:endParaRPr>
            </a:p>
          </p:txBody>
        </p:sp>
        <p:sp>
          <p:nvSpPr>
            <p:cNvPr id="574" name="Google Shape;574;p49"/>
            <p:cNvSpPr/>
            <p:nvPr/>
          </p:nvSpPr>
          <p:spPr>
            <a:xfrm>
              <a:off x="3709626" y="4074733"/>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900～1,000</a:t>
              </a:r>
              <a:endParaRPr sz="1100" b="0" i="0" u="none" strike="noStrike" cap="none">
                <a:solidFill>
                  <a:schemeClr val="dk1"/>
                </a:solidFill>
                <a:latin typeface="Microsoft JhengHei"/>
                <a:ea typeface="Microsoft JhengHei"/>
                <a:cs typeface="Microsoft JhengHei"/>
                <a:sym typeface="Microsoft JhengHei"/>
              </a:endParaRPr>
            </a:p>
          </p:txBody>
        </p:sp>
        <p:sp>
          <p:nvSpPr>
            <p:cNvPr id="575" name="Google Shape;575;p49"/>
            <p:cNvSpPr/>
            <p:nvPr/>
          </p:nvSpPr>
          <p:spPr>
            <a:xfrm>
              <a:off x="5287976" y="1794833"/>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61.9%</a:t>
              </a:r>
              <a:endParaRPr sz="1100" b="0" i="0" u="none" strike="noStrike" cap="none">
                <a:solidFill>
                  <a:schemeClr val="dk1"/>
                </a:solidFill>
                <a:latin typeface="Microsoft JhengHei"/>
                <a:ea typeface="Microsoft JhengHei"/>
                <a:cs typeface="Microsoft JhengHei"/>
                <a:sym typeface="Microsoft JhengHei"/>
              </a:endParaRPr>
            </a:p>
          </p:txBody>
        </p:sp>
        <p:sp>
          <p:nvSpPr>
            <p:cNvPr id="576" name="Google Shape;576;p49"/>
            <p:cNvSpPr/>
            <p:nvPr/>
          </p:nvSpPr>
          <p:spPr>
            <a:xfrm>
              <a:off x="5287976" y="2567208"/>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50.2%</a:t>
              </a:r>
              <a:endParaRPr sz="1100" b="0" i="0" u="none" strike="noStrike" cap="none">
                <a:solidFill>
                  <a:schemeClr val="dk1"/>
                </a:solidFill>
                <a:latin typeface="Microsoft JhengHei"/>
                <a:ea typeface="Microsoft JhengHei"/>
                <a:cs typeface="Microsoft JhengHei"/>
                <a:sym typeface="Microsoft JhengHei"/>
              </a:endParaRPr>
            </a:p>
          </p:txBody>
        </p:sp>
        <p:sp>
          <p:nvSpPr>
            <p:cNvPr id="577" name="Google Shape;577;p49"/>
            <p:cNvSpPr/>
            <p:nvPr/>
          </p:nvSpPr>
          <p:spPr>
            <a:xfrm>
              <a:off x="5287976" y="3314770"/>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68.2%～83.5%</a:t>
              </a:r>
              <a:endParaRPr sz="1100" b="0" i="0" u="none" strike="noStrike" cap="none">
                <a:solidFill>
                  <a:schemeClr val="dk1"/>
                </a:solidFill>
                <a:latin typeface="Microsoft JhengHei"/>
                <a:ea typeface="Microsoft JhengHei"/>
                <a:cs typeface="Microsoft JhengHei"/>
                <a:sym typeface="Microsoft JhengHei"/>
              </a:endParaRPr>
            </a:p>
          </p:txBody>
        </p:sp>
        <p:sp>
          <p:nvSpPr>
            <p:cNvPr id="578" name="Google Shape;578;p49"/>
            <p:cNvSpPr/>
            <p:nvPr/>
          </p:nvSpPr>
          <p:spPr>
            <a:xfrm>
              <a:off x="5287976" y="4081170"/>
              <a:ext cx="1492200" cy="663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zh-TW" sz="1100" b="0" i="0" u="none" strike="noStrike" cap="none">
                  <a:solidFill>
                    <a:schemeClr val="dk1"/>
                  </a:solidFill>
                  <a:latin typeface="Microsoft JhengHei"/>
                  <a:ea typeface="Microsoft JhengHei"/>
                  <a:cs typeface="Microsoft JhengHei"/>
                  <a:sym typeface="Microsoft JhengHei"/>
                </a:rPr>
                <a:t>19.0%～32.2%</a:t>
              </a:r>
              <a:endParaRPr sz="1100" b="0" i="0" u="none" strike="noStrike" cap="none">
                <a:solidFill>
                  <a:schemeClr val="dk1"/>
                </a:solidFill>
                <a:latin typeface="Microsoft JhengHei"/>
                <a:ea typeface="Microsoft JhengHei"/>
                <a:cs typeface="Microsoft JhengHei"/>
                <a:sym typeface="Microsoft JhengHei"/>
              </a:endParaRPr>
            </a:p>
          </p:txBody>
        </p:sp>
      </p:grpSp>
      <p:sp>
        <p:nvSpPr>
          <p:cNvPr id="579" name="Google Shape;579;p49"/>
          <p:cNvSpPr txBox="1"/>
          <p:nvPr/>
        </p:nvSpPr>
        <p:spPr>
          <a:xfrm>
            <a:off x="242301" y="788568"/>
            <a:ext cx="8367601" cy="1957429"/>
          </a:xfrm>
          <a:prstGeom prst="rect">
            <a:avLst/>
          </a:prstGeom>
          <a:noFill/>
          <a:ln>
            <a:noFill/>
          </a:ln>
        </p:spPr>
        <p:txBody>
          <a:bodyPr spcFirstLastPara="1" wrap="square" lIns="68575" tIns="34275" rIns="68575" bIns="34275" anchor="t" anchorCtr="0">
            <a:spAutoFit/>
          </a:bodyPr>
          <a:lstStyle/>
          <a:p>
            <a:pPr marL="431800" marR="0" lvl="0" indent="-285750" algn="l" rtl="0">
              <a:lnSpc>
                <a:spcPct val="115000"/>
              </a:lnSpc>
              <a:spcBef>
                <a:spcPts val="1200"/>
              </a:spcBef>
              <a:spcAft>
                <a:spcPts val="0"/>
              </a:spcAft>
              <a:buClr>
                <a:schemeClr val="dk1"/>
              </a:buClr>
              <a:buSzPts val="1300"/>
              <a:buFont typeface="Arial" panose="020B0604020202020204" pitchFamily="34" charset="0"/>
              <a:buChar char="•"/>
            </a:pPr>
            <a:r>
              <a:rPr lang="zh-TW" sz="1400" i="0" u="none" strike="noStrike" cap="none" dirty="0">
                <a:solidFill>
                  <a:schemeClr val="dk1"/>
                </a:solidFill>
                <a:latin typeface="Microsoft JhengHei"/>
                <a:ea typeface="Microsoft JhengHei"/>
                <a:cs typeface="Microsoft JhengHei"/>
                <a:sym typeface="Microsoft JhengHei"/>
              </a:rPr>
              <a:t>全球 CSP 正掀起新一波資本支出擴張潮，預估至 2026 年，</a:t>
            </a:r>
            <a:r>
              <a:rPr lang="zh-TW" sz="1400" b="1" i="0" u="none" strike="noStrike" cap="none" dirty="0">
                <a:solidFill>
                  <a:schemeClr val="dk1"/>
                </a:solidFill>
                <a:latin typeface="Microsoft JhengHei"/>
                <a:ea typeface="Microsoft JhengHei"/>
                <a:cs typeface="Microsoft JhengHei"/>
                <a:sym typeface="Microsoft JhengHei"/>
              </a:rPr>
              <a:t>全球 CSP 資本支出將突破 5,000 億美元</a:t>
            </a:r>
            <a:r>
              <a:rPr lang="zh-TW" sz="1400" i="0" u="none" strike="noStrike" cap="none" dirty="0">
                <a:solidFill>
                  <a:schemeClr val="dk1"/>
                </a:solidFill>
                <a:latin typeface="Microsoft JhengHei"/>
                <a:ea typeface="Microsoft JhengHei"/>
                <a:cs typeface="Microsoft JhengHei"/>
                <a:sym typeface="Microsoft JhengHei"/>
              </a:rPr>
              <a:t>，反映生成式 AI 持續推動產業投資。</a:t>
            </a:r>
            <a:r>
              <a:rPr lang="zh-TW" sz="1400" b="1" i="0" u="none" strike="noStrike" cap="none" dirty="0">
                <a:solidFill>
                  <a:schemeClr val="dk1"/>
                </a:solidFill>
                <a:latin typeface="Microsoft JhengHei"/>
                <a:ea typeface="Microsoft JhengHei"/>
                <a:cs typeface="Microsoft JhengHei"/>
                <a:sym typeface="Microsoft JhengHei"/>
              </a:rPr>
              <a:t>2025 年四大 CSP 的資本支出預估達 3,510～3,570 億美元，年增近 40%</a:t>
            </a:r>
            <a:r>
              <a:rPr lang="zh-TW" sz="1400" i="0" u="none" strike="noStrike" cap="none" dirty="0">
                <a:solidFill>
                  <a:schemeClr val="dk1"/>
                </a:solidFill>
                <a:latin typeface="Microsoft JhengHei"/>
                <a:ea typeface="Microsoft JhengHei"/>
                <a:cs typeface="Microsoft JhengHei"/>
                <a:sym typeface="Microsoft JhengHei"/>
              </a:rPr>
              <a:t>，AI 基礎設施為主要成長動能。四大 CSP 為 AI ASIC 的主要需求來源，且具備自研與大規模導入能力，目前在高階 AI 伺服器採購量已佔全球逾六成。</a:t>
            </a:r>
            <a:endParaRPr sz="1400" i="0" u="none" strike="noStrike" cap="none" dirty="0">
              <a:solidFill>
                <a:schemeClr val="dk1"/>
              </a:solidFill>
              <a:latin typeface="Microsoft JhengHei"/>
              <a:ea typeface="Microsoft JhengHei"/>
              <a:cs typeface="Microsoft JhengHei"/>
              <a:sym typeface="Microsoft JhengHei"/>
            </a:endParaRPr>
          </a:p>
          <a:p>
            <a:pPr marL="431800" marR="0" lvl="0" indent="-285750" algn="l" rtl="0">
              <a:lnSpc>
                <a:spcPct val="115000"/>
              </a:lnSpc>
              <a:spcBef>
                <a:spcPts val="0"/>
              </a:spcBef>
              <a:spcAft>
                <a:spcPts val="0"/>
              </a:spcAft>
              <a:buClr>
                <a:schemeClr val="dk1"/>
              </a:buClr>
              <a:buSzPts val="1300"/>
              <a:buFont typeface="Arial"/>
              <a:buChar char="•"/>
            </a:pPr>
            <a:r>
              <a:rPr lang="zh-TW" sz="1400" i="0" u="none" strike="noStrike" cap="none" dirty="0">
                <a:solidFill>
                  <a:schemeClr val="dk1"/>
                </a:solidFill>
                <a:latin typeface="Microsoft JhengHei"/>
                <a:ea typeface="Microsoft JhengHei"/>
                <a:cs typeface="Microsoft JhengHei"/>
                <a:sym typeface="Microsoft JhengHei"/>
              </a:rPr>
              <a:t>根據預測，</a:t>
            </a:r>
            <a:r>
              <a:rPr lang="zh-TW" sz="1400" b="1" i="0" u="none" strike="noStrike" cap="none" dirty="0">
                <a:solidFill>
                  <a:schemeClr val="dk1"/>
                </a:solidFill>
                <a:latin typeface="Microsoft JhengHei"/>
                <a:ea typeface="Microsoft JhengHei"/>
                <a:cs typeface="Microsoft JhengHei"/>
                <a:sym typeface="Microsoft JhengHei"/>
              </a:rPr>
              <a:t>2025 年 Tier 1 與 Tier 2 CSP 的資本支出年增率將達到 72%</a:t>
            </a:r>
            <a:r>
              <a:rPr lang="zh-TW" sz="1400" i="0" u="none" strike="noStrike" cap="none" dirty="0">
                <a:solidFill>
                  <a:schemeClr val="dk1"/>
                </a:solidFill>
                <a:latin typeface="Microsoft JhengHei"/>
                <a:ea typeface="Microsoft JhengHei"/>
                <a:cs typeface="Microsoft JhengHei"/>
                <a:sym typeface="Microsoft JhengHei"/>
              </a:rPr>
              <a:t>，顯示業者正積極投入 AI 伺服器與自研晶片。</a:t>
            </a:r>
            <a:r>
              <a:rPr lang="zh-TW" sz="1400" b="1" i="0" u="none" strike="noStrike" cap="none" dirty="0">
                <a:solidFill>
                  <a:schemeClr val="dk1"/>
                </a:solidFill>
                <a:latin typeface="Microsoft JhengHei"/>
                <a:ea typeface="Microsoft JhengHei"/>
                <a:cs typeface="Microsoft JhengHei"/>
                <a:sym typeface="Microsoft JhengHei"/>
              </a:rPr>
              <a:t>2026 年雖然增速放緩至 24%</a:t>
            </a:r>
            <a:r>
              <a:rPr lang="zh-TW" sz="1400" i="0" u="none" strike="noStrike" cap="none" dirty="0">
                <a:solidFill>
                  <a:schemeClr val="dk1"/>
                </a:solidFill>
                <a:latin typeface="Microsoft JhengHei"/>
                <a:ea typeface="Microsoft JhengHei"/>
                <a:cs typeface="Microsoft JhengHei"/>
                <a:sym typeface="Microsoft JhengHei"/>
              </a:rPr>
              <a:t>，但整體投資動能依然強勁，意味著 AI 已成為長期結構性趨勢。</a:t>
            </a:r>
            <a:endParaRPr sz="1400" i="0" u="none" strike="noStrike" cap="none" dirty="0">
              <a:solidFill>
                <a:schemeClr val="dk1"/>
              </a:solidFill>
              <a:latin typeface="Microsoft JhengHei"/>
              <a:ea typeface="Microsoft JhengHei"/>
              <a:cs typeface="Microsoft JhengHei"/>
              <a:sym typeface="Microsoft JhengHei"/>
            </a:endParaRPr>
          </a:p>
        </p:txBody>
      </p:sp>
      <p:pic>
        <p:nvPicPr>
          <p:cNvPr id="580" name="Google Shape;580;p49"/>
          <p:cNvPicPr preferRelativeResize="0"/>
          <p:nvPr/>
        </p:nvPicPr>
        <p:blipFill rotWithShape="1">
          <a:blip r:embed="rId5">
            <a:alphaModFix/>
          </a:blip>
          <a:srcRect l="10403" t="13799" r="15968" b="10870"/>
          <a:stretch/>
        </p:blipFill>
        <p:spPr>
          <a:xfrm>
            <a:off x="664675" y="3001925"/>
            <a:ext cx="3592575" cy="1771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5"/>
        <p:cNvGrpSpPr/>
        <p:nvPr/>
      </p:nvGrpSpPr>
      <p:grpSpPr>
        <a:xfrm>
          <a:off x="0" y="0"/>
          <a:ext cx="0" cy="0"/>
          <a:chOff x="0" y="0"/>
          <a:chExt cx="0" cy="0"/>
        </a:xfrm>
      </p:grpSpPr>
      <p:pic>
        <p:nvPicPr>
          <p:cNvPr id="586" name="Google Shape;586;p50"/>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587" name="Google Shape;587;p50"/>
          <p:cNvGrpSpPr/>
          <p:nvPr/>
        </p:nvGrpSpPr>
        <p:grpSpPr>
          <a:xfrm>
            <a:off x="242301" y="434035"/>
            <a:ext cx="484808" cy="484808"/>
            <a:chOff x="1628775" y="1381125"/>
            <a:chExt cx="1352700" cy="1352700"/>
          </a:xfrm>
        </p:grpSpPr>
        <p:sp>
          <p:nvSpPr>
            <p:cNvPr id="588" name="Google Shape;588;p50"/>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589" name="Google Shape;589;p50"/>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cxnSp>
        <p:nvCxnSpPr>
          <p:cNvPr id="590" name="Google Shape;590;p50"/>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591" name="Google Shape;591;p50"/>
          <p:cNvSpPr txBox="1"/>
          <p:nvPr/>
        </p:nvSpPr>
        <p:spPr>
          <a:xfrm>
            <a:off x="356706" y="4838738"/>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Microsoft JhengHei"/>
                <a:ea typeface="Microsoft JhengHei"/>
                <a:cs typeface="Microsoft JhengHei"/>
                <a:sym typeface="Microsoft JhengHei"/>
              </a:rPr>
              <a:t>資料來源：</a:t>
            </a:r>
            <a:r>
              <a:rPr lang="zh-TW" sz="1100" dirty="0">
                <a:solidFill>
                  <a:schemeClr val="dk1"/>
                </a:solidFill>
                <a:latin typeface="Microsoft JhengHei"/>
                <a:ea typeface="Microsoft JhengHei"/>
                <a:cs typeface="Microsoft JhengHei"/>
                <a:sym typeface="Microsoft JhengHei"/>
              </a:rPr>
              <a:t>Trend Force</a:t>
            </a:r>
            <a:endParaRPr sz="1100" dirty="0"/>
          </a:p>
        </p:txBody>
      </p:sp>
      <p:sp>
        <p:nvSpPr>
          <p:cNvPr id="592" name="Google Shape;592;p50"/>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14</a:t>
            </a:fld>
            <a:endParaRPr/>
          </a:p>
        </p:txBody>
      </p:sp>
      <p:sp>
        <p:nvSpPr>
          <p:cNvPr id="593" name="Google Shape;593;p50"/>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FFFFFF"/>
                </a:solidFill>
                <a:latin typeface="Microsoft JhengHei"/>
                <a:ea typeface="Microsoft JhengHei"/>
                <a:cs typeface="Microsoft JhengHei"/>
                <a:sym typeface="Microsoft JhengHei"/>
              </a:rPr>
              <a:t>結論</a:t>
            </a:r>
            <a:endParaRPr sz="1100"/>
          </a:p>
        </p:txBody>
      </p:sp>
      <p:sp>
        <p:nvSpPr>
          <p:cNvPr id="594" name="Google Shape;594;p50"/>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595" name="Google Shape;595;p50"/>
          <p:cNvSpPr/>
          <p:nvPr/>
        </p:nvSpPr>
        <p:spPr>
          <a:xfrm>
            <a:off x="3058593"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chemeClr val="lt1"/>
                </a:solidFill>
                <a:latin typeface="Microsoft JhengHei"/>
                <a:ea typeface="Microsoft JhengHei"/>
                <a:cs typeface="Microsoft JhengHei"/>
                <a:sym typeface="Microsoft JhengHei"/>
              </a:rPr>
              <a:t>成長動能</a:t>
            </a:r>
            <a:endParaRPr sz="1100">
              <a:solidFill>
                <a:schemeClr val="lt1"/>
              </a:solidFill>
            </a:endParaRPr>
          </a:p>
        </p:txBody>
      </p:sp>
      <p:sp>
        <p:nvSpPr>
          <p:cNvPr id="596" name="Google Shape;596;p50"/>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597" name="Google Shape;597;p50"/>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598" name="Google Shape;598;p50"/>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chemeClr val="lt1"/>
                </a:solidFill>
                <a:latin typeface="Microsoft JhengHei"/>
                <a:ea typeface="Microsoft JhengHei"/>
                <a:cs typeface="Microsoft JhengHei"/>
                <a:sym typeface="Microsoft JhengHei"/>
              </a:rPr>
              <a:t>產業介紹</a:t>
            </a:r>
            <a:endParaRPr sz="1100">
              <a:solidFill>
                <a:schemeClr val="lt1"/>
              </a:solidFill>
            </a:endParaRPr>
          </a:p>
        </p:txBody>
      </p:sp>
      <p:sp>
        <p:nvSpPr>
          <p:cNvPr id="599" name="Google Shape;599;p50"/>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600" name="Google Shape;600;p50"/>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601" name="Google Shape;601;p50"/>
          <p:cNvSpPr txBox="1"/>
          <p:nvPr/>
        </p:nvSpPr>
        <p:spPr>
          <a:xfrm>
            <a:off x="776850" y="464725"/>
            <a:ext cx="7590300" cy="5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Microsoft JhengHei"/>
                <a:ea typeface="Microsoft JhengHei"/>
                <a:cs typeface="Microsoft JhengHei"/>
                <a:sym typeface="Microsoft JhengHei"/>
              </a:rPr>
              <a:t>CSP為避免輝達壟斷定價，有自研晶片之需求</a:t>
            </a:r>
            <a:endParaRPr sz="1800" b="1">
              <a:solidFill>
                <a:schemeClr val="dk1"/>
              </a:solidFill>
              <a:latin typeface="Microsoft JhengHei"/>
              <a:ea typeface="Microsoft JhengHei"/>
              <a:cs typeface="Microsoft JhengHei"/>
              <a:sym typeface="Microsoft JhengHei"/>
            </a:endParaRPr>
          </a:p>
        </p:txBody>
      </p:sp>
      <p:sp>
        <p:nvSpPr>
          <p:cNvPr id="602" name="Google Shape;602;p50"/>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推薦個股</a:t>
            </a:r>
            <a:endParaRPr sz="1100">
              <a:solidFill>
                <a:srgbClr val="C9B4A5"/>
              </a:solidFill>
            </a:endParaRPr>
          </a:p>
        </p:txBody>
      </p:sp>
      <p:sp>
        <p:nvSpPr>
          <p:cNvPr id="603" name="Google Shape;603;p50"/>
          <p:cNvSpPr txBox="1"/>
          <p:nvPr/>
        </p:nvSpPr>
        <p:spPr>
          <a:xfrm>
            <a:off x="727100" y="1121438"/>
            <a:ext cx="7285800" cy="1011300"/>
          </a:xfrm>
          <a:prstGeom prst="rect">
            <a:avLst/>
          </a:prstGeom>
          <a:solidFill>
            <a:srgbClr val="FFF6ED"/>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dirty="0">
                <a:solidFill>
                  <a:schemeClr val="dk1"/>
                </a:solidFill>
                <a:latin typeface="Microsoft JhengHei"/>
                <a:ea typeface="Microsoft JhengHei"/>
                <a:cs typeface="Microsoft JhengHei"/>
                <a:sym typeface="Microsoft JhengHei"/>
              </a:rPr>
              <a:t>NVIDIA 25 財年毛利率達 75%，即便在部分季度因庫存損失下降，也仍維持在 70% 左右的非 GAAP 水準。相較之下：Broadcom 約 66–67% Marvell 約 60–62%。這種</a:t>
            </a:r>
            <a:r>
              <a:rPr lang="zh-TW" b="1" dirty="0">
                <a:solidFill>
                  <a:schemeClr val="dk1"/>
                </a:solidFill>
                <a:latin typeface="Microsoft JhengHei"/>
                <a:ea typeface="Microsoft JhengHei"/>
                <a:cs typeface="Microsoft JhengHei"/>
                <a:sym typeface="Microsoft JhengHei"/>
              </a:rPr>
              <a:t>超過產業均值 10–20 個百分點的毛利率</a:t>
            </a:r>
            <a:r>
              <a:rPr lang="zh-TW" dirty="0">
                <a:solidFill>
                  <a:schemeClr val="dk1"/>
                </a:solidFill>
                <a:latin typeface="Microsoft JhengHei"/>
                <a:ea typeface="Microsoft JhengHei"/>
                <a:cs typeface="Microsoft JhengHei"/>
                <a:sym typeface="Microsoft JhengHei"/>
              </a:rPr>
              <a:t>，代表輝達不僅在設計能力上領先，也在供應鏈與價格談判上幾乎具有壟斷力量。</a:t>
            </a:r>
            <a:endParaRPr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endParaRPr dirty="0">
              <a:solidFill>
                <a:schemeClr val="dk1"/>
              </a:solidFill>
              <a:latin typeface="Microsoft JhengHei"/>
              <a:ea typeface="Microsoft JhengHei"/>
              <a:cs typeface="Microsoft JhengHei"/>
              <a:sym typeface="Microsoft JhengHei"/>
            </a:endParaRPr>
          </a:p>
        </p:txBody>
      </p:sp>
      <p:sp>
        <p:nvSpPr>
          <p:cNvPr id="604" name="Google Shape;604;p50"/>
          <p:cNvSpPr txBox="1"/>
          <p:nvPr/>
        </p:nvSpPr>
        <p:spPr>
          <a:xfrm>
            <a:off x="346550" y="3918875"/>
            <a:ext cx="83475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sz="1300">
                <a:solidFill>
                  <a:schemeClr val="dk1"/>
                </a:solidFill>
                <a:latin typeface="Microsoft JhengHei"/>
                <a:ea typeface="Microsoft JhengHei"/>
                <a:cs typeface="Microsoft JhengHei"/>
                <a:sym typeface="Microsoft JhengHei"/>
              </a:rPr>
              <a:t>長期趨勢：高毛利壟斷 → 尋求替代→  ASIC 生態崛起</a:t>
            </a:r>
            <a:r>
              <a:rPr lang="zh-TW">
                <a:solidFill>
                  <a:schemeClr val="dk1"/>
                </a:solidFill>
                <a:latin typeface="Microsoft JhengHei"/>
                <a:ea typeface="Microsoft JhengHei"/>
                <a:cs typeface="Microsoft JhengHei"/>
                <a:sym typeface="Microsoft JhengHei"/>
              </a:rPr>
              <a:t> </a:t>
            </a:r>
            <a:r>
              <a:rPr lang="zh-TW" sz="1300" b="1">
                <a:solidFill>
                  <a:schemeClr val="dk1"/>
                </a:solidFill>
                <a:latin typeface="Microsoft JhengHei"/>
                <a:ea typeface="Microsoft JhengHei"/>
                <a:cs typeface="Microsoft JhengHei"/>
                <a:sym typeface="Microsoft JhengHei"/>
              </a:rPr>
              <a:t>2027 以後：CSP ASIC 市佔逐漸上升，壟斷結構轉為寡佔</a:t>
            </a:r>
            <a:endParaRPr sz="2100">
              <a:solidFill>
                <a:schemeClr val="dk1"/>
              </a:solidFill>
              <a:latin typeface="Microsoft JhengHei"/>
              <a:ea typeface="Microsoft JhengHei"/>
              <a:cs typeface="Microsoft JhengHei"/>
              <a:sym typeface="Microsoft JhengHei"/>
            </a:endParaRPr>
          </a:p>
        </p:txBody>
      </p:sp>
      <p:sp>
        <p:nvSpPr>
          <p:cNvPr id="605" name="Google Shape;605;p50"/>
          <p:cNvSpPr txBox="1"/>
          <p:nvPr/>
        </p:nvSpPr>
        <p:spPr>
          <a:xfrm>
            <a:off x="701450" y="2446400"/>
            <a:ext cx="7337100" cy="1028100"/>
          </a:xfrm>
          <a:prstGeom prst="rect">
            <a:avLst/>
          </a:prstGeom>
          <a:solidFill>
            <a:srgbClr val="FFF6ED"/>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dirty="0">
                <a:solidFill>
                  <a:schemeClr val="dk1"/>
                </a:solidFill>
                <a:latin typeface="Microsoft JhengHei"/>
                <a:ea typeface="Microsoft JhengHei"/>
                <a:cs typeface="Microsoft JhengHei"/>
                <a:sym typeface="Microsoft JhengHei"/>
              </a:rPr>
              <a:t>由於高階AI晶片的產能有限，晶片交期普遍出現遞延現象，導致 CSP 的資料中心建置時程被迫延後。這不僅影響伺服器部署與算力擴充進度，也使雲端服務上線與 AI 訓練計畫出現時程落差。為了降低對單一晶片供應商的依賴， CSP 需要具備議價能力，包括透過自研ASIC 、導入多元供應鏈或與晶片廠進行深度協同開發，以確保長期供貨穩定與成本可控。</a:t>
            </a:r>
            <a:endParaRPr dirty="0">
              <a:solidFill>
                <a:schemeClr val="dk1"/>
              </a:solidFill>
              <a:latin typeface="Microsoft JhengHei"/>
              <a:ea typeface="Microsoft JhengHei"/>
              <a:cs typeface="Microsoft JhengHei"/>
              <a:sym typeface="Microsoft JhengHei"/>
            </a:endParaRPr>
          </a:p>
        </p:txBody>
      </p:sp>
      <p:sp>
        <p:nvSpPr>
          <p:cNvPr id="606" name="Google Shape;606;p50"/>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產業介紹</a:t>
            </a:r>
            <a:endParaRPr sz="1100" b="1">
              <a:solidFill>
                <a:srgbClr val="C9B4A5"/>
              </a:solidFill>
              <a:latin typeface="Microsoft JhengHei"/>
              <a:ea typeface="Microsoft JhengHei"/>
              <a:cs typeface="Microsoft JhengHei"/>
              <a:sym typeface="Microsoft JhengHei"/>
            </a:endParaRPr>
          </a:p>
        </p:txBody>
      </p:sp>
      <p:sp>
        <p:nvSpPr>
          <p:cNvPr id="607" name="Google Shape;607;p50"/>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608" name="Google Shape;608;p50"/>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投資標的</a:t>
            </a:r>
            <a:endParaRPr sz="1100">
              <a:solidFill>
                <a:srgbClr val="C9B4A5"/>
              </a:solidFill>
            </a:endParaRPr>
          </a:p>
        </p:txBody>
      </p:sp>
      <p:sp>
        <p:nvSpPr>
          <p:cNvPr id="609" name="Google Shape;609;p50"/>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610" name="Google Shape;610;p50"/>
          <p:cNvSpPr/>
          <p:nvPr/>
        </p:nvSpPr>
        <p:spPr>
          <a:xfrm>
            <a:off x="305860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chemeClr val="lt1"/>
                </a:solidFill>
                <a:latin typeface="Microsoft JhengHei"/>
                <a:ea typeface="Microsoft JhengHei"/>
                <a:cs typeface="Microsoft JhengHei"/>
                <a:sym typeface="Microsoft JhengHei"/>
              </a:rPr>
              <a:t>成長動能</a:t>
            </a:r>
            <a:endParaRPr sz="1100">
              <a:solidFill>
                <a:schemeClr val="lt1"/>
              </a:solidFill>
            </a:endParaRPr>
          </a:p>
        </p:txBody>
      </p:sp>
      <p:sp>
        <p:nvSpPr>
          <p:cNvPr id="611" name="Google Shape;611;p50"/>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pic>
        <p:nvPicPr>
          <p:cNvPr id="617" name="Google Shape;617;p51"/>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618" name="Google Shape;618;p51"/>
          <p:cNvGrpSpPr/>
          <p:nvPr/>
        </p:nvGrpSpPr>
        <p:grpSpPr>
          <a:xfrm>
            <a:off x="242301" y="434035"/>
            <a:ext cx="484808" cy="484808"/>
            <a:chOff x="1628775" y="1381125"/>
            <a:chExt cx="1352700" cy="1352700"/>
          </a:xfrm>
        </p:grpSpPr>
        <p:sp>
          <p:nvSpPr>
            <p:cNvPr id="619" name="Google Shape;619;p51"/>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620" name="Google Shape;620;p51"/>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621" name="Google Shape;621;p51"/>
          <p:cNvSpPr txBox="1"/>
          <p:nvPr/>
        </p:nvSpPr>
        <p:spPr>
          <a:xfrm>
            <a:off x="727101" y="503338"/>
            <a:ext cx="7946400" cy="346218"/>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rgbClr val="000000"/>
                </a:solidFill>
                <a:latin typeface="Microsoft JhengHei"/>
                <a:ea typeface="Microsoft JhengHei"/>
                <a:cs typeface="Microsoft JhengHei"/>
                <a:sym typeface="Microsoft JhengHei"/>
              </a:rPr>
              <a:t>2026–2028：量產節奏與出貨曲線</a:t>
            </a:r>
            <a:endParaRPr sz="1800" b="1" i="0" u="none" strike="noStrike" cap="none">
              <a:solidFill>
                <a:srgbClr val="000000"/>
              </a:solidFill>
              <a:latin typeface="Microsoft JhengHei"/>
              <a:ea typeface="Microsoft JhengHei"/>
              <a:cs typeface="Microsoft JhengHei"/>
              <a:sym typeface="Microsoft JhengHei"/>
            </a:endParaRPr>
          </a:p>
        </p:txBody>
      </p:sp>
      <p:cxnSp>
        <p:nvCxnSpPr>
          <p:cNvPr id="622" name="Google Shape;622;p51"/>
          <p:cNvCxnSpPr/>
          <p:nvPr/>
        </p:nvCxnSpPr>
        <p:spPr>
          <a:xfrm>
            <a:off x="356690" y="4709360"/>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623" name="Google Shape;623;p51"/>
          <p:cNvSpPr txBox="1"/>
          <p:nvPr/>
        </p:nvSpPr>
        <p:spPr>
          <a:xfrm>
            <a:off x="213185" y="4796370"/>
            <a:ext cx="77979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dirty="0">
                <a:solidFill>
                  <a:schemeClr val="dk1"/>
                </a:solidFill>
                <a:latin typeface="Microsoft JhengHei"/>
                <a:ea typeface="Microsoft JhengHei"/>
                <a:cs typeface="Microsoft JhengHei"/>
                <a:sym typeface="Microsoft JhengHei"/>
              </a:rPr>
              <a:t>資料來源：</a:t>
            </a:r>
            <a:r>
              <a:rPr lang="zh-TW" sz="1100" b="0" i="0" u="none" strike="noStrike" cap="none" dirty="0">
                <a:solidFill>
                  <a:srgbClr val="000000"/>
                </a:solidFill>
                <a:latin typeface="Microsoft JhengHei"/>
                <a:ea typeface="Microsoft JhengHei"/>
                <a:cs typeface="Microsoft JhengHei"/>
                <a:sym typeface="Microsoft JhengHei"/>
              </a:rPr>
              <a:t>Morgan Stanley、J.P. Morgan、Daiwa、CLS</a:t>
            </a:r>
            <a:r>
              <a:rPr lang="zh-TW" sz="1100" dirty="0">
                <a:latin typeface="Microsoft JhengHei"/>
                <a:ea typeface="Microsoft JhengHei"/>
                <a:cs typeface="Microsoft JhengHei"/>
                <a:sym typeface="Microsoft JhengHei"/>
              </a:rPr>
              <a:t>T</a:t>
            </a:r>
            <a:r>
              <a:rPr lang="zh-TW" sz="1100" b="0" i="0" u="none" strike="noStrike" cap="none" dirty="0">
                <a:solidFill>
                  <a:srgbClr val="000000"/>
                </a:solidFill>
                <a:latin typeface="Microsoft JhengHei"/>
                <a:ea typeface="Microsoft JhengHei"/>
                <a:cs typeface="Microsoft JhengHei"/>
                <a:sym typeface="Microsoft JhengHei"/>
              </a:rPr>
              <a:t>、富邦投顧</a:t>
            </a:r>
            <a:r>
              <a:rPr lang="zh-TW" altLang="en-US" sz="1100" b="0" i="0" u="none" strike="noStrike" cap="none" dirty="0">
                <a:solidFill>
                  <a:srgbClr val="000000"/>
                </a:solidFill>
                <a:latin typeface="Microsoft JhengHei"/>
                <a:ea typeface="Microsoft JhengHei"/>
                <a:cs typeface="Microsoft JhengHei"/>
                <a:sym typeface="Microsoft JhengHei"/>
              </a:rPr>
              <a:t>、自行整理</a:t>
            </a:r>
            <a:endParaRPr sz="1100" b="0" i="0" u="none" strike="noStrike" cap="none" dirty="0">
              <a:solidFill>
                <a:srgbClr val="000000"/>
              </a:solidFill>
              <a:latin typeface="Microsoft JhengHei"/>
              <a:ea typeface="Microsoft JhengHei"/>
              <a:cs typeface="Microsoft JhengHei"/>
              <a:sym typeface="Microsoft JhengHei"/>
            </a:endParaRPr>
          </a:p>
        </p:txBody>
      </p:sp>
      <p:sp>
        <p:nvSpPr>
          <p:cNvPr id="624" name="Google Shape;624;p51"/>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15</a:t>
            </a:fld>
            <a:endParaRPr/>
          </a:p>
        </p:txBody>
      </p:sp>
      <p:sp>
        <p:nvSpPr>
          <p:cNvPr id="625" name="Google Shape;625;p51"/>
          <p:cNvSpPr/>
          <p:nvPr/>
        </p:nvSpPr>
        <p:spPr>
          <a:xfrm>
            <a:off x="439710" y="2372878"/>
            <a:ext cx="3944100" cy="295489"/>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主要案別 Tape-out 與量產起始（季度）</a:t>
            </a:r>
            <a:endParaRPr sz="1100" b="1" i="0" u="none" strike="noStrike" cap="none">
              <a:solidFill>
                <a:srgbClr val="000000"/>
              </a:solidFill>
              <a:latin typeface="Microsoft JhengHei"/>
              <a:ea typeface="Microsoft JhengHei"/>
              <a:cs typeface="Microsoft JhengHei"/>
              <a:sym typeface="Microsoft JhengHei"/>
            </a:endParaRPr>
          </a:p>
        </p:txBody>
      </p:sp>
      <p:sp>
        <p:nvSpPr>
          <p:cNvPr id="626" name="Google Shape;626;p51"/>
          <p:cNvSpPr/>
          <p:nvPr/>
        </p:nvSpPr>
        <p:spPr>
          <a:xfrm>
            <a:off x="4668491" y="2378108"/>
            <a:ext cx="4025400" cy="290259"/>
          </a:xfrm>
          <a:prstGeom prst="rect">
            <a:avLst/>
          </a:prstGeom>
          <a:solidFill>
            <a:srgbClr val="F1A53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各專案季度出貨量貢獻</a:t>
            </a:r>
            <a:endParaRPr sz="1100" b="1" i="0" u="none" strike="noStrike" cap="none">
              <a:solidFill>
                <a:srgbClr val="000000"/>
              </a:solidFill>
              <a:latin typeface="Microsoft JhengHei"/>
              <a:ea typeface="Microsoft JhengHei"/>
              <a:cs typeface="Microsoft JhengHei"/>
              <a:sym typeface="Microsoft JhengHei"/>
            </a:endParaRPr>
          </a:p>
        </p:txBody>
      </p:sp>
      <p:sp>
        <p:nvSpPr>
          <p:cNvPr id="627" name="Google Shape;627;p51"/>
          <p:cNvSpPr/>
          <p:nvPr/>
        </p:nvSpPr>
        <p:spPr>
          <a:xfrm>
            <a:off x="439700" y="962570"/>
            <a:ext cx="8254200" cy="1367428"/>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28" name="Google Shape;628;p51"/>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FFFFFF"/>
                </a:solidFill>
                <a:latin typeface="Microsoft JhengHei"/>
                <a:ea typeface="Microsoft JhengHei"/>
                <a:cs typeface="Microsoft JhengHei"/>
                <a:sym typeface="Microsoft JhengHei"/>
              </a:rPr>
              <a:t>結論</a:t>
            </a:r>
            <a:endParaRPr sz="1100" b="0" i="0" u="none" strike="noStrike" cap="none">
              <a:solidFill>
                <a:srgbClr val="000000"/>
              </a:solidFill>
              <a:latin typeface="Arial"/>
              <a:ea typeface="Arial"/>
              <a:cs typeface="Arial"/>
              <a:sym typeface="Arial"/>
            </a:endParaRPr>
          </a:p>
        </p:txBody>
      </p:sp>
      <p:sp>
        <p:nvSpPr>
          <p:cNvPr id="629" name="Google Shape;629;p51"/>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產業介紹</a:t>
            </a:r>
            <a:endParaRPr sz="1100" b="0" i="0" u="none" strike="noStrike" cap="none">
              <a:solidFill>
                <a:srgbClr val="C9B4A5"/>
              </a:solidFill>
              <a:latin typeface="Arial"/>
              <a:ea typeface="Arial"/>
              <a:cs typeface="Arial"/>
              <a:sym typeface="Arial"/>
            </a:endParaRPr>
          </a:p>
        </p:txBody>
      </p:sp>
      <p:sp>
        <p:nvSpPr>
          <p:cNvPr id="630" name="Google Shape;630;p51"/>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631" name="Google Shape;631;p51"/>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632" name="Google Shape;632;p51"/>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633" name="Google Shape;633;p51"/>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634" name="Google Shape;634;p51"/>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chemeClr val="lt1"/>
                </a:solidFill>
                <a:latin typeface="Microsoft JhengHei"/>
                <a:ea typeface="Microsoft JhengHei"/>
                <a:cs typeface="Microsoft JhengHei"/>
                <a:sym typeface="Microsoft JhengHei"/>
              </a:rPr>
              <a:t>產業介紹</a:t>
            </a:r>
            <a:endParaRPr sz="1100" b="0" i="0" u="none" strike="noStrike" cap="none">
              <a:solidFill>
                <a:schemeClr val="lt1"/>
              </a:solidFill>
              <a:latin typeface="Arial"/>
              <a:ea typeface="Arial"/>
              <a:cs typeface="Arial"/>
              <a:sym typeface="Arial"/>
            </a:endParaRPr>
          </a:p>
        </p:txBody>
      </p:sp>
      <p:sp>
        <p:nvSpPr>
          <p:cNvPr id="635" name="Google Shape;635;p51"/>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sp>
        <p:nvSpPr>
          <p:cNvPr id="636" name="Google Shape;636;p51"/>
          <p:cNvSpPr/>
          <p:nvPr/>
        </p:nvSpPr>
        <p:spPr>
          <a:xfrm>
            <a:off x="428942" y="929523"/>
            <a:ext cx="8203002" cy="1384995"/>
          </a:xfrm>
          <a:prstGeom prst="rect">
            <a:avLst/>
          </a:prstGeom>
          <a:noFill/>
          <a:ln>
            <a:noFill/>
          </a:ln>
        </p:spPr>
        <p:txBody>
          <a:bodyPr spcFirstLastPara="1" wrap="square" lIns="91425" tIns="45700" rIns="91425" bIns="45700" anchor="ctr" anchorCtr="0">
            <a:noAutofit/>
          </a:bodyPr>
          <a:lstStyle/>
          <a:p>
            <a:pPr marL="0" marR="0" lvl="0" indent="8890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7" name="Google Shape;637;p51"/>
          <p:cNvPicPr preferRelativeResize="0"/>
          <p:nvPr/>
        </p:nvPicPr>
        <p:blipFill rotWithShape="1">
          <a:blip r:embed="rId5">
            <a:alphaModFix/>
          </a:blip>
          <a:srcRect/>
          <a:stretch/>
        </p:blipFill>
        <p:spPr>
          <a:xfrm>
            <a:off x="439700" y="2675886"/>
            <a:ext cx="3944100" cy="1896980"/>
          </a:xfrm>
          <a:prstGeom prst="rect">
            <a:avLst/>
          </a:prstGeom>
          <a:noFill/>
          <a:ln>
            <a:noFill/>
          </a:ln>
        </p:spPr>
      </p:pic>
      <p:graphicFrame>
        <p:nvGraphicFramePr>
          <p:cNvPr id="638" name="Google Shape;638;p51"/>
          <p:cNvGraphicFramePr/>
          <p:nvPr/>
        </p:nvGraphicFramePr>
        <p:xfrm>
          <a:off x="1348466" y="4344275"/>
          <a:ext cx="2647800" cy="228610"/>
        </p:xfrm>
        <a:graphic>
          <a:graphicData uri="http://schemas.openxmlformats.org/drawingml/2006/table">
            <a:tbl>
              <a:tblPr>
                <a:noFill/>
                <a:tableStyleId>{1256CC70-5E59-4EEF-B231-C3554830DDD7}</a:tableStyleId>
              </a:tblPr>
              <a:tblGrid>
                <a:gridCol w="661950">
                  <a:extLst>
                    <a:ext uri="{9D8B030D-6E8A-4147-A177-3AD203B41FA5}">
                      <a16:colId xmlns:a16="http://schemas.microsoft.com/office/drawing/2014/main" val="20000"/>
                    </a:ext>
                  </a:extLst>
                </a:gridCol>
                <a:gridCol w="661950">
                  <a:extLst>
                    <a:ext uri="{9D8B030D-6E8A-4147-A177-3AD203B41FA5}">
                      <a16:colId xmlns:a16="http://schemas.microsoft.com/office/drawing/2014/main" val="20001"/>
                    </a:ext>
                  </a:extLst>
                </a:gridCol>
                <a:gridCol w="661950">
                  <a:extLst>
                    <a:ext uri="{9D8B030D-6E8A-4147-A177-3AD203B41FA5}">
                      <a16:colId xmlns:a16="http://schemas.microsoft.com/office/drawing/2014/main" val="20002"/>
                    </a:ext>
                  </a:extLst>
                </a:gridCol>
                <a:gridCol w="661950">
                  <a:extLst>
                    <a:ext uri="{9D8B030D-6E8A-4147-A177-3AD203B41FA5}">
                      <a16:colId xmlns:a16="http://schemas.microsoft.com/office/drawing/2014/main" val="20003"/>
                    </a:ext>
                  </a:extLst>
                </a:gridCol>
              </a:tblGrid>
              <a:tr h="207400">
                <a:tc>
                  <a:txBody>
                    <a:bodyPr/>
                    <a:lstStyle/>
                    <a:p>
                      <a:pPr marL="0" marR="0" lvl="0" indent="0" algn="ctr" rtl="0">
                        <a:lnSpc>
                          <a:spcPct val="100000"/>
                        </a:lnSpc>
                        <a:spcBef>
                          <a:spcPts val="0"/>
                        </a:spcBef>
                        <a:spcAft>
                          <a:spcPts val="0"/>
                        </a:spcAft>
                        <a:buNone/>
                      </a:pPr>
                      <a:r>
                        <a:rPr lang="zh-TW" sz="900" u="none" strike="noStrike" cap="none">
                          <a:solidFill>
                            <a:schemeClr val="dk1"/>
                          </a:solidFill>
                          <a:latin typeface="Microsoft JhengHei"/>
                          <a:ea typeface="Microsoft JhengHei"/>
                          <a:cs typeface="Microsoft JhengHei"/>
                          <a:sym typeface="Microsoft JhengHei"/>
                        </a:rPr>
                        <a:t>2025Q1</a:t>
                      </a:r>
                      <a:endParaRPr sz="900" u="none" strike="noStrike" cap="none">
                        <a:solidFill>
                          <a:schemeClr val="dk1"/>
                        </a:solidFill>
                        <a:latin typeface="Microsoft JhengHei"/>
                        <a:ea typeface="Microsoft JhengHei"/>
                        <a:cs typeface="Microsoft JhengHei"/>
                        <a:sym typeface="Microsoft JhengHe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zh-TW" sz="900" u="none" strike="noStrike" cap="none">
                          <a:solidFill>
                            <a:schemeClr val="dk1"/>
                          </a:solidFill>
                          <a:latin typeface="Microsoft JhengHei"/>
                          <a:ea typeface="Microsoft JhengHei"/>
                          <a:cs typeface="Microsoft JhengHei"/>
                          <a:sym typeface="Microsoft JhengHei"/>
                        </a:rPr>
                        <a:t>2026Q1</a:t>
                      </a:r>
                      <a:endParaRPr sz="900" u="none" strike="noStrike" cap="none">
                        <a:solidFill>
                          <a:schemeClr val="dk1"/>
                        </a:solidFill>
                        <a:latin typeface="Microsoft JhengHei"/>
                        <a:ea typeface="Microsoft JhengHei"/>
                        <a:cs typeface="Microsoft JhengHei"/>
                        <a:sym typeface="Microsoft JhengHe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zh-TW" sz="900" u="none" strike="noStrike" cap="none">
                          <a:solidFill>
                            <a:schemeClr val="dk1"/>
                          </a:solidFill>
                          <a:latin typeface="Microsoft JhengHei"/>
                          <a:ea typeface="Microsoft JhengHei"/>
                          <a:cs typeface="Microsoft JhengHei"/>
                          <a:sym typeface="Microsoft JhengHei"/>
                        </a:rPr>
                        <a:t>2027Q1</a:t>
                      </a:r>
                      <a:endParaRPr sz="900" u="none" strike="noStrike" cap="none">
                        <a:solidFill>
                          <a:schemeClr val="dk1"/>
                        </a:solidFill>
                        <a:latin typeface="Microsoft JhengHei"/>
                        <a:ea typeface="Microsoft JhengHei"/>
                        <a:cs typeface="Microsoft JhengHei"/>
                        <a:sym typeface="Microsoft JhengHe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zh-TW" sz="900" u="none" strike="noStrike" cap="none">
                          <a:solidFill>
                            <a:schemeClr val="dk1"/>
                          </a:solidFill>
                          <a:latin typeface="Microsoft JhengHei"/>
                          <a:ea typeface="Microsoft JhengHei"/>
                          <a:cs typeface="Microsoft JhengHei"/>
                          <a:sym typeface="Microsoft JhengHei"/>
                        </a:rPr>
                        <a:t>2028Q1</a:t>
                      </a:r>
                      <a:endParaRPr sz="900" u="none" strike="noStrike" cap="none">
                        <a:solidFill>
                          <a:schemeClr val="dk1"/>
                        </a:solidFill>
                        <a:latin typeface="Microsoft JhengHei"/>
                        <a:ea typeface="Microsoft JhengHei"/>
                        <a:cs typeface="Microsoft JhengHei"/>
                        <a:sym typeface="Microsoft JhengHe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640" name="Google Shape;640;p51"/>
          <p:cNvSpPr/>
          <p:nvPr/>
        </p:nvSpPr>
        <p:spPr>
          <a:xfrm>
            <a:off x="470070" y="953786"/>
            <a:ext cx="8161500" cy="1385100"/>
          </a:xfrm>
          <a:prstGeom prst="rect">
            <a:avLst/>
          </a:prstGeom>
          <a:no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zh-TW" sz="1400" b="0" i="0" u="none" strike="noStrike" cap="none" dirty="0">
                <a:solidFill>
                  <a:srgbClr val="000000"/>
                </a:solidFill>
                <a:latin typeface="Microsoft JhengHei"/>
                <a:ea typeface="Microsoft JhengHei"/>
                <a:cs typeface="Microsoft JhengHei"/>
                <a:sym typeface="Microsoft JhengHei"/>
              </a:rPr>
              <a:t>AI ASIC 供應鏈自上而下可分為上游的先進製程與先進封裝（TSMC／CoWoS／HBM）、中游的設計服務商（如 Alchip、GUC、MediaTek、Broadcom、Marvell），以及下游的雲端服務客戶（Google、AWS、Meta、Microsoft）。隨著 3nm 向 2nm 過渡與 HBM4 導入，設計服務與投片需求同步擴大，世芯與創意受惠於大型 CSP 專案推進；然而 CoWoS 產能與 HBM 供給仍構成短期瓶頸，而 CSP 為壓縮時程採 COT 模式，雖能加快落地但對中游毛利形成擠壓。後續觀察重點包括 2nm／HBM4 的量產時程、CSP 專案轉量進度，以及中游 ASP 與 NRE 的動能變化。</a:t>
            </a:r>
            <a:endParaRPr sz="1400" b="0" i="0" u="none" strike="noStrike" cap="none" dirty="0">
              <a:solidFill>
                <a:schemeClr val="dk1"/>
              </a:solidFill>
              <a:latin typeface="Microsoft JhengHei"/>
              <a:ea typeface="Microsoft JhengHei"/>
              <a:cs typeface="Microsoft JhengHei"/>
              <a:sym typeface="Microsoft JhengHei"/>
            </a:endParaRPr>
          </a:p>
        </p:txBody>
      </p:sp>
      <p:sp>
        <p:nvSpPr>
          <p:cNvPr id="641" name="Google Shape;641;p51"/>
          <p:cNvSpPr/>
          <p:nvPr/>
        </p:nvSpPr>
        <p:spPr>
          <a:xfrm>
            <a:off x="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FFFFFF"/>
                </a:solidFill>
                <a:latin typeface="Microsoft JhengHei"/>
                <a:ea typeface="Microsoft JhengHei"/>
                <a:cs typeface="Microsoft JhengHei"/>
                <a:sym typeface="Microsoft JhengHei"/>
              </a:rPr>
              <a:t>結論</a:t>
            </a:r>
            <a:endParaRPr sz="1100"/>
          </a:p>
        </p:txBody>
      </p:sp>
      <p:sp>
        <p:nvSpPr>
          <p:cNvPr id="642" name="Google Shape;642;p51"/>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643" name="Google Shape;643;p51"/>
          <p:cNvSpPr/>
          <p:nvPr/>
        </p:nvSpPr>
        <p:spPr>
          <a:xfrm>
            <a:off x="3058593"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chemeClr val="lt1"/>
                </a:solidFill>
                <a:latin typeface="Microsoft JhengHei"/>
                <a:ea typeface="Microsoft JhengHei"/>
                <a:cs typeface="Microsoft JhengHei"/>
                <a:sym typeface="Microsoft JhengHei"/>
              </a:rPr>
              <a:t>成長動能</a:t>
            </a:r>
            <a:endParaRPr sz="1100">
              <a:solidFill>
                <a:schemeClr val="lt1"/>
              </a:solidFill>
            </a:endParaRPr>
          </a:p>
        </p:txBody>
      </p:sp>
      <p:sp>
        <p:nvSpPr>
          <p:cNvPr id="644" name="Google Shape;644;p51"/>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645" name="Google Shape;645;p51"/>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646" name="Google Shape;646;p51"/>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chemeClr val="lt1"/>
                </a:solidFill>
                <a:latin typeface="Microsoft JhengHei"/>
                <a:ea typeface="Microsoft JhengHei"/>
                <a:cs typeface="Microsoft JhengHei"/>
                <a:sym typeface="Microsoft JhengHei"/>
              </a:rPr>
              <a:t>產業介紹</a:t>
            </a:r>
            <a:endParaRPr sz="1100">
              <a:solidFill>
                <a:schemeClr val="lt1"/>
              </a:solidFill>
            </a:endParaRPr>
          </a:p>
        </p:txBody>
      </p:sp>
      <p:sp>
        <p:nvSpPr>
          <p:cNvPr id="647" name="Google Shape;647;p51"/>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648" name="Google Shape;648;p51"/>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649" name="Google Shape;649;p51"/>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推薦個股</a:t>
            </a:r>
            <a:endParaRPr sz="1100">
              <a:solidFill>
                <a:srgbClr val="C9B4A5"/>
              </a:solidFill>
            </a:endParaRPr>
          </a:p>
        </p:txBody>
      </p:sp>
      <p:sp>
        <p:nvSpPr>
          <p:cNvPr id="650" name="Google Shape;650;p51"/>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產業介紹</a:t>
            </a:r>
            <a:endParaRPr sz="1100" b="1">
              <a:solidFill>
                <a:srgbClr val="C9B4A5"/>
              </a:solidFill>
              <a:latin typeface="Microsoft JhengHei"/>
              <a:ea typeface="Microsoft JhengHei"/>
              <a:cs typeface="Microsoft JhengHei"/>
              <a:sym typeface="Microsoft JhengHei"/>
            </a:endParaRPr>
          </a:p>
        </p:txBody>
      </p:sp>
      <p:sp>
        <p:nvSpPr>
          <p:cNvPr id="651" name="Google Shape;651;p51"/>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652" name="Google Shape;652;p51"/>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投資標的</a:t>
            </a:r>
            <a:endParaRPr sz="1100">
              <a:solidFill>
                <a:srgbClr val="C9B4A5"/>
              </a:solidFill>
            </a:endParaRPr>
          </a:p>
        </p:txBody>
      </p:sp>
      <p:sp>
        <p:nvSpPr>
          <p:cNvPr id="653" name="Google Shape;653;p51"/>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654" name="Google Shape;654;p51"/>
          <p:cNvSpPr/>
          <p:nvPr/>
        </p:nvSpPr>
        <p:spPr>
          <a:xfrm>
            <a:off x="305860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chemeClr val="lt1"/>
                </a:solidFill>
                <a:latin typeface="Microsoft JhengHei"/>
                <a:ea typeface="Microsoft JhengHei"/>
                <a:cs typeface="Microsoft JhengHei"/>
                <a:sym typeface="Microsoft JhengHei"/>
              </a:rPr>
              <a:t>成長動能</a:t>
            </a:r>
            <a:endParaRPr sz="1100">
              <a:solidFill>
                <a:schemeClr val="lt1"/>
              </a:solidFill>
            </a:endParaRPr>
          </a:p>
        </p:txBody>
      </p:sp>
      <p:sp>
        <p:nvSpPr>
          <p:cNvPr id="655" name="Google Shape;655;p51"/>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graphicFrame>
        <p:nvGraphicFramePr>
          <p:cNvPr id="2" name="圖表 1">
            <a:extLst>
              <a:ext uri="{FF2B5EF4-FFF2-40B4-BE49-F238E27FC236}">
                <a16:creationId xmlns:a16="http://schemas.microsoft.com/office/drawing/2014/main" id="{0ABD32F9-C865-DFD5-24B7-7B68B3BE803B}"/>
              </a:ext>
            </a:extLst>
          </p:cNvPr>
          <p:cNvGraphicFramePr/>
          <p:nvPr>
            <p:extLst>
              <p:ext uri="{D42A27DB-BD31-4B8C-83A1-F6EECF244321}">
                <p14:modId xmlns:p14="http://schemas.microsoft.com/office/powerpoint/2010/main" val="4162079003"/>
              </p:ext>
            </p:extLst>
          </p:nvPr>
        </p:nvGraphicFramePr>
        <p:xfrm>
          <a:off x="4663290" y="2668368"/>
          <a:ext cx="4025400" cy="2004745"/>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52"/>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662" name="Google Shape;662;p52"/>
          <p:cNvGrpSpPr/>
          <p:nvPr/>
        </p:nvGrpSpPr>
        <p:grpSpPr>
          <a:xfrm>
            <a:off x="242301" y="434035"/>
            <a:ext cx="484808" cy="484808"/>
            <a:chOff x="1628775" y="1381125"/>
            <a:chExt cx="1352700" cy="1352700"/>
          </a:xfrm>
        </p:grpSpPr>
        <p:sp>
          <p:nvSpPr>
            <p:cNvPr id="663" name="Google Shape;663;p52"/>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微軟正黑體" panose="020B0604030504040204" pitchFamily="34" charset="-120"/>
                <a:ea typeface="微軟正黑體" panose="020B0604030504040204" pitchFamily="34" charset="-120"/>
                <a:cs typeface="Calibri"/>
                <a:sym typeface="Calibri"/>
              </a:endParaRPr>
            </a:p>
          </p:txBody>
        </p:sp>
        <p:pic>
          <p:nvPicPr>
            <p:cNvPr id="664" name="Google Shape;664;p52"/>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665" name="Google Shape;665;p52"/>
          <p:cNvSpPr txBox="1"/>
          <p:nvPr/>
        </p:nvSpPr>
        <p:spPr>
          <a:xfrm>
            <a:off x="696332" y="511977"/>
            <a:ext cx="79464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800"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ASIC 市場規模將以 25% CAGR 穩定成長</a:t>
            </a:r>
            <a:endParaRPr sz="1800" dirty="0">
              <a:latin typeface="微軟正黑體" panose="020B0604030504040204" pitchFamily="34" charset="-120"/>
              <a:ea typeface="微軟正黑體" panose="020B0604030504040204" pitchFamily="34" charset="-120"/>
              <a:cs typeface="Microsoft JhengHei"/>
              <a:sym typeface="Microsoft JhengHei"/>
            </a:endParaRPr>
          </a:p>
        </p:txBody>
      </p:sp>
      <p:cxnSp>
        <p:nvCxnSpPr>
          <p:cNvPr id="666" name="Google Shape;666;p52"/>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667" name="Google Shape;667;p52"/>
          <p:cNvSpPr txBox="1"/>
          <p:nvPr/>
        </p:nvSpPr>
        <p:spPr>
          <a:xfrm>
            <a:off x="272775" y="4884250"/>
            <a:ext cx="6204600" cy="24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資料來源：</a:t>
            </a:r>
            <a:r>
              <a:rPr lang="zh-TW" sz="1100"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Morgan Stanley Research , DIGITIMES</a:t>
            </a:r>
            <a:endParaRPr sz="1100" dirty="0">
              <a:latin typeface="微軟正黑體" panose="020B0604030504040204" pitchFamily="34" charset="-120"/>
              <a:ea typeface="微軟正黑體" panose="020B0604030504040204" pitchFamily="34" charset="-120"/>
            </a:endParaRPr>
          </a:p>
        </p:txBody>
      </p:sp>
      <p:sp>
        <p:nvSpPr>
          <p:cNvPr id="668" name="Google Shape;668;p52"/>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latin typeface="微軟正黑體" panose="020B0604030504040204" pitchFamily="34" charset="-120"/>
                <a:ea typeface="微軟正黑體" panose="020B0604030504040204" pitchFamily="34" charset="-120"/>
              </a:rPr>
              <a:t>16</a:t>
            </a:fld>
            <a:endParaRPr>
              <a:latin typeface="微軟正黑體" panose="020B0604030504040204" pitchFamily="34" charset="-120"/>
              <a:ea typeface="微軟正黑體" panose="020B0604030504040204" pitchFamily="34" charset="-120"/>
            </a:endParaRPr>
          </a:p>
        </p:txBody>
      </p:sp>
      <p:sp>
        <p:nvSpPr>
          <p:cNvPr id="669" name="Google Shape;669;p52"/>
          <p:cNvSpPr/>
          <p:nvPr/>
        </p:nvSpPr>
        <p:spPr>
          <a:xfrm>
            <a:off x="439700" y="1089650"/>
            <a:ext cx="8254200" cy="9657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微軟正黑體" panose="020B0604030504040204" pitchFamily="34" charset="-120"/>
              <a:ea typeface="微軟正黑體" panose="020B0604030504040204" pitchFamily="34" charset="-120"/>
              <a:cs typeface="Calibri"/>
              <a:sym typeface="Calibri"/>
            </a:endParaRPr>
          </a:p>
        </p:txBody>
      </p:sp>
      <p:sp>
        <p:nvSpPr>
          <p:cNvPr id="670" name="Google Shape;670;p52"/>
          <p:cNvSpPr/>
          <p:nvPr/>
        </p:nvSpPr>
        <p:spPr>
          <a:xfrm>
            <a:off x="3058584"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成長動能</a:t>
            </a:r>
            <a:endParaRPr sz="1100">
              <a:solidFill>
                <a:srgbClr val="C9B4A5"/>
              </a:solidFill>
              <a:latin typeface="微軟正黑體" panose="020B0604030504040204" pitchFamily="34" charset="-120"/>
              <a:ea typeface="微軟正黑體" panose="020B0604030504040204" pitchFamily="34" charset="-120"/>
            </a:endParaRPr>
          </a:p>
        </p:txBody>
      </p:sp>
      <p:sp>
        <p:nvSpPr>
          <p:cNvPr id="671" name="Google Shape;671;p52"/>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潛在風險</a:t>
            </a:r>
            <a:endParaRPr sz="1100">
              <a:solidFill>
                <a:srgbClr val="C9B4A5"/>
              </a:solidFill>
              <a:latin typeface="微軟正黑體" panose="020B0604030504040204" pitchFamily="34" charset="-120"/>
              <a:ea typeface="微軟正黑體" panose="020B0604030504040204" pitchFamily="34" charset="-120"/>
            </a:endParaRPr>
          </a:p>
        </p:txBody>
      </p:sp>
      <p:sp>
        <p:nvSpPr>
          <p:cNvPr id="672" name="Google Shape;672;p52"/>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投資標的</a:t>
            </a:r>
            <a:endParaRPr sz="1100">
              <a:solidFill>
                <a:srgbClr val="C9B4A5"/>
              </a:solidFill>
              <a:latin typeface="微軟正黑體" panose="020B0604030504040204" pitchFamily="34" charset="-120"/>
              <a:ea typeface="微軟正黑體" panose="020B0604030504040204" pitchFamily="34" charset="-120"/>
            </a:endParaRPr>
          </a:p>
        </p:txBody>
      </p:sp>
      <p:sp>
        <p:nvSpPr>
          <p:cNvPr id="673" name="Google Shape;673;p52"/>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sz="1100">
              <a:solidFill>
                <a:srgbClr val="C9B4A5"/>
              </a:solidFill>
              <a:latin typeface="微軟正黑體" panose="020B0604030504040204" pitchFamily="34" charset="-120"/>
              <a:ea typeface="微軟正黑體" panose="020B0604030504040204" pitchFamily="34" charset="-120"/>
            </a:endParaRPr>
          </a:p>
        </p:txBody>
      </p:sp>
      <p:sp>
        <p:nvSpPr>
          <p:cNvPr id="674" name="Google Shape;674;p52"/>
          <p:cNvSpPr/>
          <p:nvPr/>
        </p:nvSpPr>
        <p:spPr>
          <a:xfrm>
            <a:off x="1529288"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FFFFFF"/>
                </a:solidFill>
                <a:latin typeface="微軟正黑體" panose="020B0604030504040204" pitchFamily="34" charset="-120"/>
                <a:ea typeface="微軟正黑體" panose="020B0604030504040204" pitchFamily="34" charset="-120"/>
                <a:cs typeface="Microsoft JhengHei"/>
                <a:sym typeface="Microsoft JhengHei"/>
              </a:rPr>
              <a:t>產業介紹</a:t>
            </a:r>
            <a:endParaRPr sz="1100">
              <a:latin typeface="微軟正黑體" panose="020B0604030504040204" pitchFamily="34" charset="-120"/>
              <a:ea typeface="微軟正黑體" panose="020B0604030504040204" pitchFamily="34" charset="-120"/>
            </a:endParaRPr>
          </a:p>
        </p:txBody>
      </p:sp>
      <p:sp>
        <p:nvSpPr>
          <p:cNvPr id="675" name="Google Shape;675;p52"/>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sz="1100">
              <a:solidFill>
                <a:srgbClr val="C9B4A5"/>
              </a:solidFill>
              <a:latin typeface="微軟正黑體" panose="020B0604030504040204" pitchFamily="34" charset="-120"/>
              <a:ea typeface="微軟正黑體" panose="020B0604030504040204" pitchFamily="34" charset="-120"/>
            </a:endParaRPr>
          </a:p>
        </p:txBody>
      </p:sp>
      <p:sp>
        <p:nvSpPr>
          <p:cNvPr id="676" name="Google Shape;676;p52"/>
          <p:cNvSpPr/>
          <p:nvPr/>
        </p:nvSpPr>
        <p:spPr>
          <a:xfrm>
            <a:off x="439700" y="2178225"/>
            <a:ext cx="4069200" cy="3123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dirty="0">
                <a:latin typeface="微軟正黑體" panose="020B0604030504040204" pitchFamily="34" charset="-120"/>
                <a:ea typeface="微軟正黑體" panose="020B0604030504040204" pitchFamily="34" charset="-120"/>
              </a:rPr>
              <a:t>ASIC市場規模預估(百萬美元)</a:t>
            </a:r>
            <a:endParaRPr b="1" dirty="0">
              <a:latin typeface="微軟正黑體" panose="020B0604030504040204" pitchFamily="34" charset="-120"/>
              <a:ea typeface="微軟正黑體" panose="020B0604030504040204" pitchFamily="34" charset="-120"/>
            </a:endParaRPr>
          </a:p>
        </p:txBody>
      </p:sp>
      <p:sp>
        <p:nvSpPr>
          <p:cNvPr id="677" name="Google Shape;677;p52"/>
          <p:cNvSpPr txBox="1"/>
          <p:nvPr/>
        </p:nvSpPr>
        <p:spPr>
          <a:xfrm>
            <a:off x="439700" y="1111423"/>
            <a:ext cx="8254200" cy="930994"/>
          </a:xfrm>
          <a:prstGeom prst="rect">
            <a:avLst/>
          </a:prstGeom>
          <a:noFill/>
          <a:ln>
            <a:noFill/>
          </a:ln>
        </p:spPr>
        <p:txBody>
          <a:bodyPr spcFirstLastPara="1" wrap="square" lIns="68575" tIns="34275" rIns="68575" bIns="34275" anchor="t" anchorCtr="0">
            <a:spAutoFit/>
          </a:bodyPr>
          <a:lstStyle/>
          <a:p>
            <a:pPr marL="431800" lvl="0" indent="-285750" algn="l" rtl="0">
              <a:spcBef>
                <a:spcPts val="0"/>
              </a:spcBef>
              <a:spcAft>
                <a:spcPts val="0"/>
              </a:spcAft>
              <a:buClr>
                <a:schemeClr val="dk1"/>
              </a:buClr>
              <a:buSzPts val="1300"/>
              <a:buFont typeface="Arial" panose="020B0604020202020204" pitchFamily="34" charset="0"/>
              <a:buChar char="•"/>
            </a:pPr>
            <a:r>
              <a:rPr 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根據預期，雲端 AI ASIC 市場將持續高速成長，</a:t>
            </a:r>
            <a:r>
              <a:rPr lang="zh-TW"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市場規模將從 2024 年的 132 億美元提升至 2030 年的 500 億美元，年均複合成長率（CAGR）約 25%</a:t>
            </a:r>
            <a:r>
              <a:rPr 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，屆時將佔整體雲端 AI 晶片市場約 15%。</a:t>
            </a:r>
            <a:endParaRPr dirty="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431800" lvl="0" indent="-285750" algn="l" rtl="0">
              <a:spcBef>
                <a:spcPts val="0"/>
              </a:spcBef>
              <a:spcAft>
                <a:spcPts val="0"/>
              </a:spcAft>
              <a:buClr>
                <a:schemeClr val="dk1"/>
              </a:buClr>
              <a:buSzPts val="1300"/>
              <a:buFont typeface="Arial" panose="020B0604020202020204" pitchFamily="34" charset="0"/>
              <a:buChar char="•"/>
            </a:pPr>
            <a:r>
              <a:rPr 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在出貨量方面，</a:t>
            </a:r>
            <a:r>
              <a:rPr lang="zh-TW"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2025 年至 2029 年將由 558 萬顆增加至 1,196 萬顆，CAGR 約 21%</a:t>
            </a:r>
            <a:r>
              <a:rPr 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，顯示雲端業者對自研 AI 晶片的需求快速上升，成為 AI 基礎建設成長的重要推動力。</a:t>
            </a:r>
            <a:endParaRPr dirty="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678" name="Google Shape;678;p52"/>
          <p:cNvSpPr/>
          <p:nvPr/>
        </p:nvSpPr>
        <p:spPr>
          <a:xfrm>
            <a:off x="4587900" y="2178300"/>
            <a:ext cx="4143900" cy="3123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dirty="0">
                <a:latin typeface="微軟正黑體" panose="020B0604030504040204" pitchFamily="34" charset="-120"/>
                <a:ea typeface="微軟正黑體" panose="020B0604030504040204" pitchFamily="34" charset="-120"/>
              </a:rPr>
              <a:t>高階ASIC出貨量</a:t>
            </a:r>
            <a:endParaRPr b="1" dirty="0">
              <a:latin typeface="微軟正黑體" panose="020B0604030504040204" pitchFamily="34" charset="-120"/>
              <a:ea typeface="微軟正黑體" panose="020B0604030504040204" pitchFamily="34" charset="-120"/>
            </a:endParaRPr>
          </a:p>
        </p:txBody>
      </p:sp>
      <p:sp>
        <p:nvSpPr>
          <p:cNvPr id="679" name="Google Shape;679;p52"/>
          <p:cNvSpPr/>
          <p:nvPr/>
        </p:nvSpPr>
        <p:spPr>
          <a:xfrm>
            <a:off x="4587876" y="2586169"/>
            <a:ext cx="564000" cy="5958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K unit</a:t>
            </a:r>
            <a:endParaRPr sz="1100" dirty="0">
              <a:latin typeface="微軟正黑體" panose="020B0604030504040204" pitchFamily="34" charset="-120"/>
              <a:ea typeface="微軟正黑體" panose="020B0604030504040204" pitchFamily="34" charset="-120"/>
            </a:endParaRPr>
          </a:p>
        </p:txBody>
      </p:sp>
      <p:sp>
        <p:nvSpPr>
          <p:cNvPr id="680" name="Google Shape;680;p52"/>
          <p:cNvSpPr/>
          <p:nvPr/>
        </p:nvSpPr>
        <p:spPr>
          <a:xfrm>
            <a:off x="4587876" y="3277914"/>
            <a:ext cx="564000" cy="5958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zh-TW" sz="1100" dirty="0">
                <a:latin typeface="微軟正黑體" panose="020B0604030504040204" pitchFamily="34" charset="-120"/>
                <a:ea typeface="微軟正黑體" panose="020B0604030504040204" pitchFamily="34" charset="-120"/>
              </a:rPr>
              <a:t>出貨量</a:t>
            </a:r>
            <a:endParaRPr sz="1100" dirty="0">
              <a:latin typeface="微軟正黑體" panose="020B0604030504040204" pitchFamily="34" charset="-120"/>
              <a:ea typeface="微軟正黑體" panose="020B0604030504040204" pitchFamily="34" charset="-120"/>
            </a:endParaRPr>
          </a:p>
        </p:txBody>
      </p:sp>
      <p:sp>
        <p:nvSpPr>
          <p:cNvPr id="681" name="Google Shape;681;p52"/>
          <p:cNvSpPr/>
          <p:nvPr/>
        </p:nvSpPr>
        <p:spPr>
          <a:xfrm>
            <a:off x="4587876" y="3971942"/>
            <a:ext cx="564000" cy="5958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YoY</a:t>
            </a:r>
            <a:endParaRPr sz="1100" dirty="0">
              <a:latin typeface="微軟正黑體" panose="020B0604030504040204" pitchFamily="34" charset="-120"/>
              <a:ea typeface="微軟正黑體" panose="020B0604030504040204" pitchFamily="34" charset="-120"/>
            </a:endParaRPr>
          </a:p>
        </p:txBody>
      </p:sp>
      <p:sp>
        <p:nvSpPr>
          <p:cNvPr id="682" name="Google Shape;682;p52"/>
          <p:cNvSpPr/>
          <p:nvPr/>
        </p:nvSpPr>
        <p:spPr>
          <a:xfrm>
            <a:off x="5184481" y="3277911"/>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4082</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3" name="Google Shape;683;p52"/>
          <p:cNvSpPr/>
          <p:nvPr/>
        </p:nvSpPr>
        <p:spPr>
          <a:xfrm>
            <a:off x="5184481" y="3969658"/>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202%</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4" name="Google Shape;684;p52"/>
          <p:cNvSpPr/>
          <p:nvPr/>
        </p:nvSpPr>
        <p:spPr>
          <a:xfrm>
            <a:off x="5781287" y="3277947"/>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5581</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5" name="Google Shape;685;p52"/>
          <p:cNvSpPr/>
          <p:nvPr/>
        </p:nvSpPr>
        <p:spPr>
          <a:xfrm>
            <a:off x="5781287" y="3971988"/>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37%</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6" name="Google Shape;686;p52"/>
          <p:cNvSpPr/>
          <p:nvPr/>
        </p:nvSpPr>
        <p:spPr>
          <a:xfrm>
            <a:off x="6377689" y="3277968"/>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7620</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7" name="Google Shape;687;p52"/>
          <p:cNvSpPr/>
          <p:nvPr/>
        </p:nvSpPr>
        <p:spPr>
          <a:xfrm>
            <a:off x="6377689" y="3972006"/>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37%</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8" name="Google Shape;688;p52"/>
          <p:cNvSpPr/>
          <p:nvPr/>
        </p:nvSpPr>
        <p:spPr>
          <a:xfrm>
            <a:off x="6974353" y="3277968"/>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9906</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89" name="Google Shape;689;p52"/>
          <p:cNvSpPr/>
          <p:nvPr/>
        </p:nvSpPr>
        <p:spPr>
          <a:xfrm>
            <a:off x="6974353" y="3972006"/>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30%</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90" name="Google Shape;690;p52"/>
          <p:cNvSpPr/>
          <p:nvPr/>
        </p:nvSpPr>
        <p:spPr>
          <a:xfrm>
            <a:off x="7571012" y="3277968"/>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11391</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691" name="Google Shape;691;p52"/>
          <p:cNvSpPr/>
          <p:nvPr/>
        </p:nvSpPr>
        <p:spPr>
          <a:xfrm>
            <a:off x="7571012" y="3972006"/>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15%</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grpSp>
        <p:nvGrpSpPr>
          <p:cNvPr id="692" name="Google Shape;692;p52"/>
          <p:cNvGrpSpPr/>
          <p:nvPr/>
        </p:nvGrpSpPr>
        <p:grpSpPr>
          <a:xfrm>
            <a:off x="5184485" y="2585050"/>
            <a:ext cx="3547185" cy="596964"/>
            <a:chOff x="5184485" y="2585050"/>
            <a:chExt cx="3547185" cy="596964"/>
          </a:xfrm>
        </p:grpSpPr>
        <p:sp>
          <p:nvSpPr>
            <p:cNvPr id="693" name="Google Shape;693;p52"/>
            <p:cNvSpPr/>
            <p:nvPr/>
          </p:nvSpPr>
          <p:spPr>
            <a:xfrm>
              <a:off x="5184485" y="2586169"/>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dirty="0">
                  <a:solidFill>
                    <a:schemeClr val="lt1"/>
                  </a:solidFill>
                  <a:latin typeface="微軟正黑體" panose="020B0604030504040204" pitchFamily="34" charset="-120"/>
                  <a:ea typeface="微軟正黑體" panose="020B0604030504040204" pitchFamily="34" charset="-120"/>
                </a:rPr>
                <a:t>2024</a:t>
              </a:r>
              <a:endParaRPr sz="1200" dirty="0">
                <a:solidFill>
                  <a:schemeClr val="lt1"/>
                </a:solidFill>
                <a:latin typeface="微軟正黑體" panose="020B0604030504040204" pitchFamily="34" charset="-120"/>
                <a:ea typeface="微軟正黑體" panose="020B0604030504040204" pitchFamily="34" charset="-120"/>
              </a:endParaRPr>
            </a:p>
          </p:txBody>
        </p:sp>
        <p:sp>
          <p:nvSpPr>
            <p:cNvPr id="694" name="Google Shape;694;p52"/>
            <p:cNvSpPr/>
            <p:nvPr/>
          </p:nvSpPr>
          <p:spPr>
            <a:xfrm>
              <a:off x="5781286" y="2586190"/>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lt1"/>
                  </a:solidFill>
                  <a:latin typeface="微軟正黑體" panose="020B0604030504040204" pitchFamily="34" charset="-120"/>
                  <a:ea typeface="微軟正黑體" panose="020B0604030504040204" pitchFamily="34" charset="-120"/>
                </a:rPr>
                <a:t>2025</a:t>
              </a:r>
              <a:endParaRPr sz="1200">
                <a:solidFill>
                  <a:schemeClr val="lt1"/>
                </a:solidFill>
                <a:latin typeface="微軟正黑體" panose="020B0604030504040204" pitchFamily="34" charset="-120"/>
                <a:ea typeface="微軟正黑體" panose="020B0604030504040204" pitchFamily="34" charset="-120"/>
              </a:endParaRPr>
            </a:p>
          </p:txBody>
        </p:sp>
        <p:sp>
          <p:nvSpPr>
            <p:cNvPr id="695" name="Google Shape;695;p52"/>
            <p:cNvSpPr/>
            <p:nvPr/>
          </p:nvSpPr>
          <p:spPr>
            <a:xfrm>
              <a:off x="6377688" y="2586214"/>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lt1"/>
                  </a:solidFill>
                  <a:latin typeface="微軟正黑體" panose="020B0604030504040204" pitchFamily="34" charset="-120"/>
                  <a:ea typeface="微軟正黑體" panose="020B0604030504040204" pitchFamily="34" charset="-120"/>
                </a:rPr>
                <a:t>2026</a:t>
              </a:r>
              <a:endParaRPr sz="1200">
                <a:solidFill>
                  <a:schemeClr val="lt1"/>
                </a:solidFill>
                <a:latin typeface="微軟正黑體" panose="020B0604030504040204" pitchFamily="34" charset="-120"/>
                <a:ea typeface="微軟正黑體" panose="020B0604030504040204" pitchFamily="34" charset="-120"/>
              </a:endParaRPr>
            </a:p>
          </p:txBody>
        </p:sp>
        <p:sp>
          <p:nvSpPr>
            <p:cNvPr id="696" name="Google Shape;696;p52"/>
            <p:cNvSpPr/>
            <p:nvPr/>
          </p:nvSpPr>
          <p:spPr>
            <a:xfrm>
              <a:off x="6974352" y="2586214"/>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lt1"/>
                  </a:solidFill>
                  <a:latin typeface="微軟正黑體" panose="020B0604030504040204" pitchFamily="34" charset="-120"/>
                  <a:ea typeface="微軟正黑體" panose="020B0604030504040204" pitchFamily="34" charset="-120"/>
                </a:rPr>
                <a:t>2027</a:t>
              </a:r>
              <a:endParaRPr sz="1200">
                <a:solidFill>
                  <a:schemeClr val="lt1"/>
                </a:solidFill>
                <a:latin typeface="微軟正黑體" panose="020B0604030504040204" pitchFamily="34" charset="-120"/>
                <a:ea typeface="微軟正黑體" panose="020B0604030504040204" pitchFamily="34" charset="-120"/>
              </a:endParaRPr>
            </a:p>
          </p:txBody>
        </p:sp>
        <p:sp>
          <p:nvSpPr>
            <p:cNvPr id="697" name="Google Shape;697;p52"/>
            <p:cNvSpPr/>
            <p:nvPr/>
          </p:nvSpPr>
          <p:spPr>
            <a:xfrm>
              <a:off x="7571011" y="2586214"/>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lt1"/>
                  </a:solidFill>
                  <a:latin typeface="微軟正黑體" panose="020B0604030504040204" pitchFamily="34" charset="-120"/>
                  <a:ea typeface="微軟正黑體" panose="020B0604030504040204" pitchFamily="34" charset="-120"/>
                </a:rPr>
                <a:t>2028</a:t>
              </a:r>
              <a:endParaRPr sz="1200">
                <a:solidFill>
                  <a:schemeClr val="lt1"/>
                </a:solidFill>
                <a:latin typeface="微軟正黑體" panose="020B0604030504040204" pitchFamily="34" charset="-120"/>
                <a:ea typeface="微軟正黑體" panose="020B0604030504040204" pitchFamily="34" charset="-120"/>
              </a:endParaRPr>
            </a:p>
          </p:txBody>
        </p:sp>
        <p:sp>
          <p:nvSpPr>
            <p:cNvPr id="698" name="Google Shape;698;p52"/>
            <p:cNvSpPr/>
            <p:nvPr/>
          </p:nvSpPr>
          <p:spPr>
            <a:xfrm>
              <a:off x="8167670" y="2585050"/>
              <a:ext cx="564000" cy="5958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lt1"/>
                  </a:solidFill>
                  <a:latin typeface="微軟正黑體" panose="020B0604030504040204" pitchFamily="34" charset="-120"/>
                  <a:ea typeface="微軟正黑體" panose="020B0604030504040204" pitchFamily="34" charset="-120"/>
                </a:rPr>
                <a:t>2029</a:t>
              </a:r>
              <a:endParaRPr sz="1200">
                <a:solidFill>
                  <a:schemeClr val="lt1"/>
                </a:solidFill>
                <a:latin typeface="微軟正黑體" panose="020B0604030504040204" pitchFamily="34" charset="-120"/>
                <a:ea typeface="微軟正黑體" panose="020B0604030504040204" pitchFamily="34" charset="-120"/>
              </a:endParaRPr>
            </a:p>
          </p:txBody>
        </p:sp>
      </p:grpSp>
      <p:sp>
        <p:nvSpPr>
          <p:cNvPr id="699" name="Google Shape;699;p52"/>
          <p:cNvSpPr/>
          <p:nvPr/>
        </p:nvSpPr>
        <p:spPr>
          <a:xfrm>
            <a:off x="8167671" y="3276804"/>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11961</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700" name="Google Shape;700;p52"/>
          <p:cNvSpPr/>
          <p:nvPr/>
        </p:nvSpPr>
        <p:spPr>
          <a:xfrm>
            <a:off x="8167671" y="3970842"/>
            <a:ext cx="564000" cy="595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200">
                <a:solidFill>
                  <a:schemeClr val="dk1"/>
                </a:solidFill>
                <a:latin typeface="微軟正黑體" panose="020B0604030504040204" pitchFamily="34" charset="-120"/>
                <a:ea typeface="微軟正黑體" panose="020B0604030504040204" pitchFamily="34" charset="-120"/>
                <a:cs typeface="Calibri"/>
                <a:sym typeface="Calibri"/>
              </a:rPr>
              <a:t>5%</a:t>
            </a:r>
            <a:endParaRPr sz="1200">
              <a:solidFill>
                <a:schemeClr val="dk1"/>
              </a:solidFill>
              <a:latin typeface="微軟正黑體" panose="020B0604030504040204" pitchFamily="34" charset="-120"/>
              <a:ea typeface="微軟正黑體" panose="020B0604030504040204" pitchFamily="34" charset="-120"/>
              <a:cs typeface="Calibri"/>
              <a:sym typeface="Calibri"/>
            </a:endParaRPr>
          </a:p>
        </p:txBody>
      </p:sp>
      <p:pic>
        <p:nvPicPr>
          <p:cNvPr id="701" name="Google Shape;701;p52"/>
          <p:cNvPicPr preferRelativeResize="0"/>
          <p:nvPr/>
        </p:nvPicPr>
        <p:blipFill rotWithShape="1">
          <a:blip r:embed="rId5">
            <a:alphaModFix/>
          </a:blip>
          <a:srcRect l="13431" t="21188" r="13613" b="22817"/>
          <a:stretch/>
        </p:blipFill>
        <p:spPr>
          <a:xfrm>
            <a:off x="439700" y="2490525"/>
            <a:ext cx="4069201" cy="2330526"/>
          </a:xfrm>
          <a:prstGeom prst="rect">
            <a:avLst/>
          </a:prstGeom>
          <a:noFill/>
          <a:ln>
            <a:noFill/>
          </a:ln>
        </p:spPr>
      </p:pic>
      <p:sp>
        <p:nvSpPr>
          <p:cNvPr id="702" name="Google Shape;702;p52"/>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產業介紹</a:t>
            </a:r>
            <a:endParaRPr sz="1100" b="1">
              <a:solidFill>
                <a:srgbClr val="C9B4A5"/>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703" name="Google Shape;703;p52"/>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潛在風險</a:t>
            </a:r>
            <a:endParaRPr sz="1100">
              <a:solidFill>
                <a:srgbClr val="C9B4A5"/>
              </a:solidFill>
              <a:latin typeface="微軟正黑體" panose="020B0604030504040204" pitchFamily="34" charset="-120"/>
              <a:ea typeface="微軟正黑體" panose="020B0604030504040204" pitchFamily="34" charset="-120"/>
            </a:endParaRPr>
          </a:p>
        </p:txBody>
      </p:sp>
      <p:sp>
        <p:nvSpPr>
          <p:cNvPr id="704" name="Google Shape;704;p52"/>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投資標的</a:t>
            </a:r>
            <a:endParaRPr sz="1100">
              <a:solidFill>
                <a:srgbClr val="C9B4A5"/>
              </a:solidFill>
              <a:latin typeface="微軟正黑體" panose="020B0604030504040204" pitchFamily="34" charset="-120"/>
              <a:ea typeface="微軟正黑體" panose="020B0604030504040204" pitchFamily="34" charset="-120"/>
            </a:endParaRPr>
          </a:p>
        </p:txBody>
      </p:sp>
      <p:sp>
        <p:nvSpPr>
          <p:cNvPr id="705" name="Google Shape;705;p52"/>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sz="1100">
              <a:solidFill>
                <a:srgbClr val="C9B4A5"/>
              </a:solidFill>
              <a:latin typeface="微軟正黑體" panose="020B0604030504040204" pitchFamily="34" charset="-120"/>
              <a:ea typeface="微軟正黑體" panose="020B0604030504040204" pitchFamily="34" charset="-120"/>
            </a:endParaRPr>
          </a:p>
        </p:txBody>
      </p:sp>
      <p:sp>
        <p:nvSpPr>
          <p:cNvPr id="706" name="Google Shape;706;p52"/>
          <p:cNvSpPr/>
          <p:nvPr/>
        </p:nvSpPr>
        <p:spPr>
          <a:xfrm>
            <a:off x="305860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chemeClr val="lt1"/>
                </a:solidFill>
                <a:latin typeface="微軟正黑體" panose="020B0604030504040204" pitchFamily="34" charset="-120"/>
                <a:ea typeface="微軟正黑體" panose="020B0604030504040204" pitchFamily="34" charset="-120"/>
                <a:cs typeface="Microsoft JhengHei"/>
                <a:sym typeface="Microsoft JhengHei"/>
              </a:rPr>
              <a:t>成長動能</a:t>
            </a:r>
            <a:endParaRPr sz="1100">
              <a:solidFill>
                <a:schemeClr val="lt1"/>
              </a:solidFill>
              <a:latin typeface="微軟正黑體" panose="020B0604030504040204" pitchFamily="34" charset="-120"/>
              <a:ea typeface="微軟正黑體" panose="020B0604030504040204" pitchFamily="34" charset="-120"/>
            </a:endParaRPr>
          </a:p>
        </p:txBody>
      </p:sp>
      <p:sp>
        <p:nvSpPr>
          <p:cNvPr id="707" name="Google Shape;707;p52"/>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sz="1100">
              <a:solidFill>
                <a:srgbClr val="C9B4A5"/>
              </a:solidFill>
              <a:latin typeface="微軟正黑體" panose="020B0604030504040204" pitchFamily="34" charset="-120"/>
              <a:ea typeface="微軟正黑體" panose="020B0604030504040204" pitchFamily="34" charset="-12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53"/>
          <p:cNvSpPr/>
          <p:nvPr/>
        </p:nvSpPr>
        <p:spPr>
          <a:xfrm>
            <a:off x="6265158" y="1048038"/>
            <a:ext cx="303900" cy="3203100"/>
          </a:xfrm>
          <a:prstGeom prst="roundRect">
            <a:avLst>
              <a:gd name="adj" fmla="val 50000"/>
            </a:avLst>
          </a:prstGeom>
          <a:solidFill>
            <a:srgbClr val="F5E5D4"/>
          </a:solidFill>
          <a:ln>
            <a:noFill/>
          </a:ln>
          <a:effectLst>
            <a:outerShdw blurRad="241300" dist="38100" sx="102000" sy="102000" algn="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14" name="Google Shape;714;p53"/>
          <p:cNvSpPr/>
          <p:nvPr/>
        </p:nvSpPr>
        <p:spPr>
          <a:xfrm>
            <a:off x="58" y="0"/>
            <a:ext cx="5790300" cy="5143500"/>
          </a:xfrm>
          <a:prstGeom prst="rect">
            <a:avLst/>
          </a:prstGeom>
          <a:solidFill>
            <a:srgbClr val="F1A63B"/>
          </a:solidFill>
          <a:ln>
            <a:noFill/>
          </a:ln>
          <a:effectLst>
            <a:outerShdw blurRad="469900" dist="38100" algn="l" rotWithShape="0">
              <a:srgbClr val="000000">
                <a:alpha val="3882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dk1"/>
              </a:solidFill>
              <a:latin typeface="Microsoft JhengHei"/>
              <a:ea typeface="Microsoft JhengHei"/>
              <a:cs typeface="Microsoft JhengHei"/>
              <a:sym typeface="Microsoft JhengHei"/>
            </a:endParaRPr>
          </a:p>
        </p:txBody>
      </p:sp>
      <p:pic>
        <p:nvPicPr>
          <p:cNvPr id="715" name="Google Shape;715;p53"/>
          <p:cNvPicPr preferRelativeResize="0"/>
          <p:nvPr/>
        </p:nvPicPr>
        <p:blipFill rotWithShape="1">
          <a:blip r:embed="rId3">
            <a:alphaModFix/>
          </a:blip>
          <a:srcRect/>
          <a:stretch/>
        </p:blipFill>
        <p:spPr>
          <a:xfrm>
            <a:off x="7646482" y="4902041"/>
            <a:ext cx="1085425" cy="168988"/>
          </a:xfrm>
          <a:prstGeom prst="rect">
            <a:avLst/>
          </a:prstGeom>
          <a:noFill/>
          <a:ln>
            <a:noFill/>
          </a:ln>
        </p:spPr>
      </p:pic>
      <p:sp>
        <p:nvSpPr>
          <p:cNvPr id="716" name="Google Shape;716;p53"/>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US" altLang="zh-TW"/>
              <a:t>17</a:t>
            </a:fld>
            <a:endParaRPr/>
          </a:p>
        </p:txBody>
      </p:sp>
      <p:sp>
        <p:nvSpPr>
          <p:cNvPr id="717" name="Google Shape;717;p53"/>
          <p:cNvSpPr txBox="1"/>
          <p:nvPr/>
        </p:nvSpPr>
        <p:spPr>
          <a:xfrm>
            <a:off x="6862496" y="703162"/>
            <a:ext cx="354900" cy="284700"/>
          </a:xfrm>
          <a:prstGeom prst="rect">
            <a:avLst/>
          </a:prstGeom>
          <a:noFill/>
          <a:ln>
            <a:noFill/>
          </a:ln>
        </p:spPr>
        <p:txBody>
          <a:bodyPr spcFirstLastPara="1" wrap="square" lIns="68575" tIns="34275" rIns="68575" bIns="34275" anchor="t" anchorCtr="0">
            <a:spAutoFit/>
          </a:bodyPr>
          <a:lstStyle/>
          <a:p>
            <a:pPr marL="215900" marR="0" lvl="0" indent="-127000" algn="l" rtl="0">
              <a:spcBef>
                <a:spcPts val="0"/>
              </a:spcBef>
              <a:spcAft>
                <a:spcPts val="0"/>
              </a:spcAft>
              <a:buClr>
                <a:schemeClr val="dk1"/>
              </a:buClr>
              <a:buSzPts val="1400"/>
              <a:buFont typeface="Noto Sans Symbols"/>
              <a:buNone/>
            </a:pPr>
            <a:endParaRPr sz="1400">
              <a:solidFill>
                <a:schemeClr val="dk1"/>
              </a:solidFill>
              <a:latin typeface="Calibri"/>
              <a:ea typeface="Calibri"/>
              <a:cs typeface="Calibri"/>
              <a:sym typeface="Calibri"/>
            </a:endParaRPr>
          </a:p>
        </p:txBody>
      </p:sp>
      <p:sp>
        <p:nvSpPr>
          <p:cNvPr id="718" name="Google Shape;718;p53"/>
          <p:cNvSpPr/>
          <p:nvPr/>
        </p:nvSpPr>
        <p:spPr>
          <a:xfrm>
            <a:off x="6265150" y="1048053"/>
            <a:ext cx="303900" cy="1756500"/>
          </a:xfrm>
          <a:prstGeom prst="roundRect">
            <a:avLst>
              <a:gd name="adj" fmla="val 50000"/>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19" name="Google Shape;719;p53"/>
          <p:cNvSpPr txBox="1"/>
          <p:nvPr/>
        </p:nvSpPr>
        <p:spPr>
          <a:xfrm>
            <a:off x="1440952" y="2260051"/>
            <a:ext cx="2908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3600" b="1">
                <a:solidFill>
                  <a:srgbClr val="422108"/>
                </a:solidFill>
                <a:latin typeface="Microsoft JhengHei"/>
                <a:ea typeface="Microsoft JhengHei"/>
                <a:cs typeface="Microsoft JhengHei"/>
                <a:sym typeface="Microsoft JhengHei"/>
              </a:rPr>
              <a:t>潛在風險</a:t>
            </a:r>
            <a:endParaRPr sz="3600">
              <a:solidFill>
                <a:srgbClr val="422108"/>
              </a:solidFill>
            </a:endParaRPr>
          </a:p>
        </p:txBody>
      </p:sp>
      <p:sp>
        <p:nvSpPr>
          <p:cNvPr id="720" name="Google Shape;720;p53"/>
          <p:cNvSpPr txBox="1"/>
          <p:nvPr/>
        </p:nvSpPr>
        <p:spPr>
          <a:xfrm>
            <a:off x="7109051" y="967048"/>
            <a:ext cx="1369500" cy="3209400"/>
          </a:xfrm>
          <a:prstGeom prst="rect">
            <a:avLst/>
          </a:prstGeom>
          <a:noFill/>
          <a:ln>
            <a:noFill/>
          </a:ln>
        </p:spPr>
        <p:txBody>
          <a:bodyPr spcFirstLastPara="1" wrap="square" lIns="68575" tIns="34275" rIns="68575" bIns="34275" anchor="t" anchorCtr="0">
            <a:spAutoFit/>
          </a:bodyPr>
          <a:lstStyle/>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產業介紹</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成長動能</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422108"/>
                </a:solidFill>
                <a:latin typeface="Microsoft JhengHei"/>
                <a:ea typeface="Microsoft JhengHei"/>
                <a:cs typeface="Microsoft JhengHei"/>
                <a:sym typeface="Microsoft JhengHei"/>
              </a:rPr>
              <a:t>潛在風險</a:t>
            </a:r>
            <a:endParaRPr sz="2400" b="1">
              <a:solidFill>
                <a:srgbClr val="422108"/>
              </a:solidFill>
              <a:latin typeface="Microsoft JhengHei"/>
              <a:ea typeface="Microsoft JhengHei"/>
              <a:cs typeface="Microsoft JhengHei"/>
              <a:sym typeface="Microsoft JhengHei"/>
            </a:endParaRPr>
          </a:p>
          <a:p>
            <a:pPr marL="0" lvl="0" indent="0" algn="l" rtl="0">
              <a:lnSpc>
                <a:spcPct val="187500"/>
              </a:lnSpc>
              <a:spcBef>
                <a:spcPts val="0"/>
              </a:spcBef>
              <a:spcAft>
                <a:spcPts val="0"/>
              </a:spcAft>
              <a:buClr>
                <a:schemeClr val="dk1"/>
              </a:buClr>
              <a:buFont typeface="Arial"/>
              <a:buNone/>
            </a:pPr>
            <a:r>
              <a:rPr lang="zh-TW" sz="2400" b="1">
                <a:solidFill>
                  <a:srgbClr val="C9B4A5"/>
                </a:solidFill>
                <a:latin typeface="Microsoft JhengHei"/>
                <a:ea typeface="Microsoft JhengHei"/>
                <a:cs typeface="Microsoft JhengHei"/>
                <a:sym typeface="Microsoft JhengHei"/>
              </a:rPr>
              <a:t>投資標的</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結論</a:t>
            </a:r>
            <a:endParaRPr sz="2400" b="1">
              <a:solidFill>
                <a:srgbClr val="595959"/>
              </a:solidFill>
              <a:latin typeface="Microsoft JhengHei"/>
              <a:ea typeface="Microsoft JhengHei"/>
              <a:cs typeface="Microsoft JhengHei"/>
              <a:sym typeface="Microsoft Jheng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726" name="Google Shape;726;p54"/>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727" name="Google Shape;727;p54"/>
          <p:cNvGrpSpPr/>
          <p:nvPr/>
        </p:nvGrpSpPr>
        <p:grpSpPr>
          <a:xfrm>
            <a:off x="242301" y="434035"/>
            <a:ext cx="484808" cy="484808"/>
            <a:chOff x="1628775" y="1381125"/>
            <a:chExt cx="1352700" cy="1352700"/>
          </a:xfrm>
        </p:grpSpPr>
        <p:sp>
          <p:nvSpPr>
            <p:cNvPr id="728" name="Google Shape;728;p54"/>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729" name="Google Shape;729;p54"/>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730" name="Google Shape;730;p54"/>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800" b="1" dirty="0">
                <a:latin typeface="Microsoft JhengHei"/>
                <a:ea typeface="Microsoft JhengHei"/>
                <a:cs typeface="Microsoft JhengHei"/>
                <a:sym typeface="Microsoft JhengHei"/>
              </a:rPr>
              <a:t>ASIC 高額建置成本以及開發失敗損失使其無法於中小企業站穩根基</a:t>
            </a:r>
            <a:endParaRPr sz="1800" b="1" dirty="0">
              <a:latin typeface="Microsoft JhengHei"/>
              <a:ea typeface="Microsoft JhengHei"/>
              <a:cs typeface="Microsoft JhengHei"/>
              <a:sym typeface="Microsoft JhengHei"/>
            </a:endParaRPr>
          </a:p>
        </p:txBody>
      </p:sp>
      <p:cxnSp>
        <p:nvCxnSpPr>
          <p:cNvPr id="731" name="Google Shape;731;p54"/>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732" name="Google Shape;732;p54"/>
          <p:cNvSpPr txBox="1"/>
          <p:nvPr/>
        </p:nvSpPr>
        <p:spPr>
          <a:xfrm>
            <a:off x="272775" y="4884250"/>
            <a:ext cx="62046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Microsoft JhengHei"/>
                <a:ea typeface="Microsoft JhengHei"/>
                <a:cs typeface="Microsoft JhengHei"/>
                <a:sym typeface="Microsoft JhengHei"/>
              </a:rPr>
              <a:t>資料來源：</a:t>
            </a:r>
            <a:r>
              <a:rPr lang="zh-TW" sz="1100" dirty="0">
                <a:solidFill>
                  <a:schemeClr val="dk1"/>
                </a:solidFill>
                <a:latin typeface="Microsoft JhengHei"/>
                <a:ea typeface="Microsoft JhengHei"/>
                <a:cs typeface="Microsoft JhengHei"/>
                <a:sym typeface="Microsoft JhengHei"/>
              </a:rPr>
              <a:t>Morgan Stanley Research , DIGITIMES</a:t>
            </a:r>
            <a:endParaRPr sz="1100" dirty="0"/>
          </a:p>
        </p:txBody>
      </p:sp>
      <p:sp>
        <p:nvSpPr>
          <p:cNvPr id="733" name="Google Shape;733;p54"/>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18</a:t>
            </a:fld>
            <a:endParaRPr/>
          </a:p>
        </p:txBody>
      </p:sp>
      <p:sp>
        <p:nvSpPr>
          <p:cNvPr id="734" name="Google Shape;734;p54"/>
          <p:cNvSpPr/>
          <p:nvPr/>
        </p:nvSpPr>
        <p:spPr>
          <a:xfrm>
            <a:off x="444900" y="961600"/>
            <a:ext cx="8347500" cy="11220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35" name="Google Shape;735;p54"/>
          <p:cNvSpPr/>
          <p:nvPr/>
        </p:nvSpPr>
        <p:spPr>
          <a:xfrm>
            <a:off x="3058584"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736" name="Google Shape;736;p54"/>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737" name="Google Shape;737;p54"/>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投資標的</a:t>
            </a:r>
            <a:endParaRPr sz="1100">
              <a:solidFill>
                <a:srgbClr val="C9B4A5"/>
              </a:solidFill>
            </a:endParaRPr>
          </a:p>
        </p:txBody>
      </p:sp>
      <p:sp>
        <p:nvSpPr>
          <p:cNvPr id="738" name="Google Shape;738;p54"/>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739" name="Google Shape;739;p54"/>
          <p:cNvSpPr/>
          <p:nvPr/>
        </p:nvSpPr>
        <p:spPr>
          <a:xfrm>
            <a:off x="1529288"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FFFFFF"/>
                </a:solidFill>
                <a:latin typeface="Microsoft JhengHei"/>
                <a:ea typeface="Microsoft JhengHei"/>
                <a:cs typeface="Microsoft JhengHei"/>
                <a:sym typeface="Microsoft JhengHei"/>
              </a:rPr>
              <a:t>產業介紹</a:t>
            </a:r>
            <a:endParaRPr sz="1100"/>
          </a:p>
        </p:txBody>
      </p:sp>
      <p:sp>
        <p:nvSpPr>
          <p:cNvPr id="740" name="Google Shape;740;p54"/>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742" name="Google Shape;742;p54"/>
          <p:cNvSpPr txBox="1"/>
          <p:nvPr/>
        </p:nvSpPr>
        <p:spPr>
          <a:xfrm>
            <a:off x="444900" y="960688"/>
            <a:ext cx="8347499" cy="1146437"/>
          </a:xfrm>
          <a:prstGeom prst="rect">
            <a:avLst/>
          </a:prstGeom>
          <a:noFill/>
          <a:ln>
            <a:noFill/>
          </a:ln>
        </p:spPr>
        <p:txBody>
          <a:bodyPr spcFirstLastPara="1" wrap="square" lIns="68575" tIns="34275" rIns="68575" bIns="34275" anchor="t" anchorCtr="0">
            <a:spAutoFit/>
          </a:bodyPr>
          <a:lstStyle/>
          <a:p>
            <a:pPr marL="431800" lvl="0" indent="-285750" algn="l" rtl="0">
              <a:spcBef>
                <a:spcPts val="0"/>
              </a:spcBef>
              <a:spcAft>
                <a:spcPts val="0"/>
              </a:spcAft>
              <a:buClr>
                <a:schemeClr val="dk1"/>
              </a:buClr>
              <a:buSzPts val="1300"/>
              <a:buFont typeface="Arial" panose="020B0604020202020204" pitchFamily="34" charset="0"/>
              <a:buChar char="•"/>
            </a:pPr>
            <a:r>
              <a:rPr lang="zh-TW" dirty="0">
                <a:solidFill>
                  <a:schemeClr val="dk1"/>
                </a:solidFill>
                <a:latin typeface="Microsoft JhengHei"/>
                <a:ea typeface="Microsoft JhengHei"/>
                <a:cs typeface="Microsoft JhengHei"/>
                <a:sym typeface="Microsoft JhengHei"/>
              </a:rPr>
              <a:t>ASIC 設計成本隨製程節點呈指數級增加，而因為客戶在需花費大量時間進行晶片軟硬整合，使得軟體成本佔總體開發成本很大的比重。因此，ASIC 儘管在能耗以及大量部署成本上擁有優於 GPGPU 的表現，但其初始的佈置成本卻高於後者。而若開發出現延誤或者技術問題，前期投入之成本可能付之一炬。因此無法大規模部署實行成本效益的中小廠商可能更傾向購買輝達現成的解決方案，使得 ASIC在與 GPGPU 的競爭中落入下風。</a:t>
            </a:r>
            <a:endParaRPr dirty="0">
              <a:solidFill>
                <a:schemeClr val="dk1"/>
              </a:solidFill>
              <a:latin typeface="Microsoft JhengHei"/>
              <a:ea typeface="Microsoft JhengHei"/>
              <a:cs typeface="Microsoft JhengHei"/>
              <a:sym typeface="Microsoft JhengHei"/>
            </a:endParaRPr>
          </a:p>
        </p:txBody>
      </p:sp>
      <p:sp>
        <p:nvSpPr>
          <p:cNvPr id="743" name="Google Shape;743;p54"/>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產業介紹</a:t>
            </a:r>
            <a:endParaRPr sz="1100" b="1">
              <a:solidFill>
                <a:srgbClr val="C9B4A5"/>
              </a:solidFill>
              <a:latin typeface="Microsoft JhengHei"/>
              <a:ea typeface="Microsoft JhengHei"/>
              <a:cs typeface="Microsoft JhengHei"/>
              <a:sym typeface="Microsoft JhengHei"/>
            </a:endParaRPr>
          </a:p>
        </p:txBody>
      </p:sp>
      <p:sp>
        <p:nvSpPr>
          <p:cNvPr id="744" name="Google Shape;744;p54"/>
          <p:cNvSpPr/>
          <p:nvPr/>
        </p:nvSpPr>
        <p:spPr>
          <a:xfrm>
            <a:off x="4587890"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chemeClr val="lt1"/>
                </a:solidFill>
                <a:latin typeface="Microsoft JhengHei"/>
                <a:ea typeface="Microsoft JhengHei"/>
                <a:cs typeface="Microsoft JhengHei"/>
                <a:sym typeface="Microsoft JhengHei"/>
              </a:rPr>
              <a:t>潛在風險</a:t>
            </a:r>
            <a:endParaRPr sz="1100">
              <a:solidFill>
                <a:schemeClr val="lt1"/>
              </a:solidFill>
            </a:endParaRPr>
          </a:p>
        </p:txBody>
      </p:sp>
      <p:sp>
        <p:nvSpPr>
          <p:cNvPr id="745" name="Google Shape;745;p54"/>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投資標的</a:t>
            </a:r>
            <a:endParaRPr sz="1100">
              <a:solidFill>
                <a:srgbClr val="C9B4A5"/>
              </a:solidFill>
            </a:endParaRPr>
          </a:p>
        </p:txBody>
      </p:sp>
      <p:sp>
        <p:nvSpPr>
          <p:cNvPr id="746" name="Google Shape;746;p54"/>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747" name="Google Shape;747;p54"/>
          <p:cNvSpPr/>
          <p:nvPr/>
        </p:nvSpPr>
        <p:spPr>
          <a:xfrm>
            <a:off x="305860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748" name="Google Shape;748;p54"/>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pic>
        <p:nvPicPr>
          <p:cNvPr id="749" name="Google Shape;749;p54" title="金研4.jpg"/>
          <p:cNvPicPr preferRelativeResize="0"/>
          <p:nvPr/>
        </p:nvPicPr>
        <p:blipFill>
          <a:blip r:embed="rId5">
            <a:alphaModFix/>
          </a:blip>
          <a:stretch>
            <a:fillRect/>
          </a:stretch>
        </p:blipFill>
        <p:spPr>
          <a:xfrm>
            <a:off x="444898" y="2174283"/>
            <a:ext cx="8347499" cy="2532572"/>
          </a:xfrm>
          <a:prstGeom prst="rect">
            <a:avLst/>
          </a:prstGeom>
          <a:noFill/>
          <a:ln>
            <a:noFill/>
          </a:ln>
        </p:spPr>
      </p:pic>
      <p:sp>
        <p:nvSpPr>
          <p:cNvPr id="741" name="Google Shape;741;p54"/>
          <p:cNvSpPr/>
          <p:nvPr/>
        </p:nvSpPr>
        <p:spPr>
          <a:xfrm>
            <a:off x="444899" y="2182618"/>
            <a:ext cx="8347499"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100" b="1">
                <a:solidFill>
                  <a:schemeClr val="dk1"/>
                </a:solidFill>
              </a:rPr>
              <a:t>各節點</a:t>
            </a:r>
            <a:r>
              <a:rPr lang="zh-TW" sz="1100" b="1"/>
              <a:t>晶片研發成本</a:t>
            </a:r>
            <a:endParaRPr sz="11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5"/>
          <p:cNvSpPr/>
          <p:nvPr/>
        </p:nvSpPr>
        <p:spPr>
          <a:xfrm>
            <a:off x="6265158" y="1048038"/>
            <a:ext cx="303900" cy="3203100"/>
          </a:xfrm>
          <a:prstGeom prst="roundRect">
            <a:avLst>
              <a:gd name="adj" fmla="val 50000"/>
            </a:avLst>
          </a:prstGeom>
          <a:solidFill>
            <a:srgbClr val="F5E5D4"/>
          </a:solidFill>
          <a:ln>
            <a:noFill/>
          </a:ln>
          <a:effectLst>
            <a:outerShdw blurRad="241300" dist="38100" sx="102000" sy="102000" algn="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56" name="Google Shape;756;p55"/>
          <p:cNvSpPr/>
          <p:nvPr/>
        </p:nvSpPr>
        <p:spPr>
          <a:xfrm>
            <a:off x="58" y="0"/>
            <a:ext cx="5790300" cy="5143500"/>
          </a:xfrm>
          <a:prstGeom prst="rect">
            <a:avLst/>
          </a:prstGeom>
          <a:solidFill>
            <a:srgbClr val="F1A63B"/>
          </a:solidFill>
          <a:ln>
            <a:noFill/>
          </a:ln>
          <a:effectLst>
            <a:outerShdw blurRad="469900" dist="38100" algn="l" rotWithShape="0">
              <a:srgbClr val="000000">
                <a:alpha val="3882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dk1"/>
              </a:solidFill>
              <a:latin typeface="Microsoft JhengHei"/>
              <a:ea typeface="Microsoft JhengHei"/>
              <a:cs typeface="Microsoft JhengHei"/>
              <a:sym typeface="Microsoft JhengHei"/>
            </a:endParaRPr>
          </a:p>
        </p:txBody>
      </p:sp>
      <p:pic>
        <p:nvPicPr>
          <p:cNvPr id="757" name="Google Shape;757;p55"/>
          <p:cNvPicPr preferRelativeResize="0"/>
          <p:nvPr/>
        </p:nvPicPr>
        <p:blipFill rotWithShape="1">
          <a:blip r:embed="rId3">
            <a:alphaModFix/>
          </a:blip>
          <a:srcRect/>
          <a:stretch/>
        </p:blipFill>
        <p:spPr>
          <a:xfrm>
            <a:off x="7646482" y="4902041"/>
            <a:ext cx="1085425" cy="168988"/>
          </a:xfrm>
          <a:prstGeom prst="rect">
            <a:avLst/>
          </a:prstGeom>
          <a:noFill/>
          <a:ln>
            <a:noFill/>
          </a:ln>
        </p:spPr>
      </p:pic>
      <p:sp>
        <p:nvSpPr>
          <p:cNvPr id="758" name="Google Shape;758;p55"/>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US" altLang="zh-TW"/>
              <a:t>19</a:t>
            </a:fld>
            <a:endParaRPr/>
          </a:p>
        </p:txBody>
      </p:sp>
      <p:sp>
        <p:nvSpPr>
          <p:cNvPr id="759" name="Google Shape;759;p55"/>
          <p:cNvSpPr txBox="1"/>
          <p:nvPr/>
        </p:nvSpPr>
        <p:spPr>
          <a:xfrm>
            <a:off x="6862496" y="703162"/>
            <a:ext cx="354900" cy="284700"/>
          </a:xfrm>
          <a:prstGeom prst="rect">
            <a:avLst/>
          </a:prstGeom>
          <a:noFill/>
          <a:ln>
            <a:noFill/>
          </a:ln>
        </p:spPr>
        <p:txBody>
          <a:bodyPr spcFirstLastPara="1" wrap="square" lIns="68575" tIns="34275" rIns="68575" bIns="34275" anchor="t" anchorCtr="0">
            <a:spAutoFit/>
          </a:bodyPr>
          <a:lstStyle/>
          <a:p>
            <a:pPr marL="215900" marR="0" lvl="0" indent="-127000" algn="l" rtl="0">
              <a:spcBef>
                <a:spcPts val="0"/>
              </a:spcBef>
              <a:spcAft>
                <a:spcPts val="0"/>
              </a:spcAft>
              <a:buClr>
                <a:schemeClr val="dk1"/>
              </a:buClr>
              <a:buSzPts val="1400"/>
              <a:buFont typeface="Noto Sans Symbols"/>
              <a:buNone/>
            </a:pPr>
            <a:endParaRPr sz="1400">
              <a:solidFill>
                <a:schemeClr val="dk1"/>
              </a:solidFill>
              <a:latin typeface="Calibri"/>
              <a:ea typeface="Calibri"/>
              <a:cs typeface="Calibri"/>
              <a:sym typeface="Calibri"/>
            </a:endParaRPr>
          </a:p>
        </p:txBody>
      </p:sp>
      <p:sp>
        <p:nvSpPr>
          <p:cNvPr id="760" name="Google Shape;760;p55"/>
          <p:cNvSpPr/>
          <p:nvPr/>
        </p:nvSpPr>
        <p:spPr>
          <a:xfrm>
            <a:off x="6265158" y="1048039"/>
            <a:ext cx="303900" cy="2640300"/>
          </a:xfrm>
          <a:prstGeom prst="roundRect">
            <a:avLst>
              <a:gd name="adj" fmla="val 50000"/>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61" name="Google Shape;761;p55"/>
          <p:cNvSpPr txBox="1"/>
          <p:nvPr/>
        </p:nvSpPr>
        <p:spPr>
          <a:xfrm>
            <a:off x="1440952" y="2260051"/>
            <a:ext cx="2908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3600" b="1">
                <a:solidFill>
                  <a:srgbClr val="422108"/>
                </a:solidFill>
                <a:latin typeface="Microsoft JhengHei"/>
                <a:ea typeface="Microsoft JhengHei"/>
                <a:cs typeface="Microsoft JhengHei"/>
                <a:sym typeface="Microsoft JhengHei"/>
              </a:rPr>
              <a:t>投資標的</a:t>
            </a:r>
            <a:endParaRPr sz="3600">
              <a:solidFill>
                <a:srgbClr val="422108"/>
              </a:solidFill>
            </a:endParaRPr>
          </a:p>
        </p:txBody>
      </p:sp>
      <p:sp>
        <p:nvSpPr>
          <p:cNvPr id="762" name="Google Shape;762;p55"/>
          <p:cNvSpPr txBox="1"/>
          <p:nvPr/>
        </p:nvSpPr>
        <p:spPr>
          <a:xfrm>
            <a:off x="7109051" y="967048"/>
            <a:ext cx="1369500" cy="3209400"/>
          </a:xfrm>
          <a:prstGeom prst="rect">
            <a:avLst/>
          </a:prstGeom>
          <a:noFill/>
          <a:ln>
            <a:noFill/>
          </a:ln>
        </p:spPr>
        <p:txBody>
          <a:bodyPr spcFirstLastPara="1" wrap="square" lIns="68575" tIns="34275" rIns="68575" bIns="34275" anchor="t" anchorCtr="0">
            <a:spAutoFit/>
          </a:bodyPr>
          <a:lstStyle/>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產業介紹</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成長動能</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潛在風險</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582308"/>
                </a:solidFill>
                <a:latin typeface="Microsoft JhengHei"/>
                <a:ea typeface="Microsoft JhengHei"/>
                <a:cs typeface="Microsoft JhengHei"/>
                <a:sym typeface="Microsoft JhengHei"/>
              </a:rPr>
              <a:t>投資標的</a:t>
            </a:r>
            <a:r>
              <a:rPr lang="zh-TW" sz="2400" b="1">
                <a:solidFill>
                  <a:srgbClr val="C9B4A5"/>
                </a:solidFill>
                <a:latin typeface="Microsoft JhengHei"/>
                <a:ea typeface="Microsoft JhengHei"/>
                <a:cs typeface="Microsoft JhengHei"/>
                <a:sym typeface="Microsoft JhengHei"/>
              </a:rPr>
              <a:t>結論</a:t>
            </a:r>
            <a:endParaRPr sz="2400" b="1">
              <a:solidFill>
                <a:srgbClr val="595959"/>
              </a:solidFill>
              <a:latin typeface="Microsoft JhengHei"/>
              <a:ea typeface="Microsoft JhengHei"/>
              <a:cs typeface="Microsoft JhengHei"/>
              <a:sym typeface="Microsoft Jheng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pic>
        <p:nvPicPr>
          <p:cNvPr id="768" name="Google Shape;768;p56"/>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769" name="Google Shape;769;p56"/>
          <p:cNvGrpSpPr/>
          <p:nvPr/>
        </p:nvGrpSpPr>
        <p:grpSpPr>
          <a:xfrm>
            <a:off x="242301" y="434035"/>
            <a:ext cx="484808" cy="484808"/>
            <a:chOff x="1628775" y="1381125"/>
            <a:chExt cx="1352700" cy="1352700"/>
          </a:xfrm>
        </p:grpSpPr>
        <p:sp>
          <p:nvSpPr>
            <p:cNvPr id="770" name="Google Shape;770;p56"/>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微軟正黑體" panose="020B0604030504040204" pitchFamily="34" charset="-120"/>
                <a:ea typeface="微軟正黑體" panose="020B0604030504040204" pitchFamily="34" charset="-120"/>
                <a:cs typeface="Calibri"/>
                <a:sym typeface="Calibri"/>
              </a:endParaRPr>
            </a:p>
          </p:txBody>
        </p:sp>
        <p:pic>
          <p:nvPicPr>
            <p:cNvPr id="771" name="Google Shape;771;p56"/>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772" name="Google Shape;772;p56"/>
          <p:cNvSpPr txBox="1"/>
          <p:nvPr/>
        </p:nvSpPr>
        <p:spPr>
          <a:xfrm>
            <a:off x="828975" y="521000"/>
            <a:ext cx="2718300" cy="900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1100"/>
              <a:buFont typeface="Arial"/>
              <a:buNone/>
            </a:pPr>
            <a:r>
              <a:rPr lang="zh-TW" sz="1800" b="1">
                <a:solidFill>
                  <a:schemeClr val="dk1"/>
                </a:solidFill>
                <a:latin typeface="微軟正黑體" panose="020B0604030504040204" pitchFamily="34" charset="-120"/>
                <a:ea typeface="微軟正黑體" panose="020B0604030504040204" pitchFamily="34" charset="-120"/>
                <a:cs typeface="Microsoft JhengHei"/>
                <a:sym typeface="Microsoft JhengHei"/>
              </a:rPr>
              <a:t>Broadcom Inc (AVGO)</a:t>
            </a:r>
            <a:endParaRPr sz="1800" b="1">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lvl="0" indent="0" algn="l" rtl="0">
              <a:spcBef>
                <a:spcPts val="0"/>
              </a:spcBef>
              <a:spcAft>
                <a:spcPts val="0"/>
              </a:spcAft>
              <a:buClr>
                <a:schemeClr val="dk1"/>
              </a:buClr>
              <a:buSzPts val="1100"/>
              <a:buFont typeface="Arial"/>
              <a:buNone/>
            </a:pPr>
            <a:endParaRPr sz="1800" b="1">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marR="0" lvl="0" indent="0" algn="l" rtl="0">
              <a:spcBef>
                <a:spcPts val="0"/>
              </a:spcBef>
              <a:spcAft>
                <a:spcPts val="0"/>
              </a:spcAft>
              <a:buNone/>
            </a:pPr>
            <a:endParaRPr sz="1800" b="1">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p:txBody>
      </p:sp>
      <p:cxnSp>
        <p:nvCxnSpPr>
          <p:cNvPr id="773" name="Google Shape;773;p56"/>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774" name="Google Shape;774;p56"/>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資料來源：</a:t>
            </a:r>
            <a:r>
              <a:rPr lang="zh-TW" sz="1100"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財報狗、CMoney</a:t>
            </a:r>
            <a:endParaRPr sz="1100" dirty="0">
              <a:latin typeface="微軟正黑體" panose="020B0604030504040204" pitchFamily="34" charset="-120"/>
              <a:ea typeface="微軟正黑體" panose="020B0604030504040204" pitchFamily="34" charset="-120"/>
            </a:endParaRPr>
          </a:p>
        </p:txBody>
      </p:sp>
      <p:sp>
        <p:nvSpPr>
          <p:cNvPr id="775" name="Google Shape;775;p56"/>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latin typeface="微軟正黑體" panose="020B0604030504040204" pitchFamily="34" charset="-120"/>
                <a:ea typeface="微軟正黑體" panose="020B0604030504040204" pitchFamily="34" charset="-120"/>
              </a:rPr>
              <a:t>20</a:t>
            </a:fld>
            <a:endParaRPr>
              <a:latin typeface="微軟正黑體" panose="020B0604030504040204" pitchFamily="34" charset="-120"/>
              <a:ea typeface="微軟正黑體" panose="020B0604030504040204" pitchFamily="34" charset="-120"/>
            </a:endParaRPr>
          </a:p>
        </p:txBody>
      </p:sp>
      <p:sp>
        <p:nvSpPr>
          <p:cNvPr id="776" name="Google Shape;776;p56"/>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b="1">
              <a:solidFill>
                <a:srgbClr val="C9B4A5"/>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777" name="Google Shape;777;p56"/>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微軟正黑體" panose="020B0604030504040204" pitchFamily="34" charset="-120"/>
                <a:ea typeface="微軟正黑體" panose="020B0604030504040204" pitchFamily="34" charset="-120"/>
                <a:cs typeface="Microsoft JhengHei"/>
                <a:sym typeface="Microsoft JhengHei"/>
              </a:rPr>
              <a:t>產業介紹</a:t>
            </a:r>
            <a:endParaRPr sz="1100">
              <a:solidFill>
                <a:srgbClr val="C9B4A5"/>
              </a:solidFill>
              <a:latin typeface="微軟正黑體" panose="020B0604030504040204" pitchFamily="34" charset="-120"/>
              <a:ea typeface="微軟正黑體" panose="020B0604030504040204" pitchFamily="34" charset="-120"/>
            </a:endParaRPr>
          </a:p>
        </p:txBody>
      </p:sp>
      <p:sp>
        <p:nvSpPr>
          <p:cNvPr id="778" name="Google Shape;778;p56"/>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成長動能</a:t>
            </a:r>
            <a:endParaRPr sz="1100">
              <a:solidFill>
                <a:srgbClr val="C9B4A5"/>
              </a:solidFill>
              <a:latin typeface="微軟正黑體" panose="020B0604030504040204" pitchFamily="34" charset="-120"/>
              <a:ea typeface="微軟正黑體" panose="020B0604030504040204" pitchFamily="34" charset="-120"/>
            </a:endParaRPr>
          </a:p>
        </p:txBody>
      </p:sp>
      <p:sp>
        <p:nvSpPr>
          <p:cNvPr id="779" name="Google Shape;779;p56"/>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微軟正黑體" panose="020B0604030504040204" pitchFamily="34" charset="-120"/>
                <a:ea typeface="微軟正黑體" panose="020B0604030504040204" pitchFamily="34" charset="-120"/>
                <a:cs typeface="Microsoft JhengHei"/>
                <a:sym typeface="Microsoft JhengHei"/>
              </a:rPr>
              <a:t>潛在風險</a:t>
            </a:r>
            <a:endParaRPr sz="1100">
              <a:solidFill>
                <a:srgbClr val="C9B4A5"/>
              </a:solidFill>
              <a:latin typeface="微軟正黑體" panose="020B0604030504040204" pitchFamily="34" charset="-120"/>
              <a:ea typeface="微軟正黑體" panose="020B0604030504040204" pitchFamily="34" charset="-120"/>
            </a:endParaRPr>
          </a:p>
        </p:txBody>
      </p:sp>
      <p:sp>
        <p:nvSpPr>
          <p:cNvPr id="780" name="Google Shape;780;p56"/>
          <p:cNvSpPr/>
          <p:nvPr/>
        </p:nvSpPr>
        <p:spPr>
          <a:xfrm>
            <a:off x="6117186"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chemeClr val="lt1"/>
                </a:solidFill>
                <a:latin typeface="微軟正黑體" panose="020B0604030504040204" pitchFamily="34" charset="-120"/>
                <a:ea typeface="微軟正黑體" panose="020B0604030504040204" pitchFamily="34" charset="-120"/>
                <a:cs typeface="Microsoft JhengHei"/>
                <a:sym typeface="Microsoft JhengHei"/>
              </a:rPr>
              <a:t>投資標的</a:t>
            </a:r>
            <a:endParaRPr sz="1100">
              <a:solidFill>
                <a:schemeClr val="lt1"/>
              </a:solidFill>
              <a:latin typeface="微軟正黑體" panose="020B0604030504040204" pitchFamily="34" charset="-120"/>
              <a:ea typeface="微軟正黑體" panose="020B0604030504040204" pitchFamily="34" charset="-120"/>
            </a:endParaRPr>
          </a:p>
        </p:txBody>
      </p:sp>
      <p:sp>
        <p:nvSpPr>
          <p:cNvPr id="781" name="Google Shape;781;p56"/>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微軟正黑體" panose="020B0604030504040204" pitchFamily="34" charset="-120"/>
                <a:ea typeface="微軟正黑體" panose="020B0604030504040204" pitchFamily="34" charset="-120"/>
                <a:cs typeface="Microsoft JhengHei"/>
                <a:sym typeface="Microsoft JhengHei"/>
              </a:rPr>
              <a:t>結論</a:t>
            </a:r>
            <a:endParaRPr sz="1100">
              <a:solidFill>
                <a:srgbClr val="C9B4A5"/>
              </a:solidFill>
              <a:latin typeface="微軟正黑體" panose="020B0604030504040204" pitchFamily="34" charset="-120"/>
              <a:ea typeface="微軟正黑體" panose="020B0604030504040204" pitchFamily="34" charset="-120"/>
            </a:endParaRPr>
          </a:p>
        </p:txBody>
      </p:sp>
      <p:graphicFrame>
        <p:nvGraphicFramePr>
          <p:cNvPr id="782" name="Google Shape;782;p56"/>
          <p:cNvGraphicFramePr/>
          <p:nvPr>
            <p:extLst>
              <p:ext uri="{D42A27DB-BD31-4B8C-83A1-F6EECF244321}">
                <p14:modId xmlns:p14="http://schemas.microsoft.com/office/powerpoint/2010/main" val="818775426"/>
              </p:ext>
            </p:extLst>
          </p:nvPr>
        </p:nvGraphicFramePr>
        <p:xfrm>
          <a:off x="356689" y="1296722"/>
          <a:ext cx="4062991" cy="3457001"/>
        </p:xfrm>
        <a:graphic>
          <a:graphicData uri="http://schemas.openxmlformats.org/drawingml/2006/table">
            <a:tbl>
              <a:tblPr>
                <a:noFill/>
                <a:tableStyleId>{B77ADD4D-7306-4690-B546-0812AD84124E}</a:tableStyleId>
              </a:tblPr>
              <a:tblGrid>
                <a:gridCol w="1273935">
                  <a:extLst>
                    <a:ext uri="{9D8B030D-6E8A-4147-A177-3AD203B41FA5}">
                      <a16:colId xmlns:a16="http://schemas.microsoft.com/office/drawing/2014/main" val="20000"/>
                    </a:ext>
                  </a:extLst>
                </a:gridCol>
                <a:gridCol w="2789056">
                  <a:extLst>
                    <a:ext uri="{9D8B030D-6E8A-4147-A177-3AD203B41FA5}">
                      <a16:colId xmlns:a16="http://schemas.microsoft.com/office/drawing/2014/main" val="20001"/>
                    </a:ext>
                  </a:extLst>
                </a:gridCol>
              </a:tblGrid>
              <a:tr h="637681">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公司主要業務</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半導體解決方案、企業軟體（VMware、CA、Symantec）</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637681">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2025 Q3營收(十億美元)</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16.0 </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52817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公司市值 (兆)</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1.77</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507894">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收盤價</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376.47</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507894">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主要競爭對手</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NVIDIA、AMD、Marvell、Intel、Cisco</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637681">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產品應用</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solidFill>
                            <a:srgbClr val="1F2937"/>
                          </a:solidFill>
                          <a:highlight>
                            <a:srgbClr val="FFFFFF"/>
                          </a:highlight>
                          <a:latin typeface="微軟正黑體" panose="020B0604030504040204" pitchFamily="34" charset="-120"/>
                          <a:ea typeface="微軟正黑體" panose="020B0604030504040204" pitchFamily="34" charset="-120"/>
                        </a:rPr>
                        <a:t>雲端運算、5G 基礎建設、企業級路由器與交換機 Wi-Fi 6、Wi-Fi 7、藍牙晶片</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83" name="Google Shape;783;p56"/>
          <p:cNvSpPr txBox="1"/>
          <p:nvPr/>
        </p:nvSpPr>
        <p:spPr>
          <a:xfrm>
            <a:off x="356689" y="944363"/>
            <a:ext cx="4062991" cy="354018"/>
          </a:xfrm>
          <a:prstGeom prst="rect">
            <a:avLst/>
          </a:prstGeom>
          <a:solidFill>
            <a:srgbClr val="F1A539"/>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b="1" dirty="0">
                <a:solidFill>
                  <a:schemeClr val="dk1"/>
                </a:solidFill>
                <a:latin typeface="微軟正黑體" panose="020B0604030504040204" pitchFamily="34" charset="-120"/>
                <a:ea typeface="微軟正黑體" panose="020B0604030504040204" pitchFamily="34" charset="-120"/>
                <a:cs typeface="Calibri"/>
                <a:sym typeface="Calibri"/>
              </a:rPr>
              <a:t>結論</a:t>
            </a:r>
            <a:endParaRPr b="1" dirty="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784" name="Google Shape;784;p56"/>
          <p:cNvSpPr txBox="1"/>
          <p:nvPr/>
        </p:nvSpPr>
        <p:spPr>
          <a:xfrm>
            <a:off x="4587889" y="1252000"/>
            <a:ext cx="4116300" cy="3501724"/>
          </a:xfrm>
          <a:prstGeom prst="rect">
            <a:avLst/>
          </a:prstGeom>
          <a:solidFill>
            <a:srgbClr val="FFF6ED"/>
          </a:solidFill>
          <a:ln>
            <a:noFill/>
          </a:ln>
        </p:spPr>
        <p:txBody>
          <a:bodyPr spcFirstLastPara="1" wrap="square" lIns="91425" tIns="91425" rIns="91425" bIns="91425" anchor="t" anchorCtr="0">
            <a:noAutofit/>
          </a:bodyPr>
          <a:lstStyle/>
          <a:p>
            <a:pPr marL="0" lvl="0" indent="0" algn="l" rtl="0">
              <a:lnSpc>
                <a:spcPct val="100000"/>
              </a:lnSpc>
              <a:spcBef>
                <a:spcPts val="1400"/>
              </a:spcBef>
              <a:spcAft>
                <a:spcPts val="0"/>
              </a:spcAft>
              <a:buClr>
                <a:schemeClr val="dk1"/>
              </a:buClr>
              <a:buSzPts val="1100"/>
              <a:buFont typeface="Arial"/>
              <a:buNone/>
            </a:pPr>
            <a:endPar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p:txBody>
      </p:sp>
      <p:sp>
        <p:nvSpPr>
          <p:cNvPr id="785" name="Google Shape;785;p56"/>
          <p:cNvSpPr txBox="1"/>
          <p:nvPr/>
        </p:nvSpPr>
        <p:spPr>
          <a:xfrm>
            <a:off x="4587890" y="944363"/>
            <a:ext cx="4116300" cy="338700"/>
          </a:xfrm>
          <a:prstGeom prst="rect">
            <a:avLst/>
          </a:prstGeom>
          <a:solidFill>
            <a:srgbClr val="F1A539"/>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b="1" dirty="0">
                <a:solidFill>
                  <a:schemeClr val="dk1"/>
                </a:solidFill>
                <a:latin typeface="微軟正黑體" panose="020B0604030504040204" pitchFamily="34" charset="-120"/>
                <a:ea typeface="微軟正黑體" panose="020B0604030504040204" pitchFamily="34" charset="-120"/>
                <a:cs typeface="Calibri"/>
                <a:sym typeface="Calibri"/>
              </a:rPr>
              <a:t>成長動能</a:t>
            </a:r>
            <a:endParaRPr b="1" dirty="0">
              <a:solidFill>
                <a:schemeClr val="dk1"/>
              </a:solidFill>
              <a:latin typeface="微軟正黑體" panose="020B0604030504040204" pitchFamily="34" charset="-120"/>
              <a:ea typeface="微軟正黑體" panose="020B0604030504040204" pitchFamily="34" charset="-120"/>
              <a:cs typeface="Calibri"/>
              <a:sym typeface="Calibri"/>
            </a:endParaRPr>
          </a:p>
          <a:p>
            <a:pPr marL="0" lvl="0" indent="0" algn="ctr" rtl="0">
              <a:spcBef>
                <a:spcPts val="0"/>
              </a:spcBef>
              <a:spcAft>
                <a:spcPts val="0"/>
              </a:spcAft>
              <a:buNone/>
            </a:pPr>
            <a:endParaRPr dirty="0">
              <a:solidFill>
                <a:schemeClr val="dk1"/>
              </a:solidFill>
              <a:latin typeface="微軟正黑體" panose="020B0604030504040204" pitchFamily="34" charset="-120"/>
              <a:ea typeface="微軟正黑體" panose="020B0604030504040204" pitchFamily="34" charset="-120"/>
              <a:cs typeface="Calibri"/>
              <a:sym typeface="Calibri"/>
            </a:endParaRPr>
          </a:p>
        </p:txBody>
      </p:sp>
      <p:sp>
        <p:nvSpPr>
          <p:cNvPr id="2" name="文字方塊 1">
            <a:extLst>
              <a:ext uri="{FF2B5EF4-FFF2-40B4-BE49-F238E27FC236}">
                <a16:creationId xmlns:a16="http://schemas.microsoft.com/office/drawing/2014/main" id="{E088C8FD-84DB-6BA7-8E34-2DB52D5BCAC2}"/>
              </a:ext>
            </a:extLst>
          </p:cNvPr>
          <p:cNvSpPr txBox="1"/>
          <p:nvPr/>
        </p:nvSpPr>
        <p:spPr>
          <a:xfrm>
            <a:off x="4572000" y="1296722"/>
            <a:ext cx="4116301" cy="3216265"/>
          </a:xfrm>
          <a:prstGeom prst="rect">
            <a:avLst/>
          </a:prstGeom>
          <a:noFill/>
        </p:spPr>
        <p:txBody>
          <a:bodyPr wrap="square" rtlCol="0">
            <a:spAutoFit/>
          </a:bodyPr>
          <a:lstStyle/>
          <a:p>
            <a:pPr marL="0" lvl="0" indent="0" algn="l" rtl="0">
              <a:lnSpc>
                <a:spcPct val="100000"/>
              </a:lnSpc>
              <a:spcBef>
                <a:spcPts val="1400"/>
              </a:spcBef>
              <a:spcAft>
                <a:spcPts val="0"/>
              </a:spcAft>
              <a:buClr>
                <a:schemeClr val="dk1"/>
              </a:buClr>
              <a:buSzPts val="1100"/>
              <a:buFont typeface="Arial"/>
              <a:buNone/>
            </a:pPr>
            <a:r>
              <a:rPr lang="en-US" altLang="zh-TW"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AI </a:t>
            </a:r>
            <a:r>
              <a:rPr lang="zh-TW" altLang="en-US"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半導體業務持續增長</a:t>
            </a:r>
            <a:endParaRPr lang="en-US" altLang="zh-TW" b="1" dirty="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0" lvl="0" indent="0" algn="l" rtl="0">
              <a:lnSpc>
                <a:spcPct val="100000"/>
              </a:lnSpc>
              <a:spcBef>
                <a:spcPts val="1400"/>
              </a:spcBef>
              <a:spcAft>
                <a:spcPts val="0"/>
              </a:spcAft>
              <a:buClr>
                <a:schemeClr val="dk1"/>
              </a:buClr>
              <a:buSzPts val="1100"/>
              <a:buFont typeface="Arial"/>
              <a:buNone/>
            </a:pP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博通的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AI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半導體業務自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2025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財年第三季以來，營收持續增長。該季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AI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半導體營收達到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52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億美元，較前一年同期增長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63%</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，並預計第四季將增長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66%</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，達到約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62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億美元。其中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AI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半導體與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VMware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業務為主要成長動能</a:t>
            </a:r>
          </a:p>
          <a:p>
            <a:pPr lvl="0" indent="0" algn="l" rtl="0">
              <a:lnSpc>
                <a:spcPct val="100000"/>
              </a:lnSpc>
              <a:spcBef>
                <a:spcPts val="1400"/>
              </a:spcBef>
              <a:spcAft>
                <a:spcPts val="0"/>
              </a:spcAft>
              <a:buNone/>
            </a:pPr>
            <a:r>
              <a:rPr lang="zh-TW" altLang="en-US" b="1"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軟體業務成長亮眼</a:t>
            </a:r>
            <a:endParaRPr lang="en-US" altLang="zh-TW" b="1" dirty="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lvl="0" indent="0" algn="l" rtl="0">
              <a:lnSpc>
                <a:spcPct val="100000"/>
              </a:lnSpc>
              <a:spcBef>
                <a:spcPts val="1400"/>
              </a:spcBef>
              <a:spcAft>
                <a:spcPts val="0"/>
              </a:spcAft>
              <a:buNone/>
            </a:pP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截至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2025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財年第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3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季，博通的基礎設施軟體部門（主要由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VMware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貢獻）營收達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68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億美元，較去年同期增長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17%</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，佔總營收的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43%</a:t>
            </a:r>
            <a:r>
              <a:rPr lang="zh-TW" altLang="en-US" dirty="0">
                <a:solidFill>
                  <a:schemeClr val="dk1"/>
                </a:solidFill>
                <a:uFill>
                  <a:noFill/>
                </a:uFill>
                <a:latin typeface="微軟正黑體" panose="020B0604030504040204" pitchFamily="34" charset="-120"/>
                <a:ea typeface="微軟正黑體" panose="020B0604030504040204" pitchFamily="34" charset="-120"/>
                <a:cs typeface="Microsoft JhengHei"/>
                <a:sym typeface="Microsoft JhengHei"/>
                <a:hlinkClick r:id="rId5">
                  <a:extLst>
                    <a:ext uri="{A12FA001-AC4F-418D-AE19-62706E023703}">
                      <ahyp:hlinkClr xmlns:ahyp="http://schemas.microsoft.com/office/drawing/2018/hyperlinkcolor" val="tx"/>
                    </a:ext>
                  </a:extLst>
                </a:hlinkClick>
              </a:rPr>
              <a:t>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該部門的調整後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EBITDA </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利潤率達 </a:t>
            </a:r>
            <a:r>
              <a:rPr lang="en-US" altLang="zh-TW"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67%</a:t>
            </a:r>
            <a:r>
              <a:rPr lang="zh-TW" altLang="en-US" dirty="0">
                <a:solidFill>
                  <a:schemeClr val="dk1"/>
                </a:solidFill>
                <a:latin typeface="微軟正黑體" panose="020B0604030504040204" pitchFamily="34" charset="-120"/>
                <a:ea typeface="微軟正黑體" panose="020B0604030504040204" pitchFamily="34" charset="-120"/>
                <a:cs typeface="Microsoft JhengHei"/>
                <a:sym typeface="Microsoft JhengHei"/>
              </a:rPr>
              <a:t>，顯示出強勁的獲利能力。</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pic>
        <p:nvPicPr>
          <p:cNvPr id="791" name="Google Shape;791;p57"/>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792" name="Google Shape;792;p57"/>
          <p:cNvGrpSpPr/>
          <p:nvPr/>
        </p:nvGrpSpPr>
        <p:grpSpPr>
          <a:xfrm>
            <a:off x="242301" y="434035"/>
            <a:ext cx="484808" cy="484808"/>
            <a:chOff x="1628775" y="1381125"/>
            <a:chExt cx="1352700" cy="1352700"/>
          </a:xfrm>
        </p:grpSpPr>
        <p:sp>
          <p:nvSpPr>
            <p:cNvPr id="793" name="Google Shape;793;p57"/>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794" name="Google Shape;794;p57"/>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795" name="Google Shape;795;p57"/>
          <p:cNvSpPr txBox="1"/>
          <p:nvPr/>
        </p:nvSpPr>
        <p:spPr>
          <a:xfrm>
            <a:off x="828975" y="521000"/>
            <a:ext cx="6552300" cy="900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zh-TW" sz="1800" b="1" dirty="0">
                <a:solidFill>
                  <a:schemeClr val="dk1"/>
                </a:solidFill>
                <a:latin typeface="Microsoft JhengHei"/>
                <a:ea typeface="Microsoft JhengHei"/>
                <a:cs typeface="Microsoft JhengHei"/>
                <a:sym typeface="Microsoft JhengHei"/>
              </a:rPr>
              <a:t>Broadcom Inc (AVGO.US)</a:t>
            </a:r>
            <a:endParaRPr sz="1800" b="1"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SzPts val="1100"/>
              <a:buNone/>
            </a:pPr>
            <a:endParaRPr sz="1800" b="1" dirty="0">
              <a:solidFill>
                <a:schemeClr val="dk1"/>
              </a:solidFill>
              <a:latin typeface="Microsoft JhengHei"/>
              <a:ea typeface="Microsoft JhengHei"/>
              <a:cs typeface="Microsoft JhengHei"/>
              <a:sym typeface="Microsoft JhengHei"/>
            </a:endParaRPr>
          </a:p>
          <a:p>
            <a:pPr marL="0" marR="0" lvl="0" indent="0" algn="l" rtl="0">
              <a:spcBef>
                <a:spcPts val="0"/>
              </a:spcBef>
              <a:spcAft>
                <a:spcPts val="0"/>
              </a:spcAft>
              <a:buNone/>
            </a:pPr>
            <a:endParaRPr sz="1800" b="1" dirty="0">
              <a:solidFill>
                <a:schemeClr val="dk1"/>
              </a:solidFill>
              <a:latin typeface="Microsoft JhengHei"/>
              <a:ea typeface="Microsoft JhengHei"/>
              <a:cs typeface="Microsoft JhengHei"/>
              <a:sym typeface="Microsoft JhengHei"/>
            </a:endParaRPr>
          </a:p>
        </p:txBody>
      </p:sp>
      <p:cxnSp>
        <p:nvCxnSpPr>
          <p:cNvPr id="796" name="Google Shape;796;p57"/>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797" name="Google Shape;797;p57"/>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Microsoft JhengHei"/>
                <a:ea typeface="Microsoft JhengHei"/>
                <a:cs typeface="Microsoft JhengHei"/>
                <a:sym typeface="Microsoft JhengHei"/>
              </a:rPr>
              <a:t>資料來源：</a:t>
            </a:r>
            <a:r>
              <a:rPr lang="zh-TW" sz="1100" dirty="0">
                <a:solidFill>
                  <a:schemeClr val="dk1"/>
                </a:solidFill>
                <a:latin typeface="Microsoft JhengHei"/>
                <a:ea typeface="Microsoft JhengHei"/>
                <a:cs typeface="Microsoft JhengHei"/>
                <a:sym typeface="Microsoft JhengHei"/>
              </a:rPr>
              <a:t>Broadcom年報、財報狗</a:t>
            </a:r>
            <a:endParaRPr sz="1100" dirty="0"/>
          </a:p>
        </p:txBody>
      </p:sp>
      <p:sp>
        <p:nvSpPr>
          <p:cNvPr id="798" name="Google Shape;798;p57"/>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21</a:t>
            </a:fld>
            <a:endParaRPr/>
          </a:p>
        </p:txBody>
      </p:sp>
      <p:sp>
        <p:nvSpPr>
          <p:cNvPr id="799" name="Google Shape;799;p57"/>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b="1">
              <a:solidFill>
                <a:srgbClr val="C9B4A5"/>
              </a:solidFill>
              <a:latin typeface="Microsoft JhengHei"/>
              <a:ea typeface="Microsoft JhengHei"/>
              <a:cs typeface="Microsoft JhengHei"/>
              <a:sym typeface="Microsoft JhengHei"/>
            </a:endParaRPr>
          </a:p>
        </p:txBody>
      </p:sp>
      <p:sp>
        <p:nvSpPr>
          <p:cNvPr id="800" name="Google Shape;800;p57"/>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801" name="Google Shape;801;p57"/>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802" name="Google Shape;802;p57"/>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803" name="Google Shape;803;p57"/>
          <p:cNvSpPr/>
          <p:nvPr/>
        </p:nvSpPr>
        <p:spPr>
          <a:xfrm>
            <a:off x="6117186"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chemeClr val="lt1"/>
                </a:solidFill>
                <a:latin typeface="Microsoft JhengHei"/>
                <a:ea typeface="Microsoft JhengHei"/>
                <a:cs typeface="Microsoft JhengHei"/>
                <a:sym typeface="Microsoft JhengHei"/>
              </a:rPr>
              <a:t>投資標的</a:t>
            </a:r>
            <a:endParaRPr sz="1100">
              <a:solidFill>
                <a:schemeClr val="lt1"/>
              </a:solidFill>
            </a:endParaRPr>
          </a:p>
        </p:txBody>
      </p:sp>
      <p:sp>
        <p:nvSpPr>
          <p:cNvPr id="804" name="Google Shape;804;p57"/>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graphicFrame>
        <p:nvGraphicFramePr>
          <p:cNvPr id="805" name="Google Shape;805;p57"/>
          <p:cNvGraphicFramePr/>
          <p:nvPr>
            <p:extLst>
              <p:ext uri="{D42A27DB-BD31-4B8C-83A1-F6EECF244321}">
                <p14:modId xmlns:p14="http://schemas.microsoft.com/office/powerpoint/2010/main" val="446042887"/>
              </p:ext>
            </p:extLst>
          </p:nvPr>
        </p:nvGraphicFramePr>
        <p:xfrm>
          <a:off x="352164" y="1421300"/>
          <a:ext cx="4118700" cy="3275926"/>
        </p:xfrm>
        <a:graphic>
          <a:graphicData uri="http://schemas.openxmlformats.org/drawingml/2006/table">
            <a:tbl>
              <a:tblPr>
                <a:noFill/>
                <a:tableStyleId>{B77ADD4D-7306-4690-B546-0812AD84124E}</a:tableStyleId>
              </a:tblPr>
              <a:tblGrid>
                <a:gridCol w="1134191">
                  <a:extLst>
                    <a:ext uri="{9D8B030D-6E8A-4147-A177-3AD203B41FA5}">
                      <a16:colId xmlns:a16="http://schemas.microsoft.com/office/drawing/2014/main" val="20000"/>
                    </a:ext>
                  </a:extLst>
                </a:gridCol>
                <a:gridCol w="1066793">
                  <a:extLst>
                    <a:ext uri="{9D8B030D-6E8A-4147-A177-3AD203B41FA5}">
                      <a16:colId xmlns:a16="http://schemas.microsoft.com/office/drawing/2014/main" val="20001"/>
                    </a:ext>
                  </a:extLst>
                </a:gridCol>
                <a:gridCol w="648580">
                  <a:extLst>
                    <a:ext uri="{9D8B030D-6E8A-4147-A177-3AD203B41FA5}">
                      <a16:colId xmlns:a16="http://schemas.microsoft.com/office/drawing/2014/main" val="20002"/>
                    </a:ext>
                  </a:extLst>
                </a:gridCol>
                <a:gridCol w="1269136">
                  <a:extLst>
                    <a:ext uri="{9D8B030D-6E8A-4147-A177-3AD203B41FA5}">
                      <a16:colId xmlns:a16="http://schemas.microsoft.com/office/drawing/2014/main" val="20003"/>
                    </a:ext>
                  </a:extLst>
                </a:gridCol>
              </a:tblGrid>
              <a:tr h="541449">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財務項目</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數值(十億美元)</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年增率</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說明</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686321">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淨利 </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5.5</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37%</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受 AI 晶片與 VMware 帶動</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513144">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調整後 EBITDA</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10.7</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30%</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盈利能力穩健</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480419">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自由現金流 </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7.0</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47%</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現金流極大</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541449">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毛利率 </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75%(非GAAP)</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27%</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居半導體產業高位</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513144">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每股盈餘</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E5D4"/>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1.69(美元)</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36%</a:t>
                      </a:r>
                      <a:endParaRPr sz="110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穩定且持續增長</a:t>
                      </a:r>
                      <a:endParaRPr sz="1100" dirty="0">
                        <a:latin typeface="微軟正黑體" panose="020B0604030504040204" pitchFamily="34" charset="-120"/>
                        <a:ea typeface="微軟正黑體" panose="020B0604030504040204" pitchFamily="34" charset="-120"/>
                      </a:endParaRPr>
                    </a:p>
                  </a:txBody>
                  <a:tcPr marL="91425" marR="91425" marT="91425" marB="91425">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06" name="Google Shape;806;p57"/>
          <p:cNvSpPr txBox="1"/>
          <p:nvPr/>
        </p:nvSpPr>
        <p:spPr>
          <a:xfrm>
            <a:off x="356700" y="1031150"/>
            <a:ext cx="4118700" cy="400200"/>
          </a:xfrm>
          <a:prstGeom prst="rect">
            <a:avLst/>
          </a:prstGeom>
          <a:solidFill>
            <a:srgbClr val="F1A539"/>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a:solidFill>
                  <a:schemeClr val="dk1"/>
                </a:solidFill>
              </a:rPr>
              <a:t>                     </a:t>
            </a:r>
            <a:r>
              <a:rPr lang="zh-TW" sz="1200">
                <a:solidFill>
                  <a:schemeClr val="dk1"/>
                </a:solidFill>
              </a:rPr>
              <a:t>2025Q3財報摘要</a:t>
            </a:r>
            <a:endParaRPr sz="1200">
              <a:solidFill>
                <a:schemeClr val="dk1"/>
              </a:solidFill>
            </a:endParaRPr>
          </a:p>
        </p:txBody>
      </p:sp>
      <p:sp>
        <p:nvSpPr>
          <p:cNvPr id="813" name="Google Shape;813;p57"/>
          <p:cNvSpPr txBox="1"/>
          <p:nvPr/>
        </p:nvSpPr>
        <p:spPr>
          <a:xfrm>
            <a:off x="4664763" y="1031150"/>
            <a:ext cx="3939000" cy="400200"/>
          </a:xfrm>
          <a:prstGeom prst="rect">
            <a:avLst/>
          </a:prstGeom>
          <a:solidFill>
            <a:srgbClr val="F1A539"/>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TW">
                <a:solidFill>
                  <a:schemeClr val="dk1"/>
                </a:solidFill>
              </a:rPr>
              <a:t>                             </a:t>
            </a:r>
            <a:r>
              <a:rPr lang="zh-TW" sz="1200">
                <a:solidFill>
                  <a:schemeClr val="dk1"/>
                </a:solidFill>
              </a:rPr>
              <a:t>博通營收占比</a:t>
            </a:r>
            <a:endParaRPr sz="1200">
              <a:solidFill>
                <a:schemeClr val="dk1"/>
              </a:solidFill>
            </a:endParaRPr>
          </a:p>
        </p:txBody>
      </p:sp>
      <p:pic>
        <p:nvPicPr>
          <p:cNvPr id="814" name="Google Shape;814;p57" title="金研.jpg"/>
          <p:cNvPicPr preferRelativeResize="0"/>
          <p:nvPr/>
        </p:nvPicPr>
        <p:blipFill rotWithShape="1">
          <a:blip r:embed="rId5">
            <a:alphaModFix/>
          </a:blip>
          <a:srcRect l="20624" r="20329" b="13404"/>
          <a:stretch/>
        </p:blipFill>
        <p:spPr>
          <a:xfrm>
            <a:off x="4675382" y="1744738"/>
            <a:ext cx="3917761" cy="27921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pic>
        <p:nvPicPr>
          <p:cNvPr id="820" name="Google Shape;820;p58"/>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821" name="Google Shape;821;p58"/>
          <p:cNvGrpSpPr/>
          <p:nvPr/>
        </p:nvGrpSpPr>
        <p:grpSpPr>
          <a:xfrm>
            <a:off x="242301" y="434035"/>
            <a:ext cx="484808" cy="484808"/>
            <a:chOff x="1628775" y="1381125"/>
            <a:chExt cx="1352700" cy="1352700"/>
          </a:xfrm>
        </p:grpSpPr>
        <p:sp>
          <p:nvSpPr>
            <p:cNvPr id="822" name="Google Shape;822;p58"/>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823" name="Google Shape;823;p58"/>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824" name="Google Shape;824;p58"/>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800" b="1">
                <a:solidFill>
                  <a:schemeClr val="dk1"/>
                </a:solidFill>
                <a:latin typeface="Microsoft JhengHei"/>
                <a:ea typeface="Microsoft JhengHei"/>
                <a:cs typeface="Microsoft JhengHei"/>
                <a:sym typeface="Microsoft JhengHei"/>
              </a:rPr>
              <a:t>AI 晶片推動先進封裝與博通半導體營收加速</a:t>
            </a:r>
            <a:endParaRPr sz="1800">
              <a:latin typeface="Microsoft JhengHei"/>
              <a:ea typeface="Microsoft JhengHei"/>
              <a:cs typeface="Microsoft JhengHei"/>
              <a:sym typeface="Microsoft JhengHei"/>
            </a:endParaRPr>
          </a:p>
        </p:txBody>
      </p:sp>
      <p:cxnSp>
        <p:nvCxnSpPr>
          <p:cNvPr id="825" name="Google Shape;825;p58"/>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826" name="Google Shape;826;p58"/>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dirty="0">
                <a:solidFill>
                  <a:schemeClr val="dk1"/>
                </a:solidFill>
                <a:latin typeface="Microsoft JhengHei"/>
                <a:ea typeface="Microsoft JhengHei"/>
                <a:cs typeface="Microsoft JhengHei"/>
                <a:sym typeface="Microsoft JhengHei"/>
              </a:rPr>
              <a:t>資料來源：</a:t>
            </a:r>
            <a:r>
              <a:rPr lang="zh-TW" sz="1100" dirty="0">
                <a:solidFill>
                  <a:schemeClr val="dk1"/>
                </a:solidFill>
                <a:latin typeface="Microsoft JhengHei"/>
                <a:ea typeface="Microsoft JhengHei"/>
                <a:cs typeface="Microsoft JhengHei"/>
                <a:sym typeface="Microsoft JhengHei"/>
              </a:rPr>
              <a:t>Morgan Stanley, 慧博</a:t>
            </a:r>
            <a:endParaRPr sz="1100" dirty="0"/>
          </a:p>
        </p:txBody>
      </p:sp>
      <p:sp>
        <p:nvSpPr>
          <p:cNvPr id="827" name="Google Shape;827;p58"/>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22</a:t>
            </a:fld>
            <a:endParaRPr/>
          </a:p>
        </p:txBody>
      </p:sp>
      <p:sp>
        <p:nvSpPr>
          <p:cNvPr id="830" name="Google Shape;830;p58"/>
          <p:cNvSpPr/>
          <p:nvPr/>
        </p:nvSpPr>
        <p:spPr>
          <a:xfrm>
            <a:off x="439691" y="978894"/>
            <a:ext cx="8254200" cy="1247975"/>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31" name="Google Shape;831;p58"/>
          <p:cNvSpPr txBox="1"/>
          <p:nvPr/>
        </p:nvSpPr>
        <p:spPr>
          <a:xfrm>
            <a:off x="439691" y="1033834"/>
            <a:ext cx="8254200" cy="11466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zh-TW" dirty="0">
                <a:solidFill>
                  <a:schemeClr val="dk1"/>
                </a:solidFill>
                <a:latin typeface="Microsoft JhengHei"/>
                <a:ea typeface="Microsoft JhengHei"/>
                <a:cs typeface="Microsoft JhengHei"/>
                <a:sym typeface="Microsoft JhengHei"/>
              </a:rPr>
              <a:t>博通的成功故事，正是 AI 運算需求和先進封裝技術緊密結合的典範。由於來自 Google 3nm TPU v7 的強勁需求，博通 2026 年CoWoS 晶圓預訂量已經從原先的  145k 上修至 205k 片。這充分證明了其訂單充足，並深受 CSP 青睞。</a:t>
            </a:r>
            <a:endParaRPr dirty="0">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r>
              <a:rPr lang="zh-TW" dirty="0">
                <a:solidFill>
                  <a:schemeClr val="dk1"/>
                </a:solidFill>
                <a:latin typeface="Microsoft JhengHei"/>
                <a:ea typeface="Microsoft JhengHei"/>
                <a:cs typeface="Microsoft JhengHei"/>
                <a:sym typeface="Microsoft JhengHei"/>
              </a:rPr>
              <a:t>博通 AI 業務佔其半導體解決方案部門收入的比例，已經從 2019 財年的不到 5%，大幅提升至 2023 財年的約 15%。</a:t>
            </a:r>
            <a:endParaRPr dirty="0">
              <a:solidFill>
                <a:schemeClr val="dk1"/>
              </a:solidFill>
              <a:latin typeface="Microsoft JhengHei"/>
              <a:ea typeface="Microsoft JhengHei"/>
              <a:cs typeface="Microsoft JhengHei"/>
              <a:sym typeface="Microsoft JhengHei"/>
            </a:endParaRPr>
          </a:p>
        </p:txBody>
      </p:sp>
      <p:sp>
        <p:nvSpPr>
          <p:cNvPr id="832" name="Google Shape;832;p58"/>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b="1">
              <a:solidFill>
                <a:srgbClr val="C9B4A5"/>
              </a:solidFill>
              <a:latin typeface="Microsoft JhengHei"/>
              <a:ea typeface="Microsoft JhengHei"/>
              <a:cs typeface="Microsoft JhengHei"/>
              <a:sym typeface="Microsoft JhengHei"/>
            </a:endParaRPr>
          </a:p>
        </p:txBody>
      </p:sp>
      <p:sp>
        <p:nvSpPr>
          <p:cNvPr id="833" name="Google Shape;833;p58"/>
          <p:cNvSpPr/>
          <p:nvPr/>
        </p:nvSpPr>
        <p:spPr>
          <a:xfrm>
            <a:off x="1529297"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FFFFFF"/>
                </a:solidFill>
                <a:latin typeface="Microsoft JhengHei"/>
                <a:ea typeface="Microsoft JhengHei"/>
                <a:cs typeface="Microsoft JhengHei"/>
                <a:sym typeface="Microsoft JhengHei"/>
              </a:rPr>
              <a:t>產業介紹</a:t>
            </a:r>
            <a:endParaRPr b="1">
              <a:solidFill>
                <a:srgbClr val="FFFFFF"/>
              </a:solidFill>
              <a:latin typeface="Microsoft JhengHei"/>
              <a:ea typeface="Microsoft JhengHei"/>
              <a:cs typeface="Microsoft JhengHei"/>
              <a:sym typeface="Microsoft JhengHei"/>
            </a:endParaRPr>
          </a:p>
        </p:txBody>
      </p:sp>
      <p:sp>
        <p:nvSpPr>
          <p:cNvPr id="834" name="Google Shape;834;p58"/>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835" name="Google Shape;835;p58"/>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836" name="Google Shape;836;p58"/>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投資標的</a:t>
            </a:r>
            <a:endParaRPr sz="1100">
              <a:solidFill>
                <a:srgbClr val="C9B4A5"/>
              </a:solidFill>
            </a:endParaRPr>
          </a:p>
        </p:txBody>
      </p:sp>
      <p:sp>
        <p:nvSpPr>
          <p:cNvPr id="837" name="Google Shape;837;p58"/>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838" name="Google Shape;838;p58"/>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產業介紹</a:t>
            </a:r>
            <a:endParaRPr sz="1100" b="1">
              <a:solidFill>
                <a:srgbClr val="C9B4A5"/>
              </a:solidFill>
              <a:latin typeface="Microsoft JhengHei"/>
              <a:ea typeface="Microsoft JhengHei"/>
              <a:cs typeface="Microsoft JhengHei"/>
              <a:sym typeface="Microsoft JhengHei"/>
            </a:endParaRPr>
          </a:p>
        </p:txBody>
      </p:sp>
      <p:sp>
        <p:nvSpPr>
          <p:cNvPr id="839" name="Google Shape;839;p58"/>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840" name="Google Shape;840;p58"/>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841" name="Google Shape;841;p58"/>
          <p:cNvSpPr/>
          <p:nvPr/>
        </p:nvSpPr>
        <p:spPr>
          <a:xfrm>
            <a:off x="305860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chemeClr val="lt1"/>
              </a:solidFill>
            </a:endParaRPr>
          </a:p>
        </p:txBody>
      </p:sp>
      <p:sp>
        <p:nvSpPr>
          <p:cNvPr id="842" name="Google Shape;842;p58"/>
          <p:cNvSpPr/>
          <p:nvPr/>
        </p:nvSpPr>
        <p:spPr>
          <a:xfrm>
            <a:off x="6117184"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chemeClr val="lt1"/>
                </a:solidFill>
                <a:latin typeface="Microsoft JhengHei"/>
                <a:ea typeface="Microsoft JhengHei"/>
                <a:cs typeface="Microsoft JhengHei"/>
                <a:sym typeface="Microsoft JhengHei"/>
              </a:rPr>
              <a:t>投資標的</a:t>
            </a:r>
            <a:endParaRPr b="1">
              <a:solidFill>
                <a:schemeClr val="lt1"/>
              </a:solidFill>
              <a:latin typeface="Microsoft JhengHei"/>
              <a:ea typeface="Microsoft JhengHei"/>
              <a:cs typeface="Microsoft JhengHei"/>
              <a:sym typeface="Microsoft JhengHei"/>
            </a:endParaRPr>
          </a:p>
        </p:txBody>
      </p:sp>
      <p:pic>
        <p:nvPicPr>
          <p:cNvPr id="843" name="Google Shape;843;p58" title="金研2.jpg"/>
          <p:cNvPicPr preferRelativeResize="0"/>
          <p:nvPr/>
        </p:nvPicPr>
        <p:blipFill>
          <a:blip r:embed="rId5">
            <a:alphaModFix/>
          </a:blip>
          <a:stretch>
            <a:fillRect/>
          </a:stretch>
        </p:blipFill>
        <p:spPr>
          <a:xfrm>
            <a:off x="439691" y="2429935"/>
            <a:ext cx="3944100" cy="2323491"/>
          </a:xfrm>
          <a:prstGeom prst="rect">
            <a:avLst/>
          </a:prstGeom>
          <a:noFill/>
          <a:ln>
            <a:noFill/>
          </a:ln>
        </p:spPr>
      </p:pic>
      <p:pic>
        <p:nvPicPr>
          <p:cNvPr id="844" name="Google Shape;844;p58" title="金研9.jpg"/>
          <p:cNvPicPr preferRelativeResize="0"/>
          <p:nvPr/>
        </p:nvPicPr>
        <p:blipFill>
          <a:blip r:embed="rId6">
            <a:alphaModFix/>
          </a:blip>
          <a:stretch>
            <a:fillRect/>
          </a:stretch>
        </p:blipFill>
        <p:spPr>
          <a:xfrm>
            <a:off x="4668471" y="2356225"/>
            <a:ext cx="4025399" cy="2397201"/>
          </a:xfrm>
          <a:prstGeom prst="rect">
            <a:avLst/>
          </a:prstGeom>
          <a:noFill/>
          <a:ln>
            <a:noFill/>
          </a:ln>
        </p:spPr>
      </p:pic>
      <p:sp>
        <p:nvSpPr>
          <p:cNvPr id="828" name="Google Shape;828;p58"/>
          <p:cNvSpPr/>
          <p:nvPr/>
        </p:nvSpPr>
        <p:spPr>
          <a:xfrm>
            <a:off x="439710" y="2338368"/>
            <a:ext cx="3944100" cy="3300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chemeClr val="dk1"/>
                </a:solidFill>
                <a:latin typeface="Microsoft JhengHei"/>
                <a:ea typeface="Microsoft JhengHei"/>
                <a:cs typeface="Microsoft JhengHei"/>
                <a:sym typeface="Microsoft JhengHei"/>
              </a:rPr>
              <a:t>全球 CoWoS 需求的年增長趨勢概況</a:t>
            </a:r>
            <a:endParaRPr sz="1100"/>
          </a:p>
        </p:txBody>
      </p:sp>
      <p:sp>
        <p:nvSpPr>
          <p:cNvPr id="829" name="Google Shape;829;p58"/>
          <p:cNvSpPr/>
          <p:nvPr/>
        </p:nvSpPr>
        <p:spPr>
          <a:xfrm>
            <a:off x="4668491" y="2338368"/>
            <a:ext cx="4025400" cy="330000"/>
          </a:xfrm>
          <a:prstGeom prst="rect">
            <a:avLst/>
          </a:prstGeom>
          <a:solidFill>
            <a:srgbClr val="F1A539"/>
          </a:solid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Font typeface="Arial"/>
              <a:buNone/>
            </a:pPr>
            <a:r>
              <a:rPr lang="zh-TW" b="1">
                <a:solidFill>
                  <a:schemeClr val="dk1"/>
                </a:solidFill>
                <a:latin typeface="Microsoft JhengHei"/>
                <a:ea typeface="Microsoft JhengHei"/>
                <a:cs typeface="Microsoft JhengHei"/>
                <a:sym typeface="Microsoft JhengHei"/>
              </a:rPr>
              <a:t>博通半導體解決方案收入</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pic>
        <p:nvPicPr>
          <p:cNvPr id="850" name="Google Shape;850;p59"/>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851" name="Google Shape;851;p59"/>
          <p:cNvGrpSpPr/>
          <p:nvPr/>
        </p:nvGrpSpPr>
        <p:grpSpPr>
          <a:xfrm>
            <a:off x="242301" y="434035"/>
            <a:ext cx="484808" cy="484808"/>
            <a:chOff x="1628775" y="1381125"/>
            <a:chExt cx="1352700" cy="1352700"/>
          </a:xfrm>
        </p:grpSpPr>
        <p:sp>
          <p:nvSpPr>
            <p:cNvPr id="852" name="Google Shape;852;p59"/>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853" name="Google Shape;853;p59"/>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854" name="Google Shape;854;p59"/>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800" b="1" dirty="0">
                <a:solidFill>
                  <a:schemeClr val="dk1"/>
                </a:solidFill>
                <a:latin typeface="Microsoft JhengHei"/>
                <a:ea typeface="Microsoft JhengHei"/>
                <a:cs typeface="Microsoft JhengHei"/>
                <a:sym typeface="Microsoft JhengHei"/>
              </a:rPr>
              <a:t>博通毛利率分析</a:t>
            </a:r>
            <a:endParaRPr sz="1800" dirty="0">
              <a:latin typeface="Microsoft JhengHei"/>
              <a:ea typeface="Microsoft JhengHei"/>
              <a:cs typeface="Microsoft JhengHei"/>
              <a:sym typeface="Microsoft JhengHei"/>
            </a:endParaRPr>
          </a:p>
        </p:txBody>
      </p:sp>
      <p:cxnSp>
        <p:nvCxnSpPr>
          <p:cNvPr id="855" name="Google Shape;855;p59"/>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856" name="Google Shape;856;p59"/>
          <p:cNvSpPr txBox="1"/>
          <p:nvPr/>
        </p:nvSpPr>
        <p:spPr>
          <a:xfrm>
            <a:off x="272781" y="4884250"/>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a:solidFill>
                  <a:schemeClr val="dk1"/>
                </a:solidFill>
                <a:latin typeface="Microsoft JhengHei"/>
                <a:ea typeface="Microsoft JhengHei"/>
                <a:cs typeface="Microsoft JhengHei"/>
                <a:sym typeface="Microsoft JhengHei"/>
              </a:rPr>
              <a:t>資料來源：財報狗</a:t>
            </a:r>
            <a:endParaRPr sz="1100"/>
          </a:p>
        </p:txBody>
      </p:sp>
      <p:sp>
        <p:nvSpPr>
          <p:cNvPr id="857" name="Google Shape;857;p59"/>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23</a:t>
            </a:fld>
            <a:endParaRPr/>
          </a:p>
        </p:txBody>
      </p:sp>
      <p:sp>
        <p:nvSpPr>
          <p:cNvPr id="858" name="Google Shape;858;p59"/>
          <p:cNvSpPr/>
          <p:nvPr/>
        </p:nvSpPr>
        <p:spPr>
          <a:xfrm>
            <a:off x="439710" y="2338368"/>
            <a:ext cx="3944100" cy="330000"/>
          </a:xfrm>
          <a:prstGeom prst="rect">
            <a:avLst/>
          </a:prstGeom>
          <a:solidFill>
            <a:srgbClr val="F1A63B"/>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sz="1312" b="1">
                <a:solidFill>
                  <a:schemeClr val="dk1"/>
                </a:solidFill>
                <a:latin typeface="Microsoft JhengHei"/>
                <a:ea typeface="Microsoft JhengHei"/>
                <a:cs typeface="Microsoft JhengHei"/>
                <a:sym typeface="Microsoft JhengHei"/>
              </a:rPr>
              <a:t>Broadcom 歷年毛利率數據</a:t>
            </a:r>
            <a:endParaRPr b="1">
              <a:solidFill>
                <a:schemeClr val="dk1"/>
              </a:solidFill>
              <a:latin typeface="Microsoft JhengHei"/>
              <a:ea typeface="Microsoft JhengHei"/>
              <a:cs typeface="Microsoft JhengHei"/>
              <a:sym typeface="Microsoft JhengHei"/>
            </a:endParaRPr>
          </a:p>
        </p:txBody>
      </p:sp>
      <p:sp>
        <p:nvSpPr>
          <p:cNvPr id="859" name="Google Shape;859;p59"/>
          <p:cNvSpPr/>
          <p:nvPr/>
        </p:nvSpPr>
        <p:spPr>
          <a:xfrm>
            <a:off x="4668491" y="2338368"/>
            <a:ext cx="4025400" cy="330000"/>
          </a:xfrm>
          <a:prstGeom prst="rect">
            <a:avLst/>
          </a:prstGeom>
          <a:solidFill>
            <a:srgbClr val="F1A539"/>
          </a:solid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Font typeface="Arial"/>
              <a:buNone/>
            </a:pPr>
            <a:r>
              <a:rPr lang="zh-TW" sz="1267" b="1">
                <a:solidFill>
                  <a:schemeClr val="dk1"/>
                </a:solidFill>
                <a:latin typeface="Microsoft JhengHei"/>
                <a:ea typeface="Microsoft JhengHei"/>
                <a:cs typeface="Microsoft JhengHei"/>
                <a:sym typeface="Microsoft JhengHei"/>
              </a:rPr>
              <a:t>聯發科歷年毛利率數據</a:t>
            </a:r>
            <a:endParaRPr b="1">
              <a:solidFill>
                <a:schemeClr val="dk1"/>
              </a:solidFill>
              <a:latin typeface="Microsoft JhengHei"/>
              <a:ea typeface="Microsoft JhengHei"/>
              <a:cs typeface="Microsoft JhengHei"/>
              <a:sym typeface="Microsoft JhengHei"/>
            </a:endParaRPr>
          </a:p>
        </p:txBody>
      </p:sp>
      <p:sp>
        <p:nvSpPr>
          <p:cNvPr id="860" name="Google Shape;860;p59"/>
          <p:cNvSpPr/>
          <p:nvPr/>
        </p:nvSpPr>
        <p:spPr>
          <a:xfrm>
            <a:off x="439700" y="1089650"/>
            <a:ext cx="8254200" cy="11382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1" name="Google Shape;861;p59"/>
          <p:cNvSpPr txBox="1"/>
          <p:nvPr/>
        </p:nvSpPr>
        <p:spPr>
          <a:xfrm>
            <a:off x="535135" y="1139692"/>
            <a:ext cx="8138400" cy="931200"/>
          </a:xfrm>
          <a:prstGeom prst="rect">
            <a:avLst/>
          </a:prstGeom>
          <a:noFill/>
          <a:ln>
            <a:noFill/>
          </a:ln>
        </p:spPr>
        <p:txBody>
          <a:bodyPr spcFirstLastPara="1" wrap="square" lIns="68575" tIns="34275" rIns="68575" bIns="34275" anchor="t" anchorCtr="0">
            <a:spAutoFit/>
          </a:bodyPr>
          <a:lstStyle/>
          <a:p>
            <a:pPr marL="425450" marR="0" lvl="0" indent="-285750" algn="l" rtl="0">
              <a:spcBef>
                <a:spcPts val="0"/>
              </a:spcBef>
              <a:spcAft>
                <a:spcPts val="0"/>
              </a:spcAft>
              <a:buClr>
                <a:schemeClr val="dk1"/>
              </a:buClr>
              <a:buSzPts val="1400"/>
              <a:buFont typeface="Arial" panose="020B0604020202020204" pitchFamily="34" charset="0"/>
              <a:buChar char="•"/>
            </a:pPr>
            <a:r>
              <a:rPr lang="zh-TW" dirty="0">
                <a:solidFill>
                  <a:schemeClr val="dk1"/>
                </a:solidFill>
                <a:latin typeface="Microsoft JhengHei"/>
                <a:ea typeface="Microsoft JhengHei"/>
                <a:cs typeface="Microsoft JhengHei"/>
                <a:sym typeface="Microsoft JhengHei"/>
              </a:rPr>
              <a:t>博通的最新毛利率高達 67%。相較之下，作為 TPU 競爭者的聯發科的最新毛利率為 49%，儘管已創五季新高，兩者之間仍有約 18 % 的落差。</a:t>
            </a:r>
            <a:endParaRPr dirty="0">
              <a:solidFill>
                <a:schemeClr val="dk1"/>
              </a:solidFill>
              <a:latin typeface="Microsoft JhengHei"/>
              <a:ea typeface="Microsoft JhengHei"/>
              <a:cs typeface="Microsoft JhengHei"/>
              <a:sym typeface="Microsoft JhengHei"/>
            </a:endParaRPr>
          </a:p>
          <a:p>
            <a:pPr marL="425450" marR="0" lvl="0" indent="-285750" algn="l" rtl="0">
              <a:spcBef>
                <a:spcPts val="0"/>
              </a:spcBef>
              <a:spcAft>
                <a:spcPts val="0"/>
              </a:spcAft>
              <a:buClr>
                <a:schemeClr val="dk1"/>
              </a:buClr>
              <a:buSzPts val="1400"/>
              <a:buFont typeface="Arial" panose="020B0604020202020204" pitchFamily="34" charset="0"/>
              <a:buChar char="•"/>
            </a:pPr>
            <a:r>
              <a:rPr lang="zh-TW" dirty="0">
                <a:solidFill>
                  <a:schemeClr val="dk1"/>
                </a:solidFill>
                <a:latin typeface="Microsoft JhengHei"/>
                <a:ea typeface="Microsoft JhengHei"/>
                <a:cs typeface="Microsoft JhengHei"/>
                <a:sym typeface="Microsoft JhengHei"/>
              </a:rPr>
              <a:t>博通之所以能保持近七成的毛利，是因其在極高門檻領域建立的地位：聯發科雖然在 SerDes 技術掌握優勢，但博通憑藉著大量的 IP 儲備及 CoWoS 單量贏得 CSP 廠商信任。</a:t>
            </a:r>
            <a:endParaRPr dirty="0">
              <a:solidFill>
                <a:schemeClr val="dk1"/>
              </a:solidFill>
              <a:latin typeface="Microsoft JhengHei"/>
              <a:ea typeface="Microsoft JhengHei"/>
              <a:cs typeface="Microsoft JhengHei"/>
              <a:sym typeface="Microsoft JhengHei"/>
            </a:endParaRPr>
          </a:p>
        </p:txBody>
      </p:sp>
      <p:sp>
        <p:nvSpPr>
          <p:cNvPr id="862" name="Google Shape;862;p59"/>
          <p:cNvSpPr/>
          <p:nvPr/>
        </p:nvSpPr>
        <p:spPr>
          <a:xfrm>
            <a:off x="6117188"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b="1">
                <a:solidFill>
                  <a:srgbClr val="FFFFFF"/>
                </a:solidFill>
                <a:latin typeface="Microsoft JhengHei"/>
                <a:ea typeface="Microsoft JhengHei"/>
                <a:cs typeface="Microsoft JhengHei"/>
                <a:sym typeface="Microsoft JhengHei"/>
              </a:rPr>
              <a:t>投資標的</a:t>
            </a:r>
            <a:endParaRPr sz="1100"/>
          </a:p>
        </p:txBody>
      </p:sp>
      <p:sp>
        <p:nvSpPr>
          <p:cNvPr id="863" name="Google Shape;863;p59"/>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864" name="Google Shape;864;p59"/>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865" name="Google Shape;865;p59"/>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866" name="Google Shape;866;p59"/>
          <p:cNvSpPr/>
          <p:nvPr/>
        </p:nvSpPr>
        <p:spPr>
          <a:xfrm>
            <a:off x="11"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sp>
        <p:nvSpPr>
          <p:cNvPr id="867" name="Google Shape;867;p59"/>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pic>
        <p:nvPicPr>
          <p:cNvPr id="868" name="Google Shape;868;p59"/>
          <p:cNvPicPr preferRelativeResize="0"/>
          <p:nvPr/>
        </p:nvPicPr>
        <p:blipFill>
          <a:blip r:embed="rId5">
            <a:alphaModFix/>
          </a:blip>
          <a:stretch>
            <a:fillRect/>
          </a:stretch>
        </p:blipFill>
        <p:spPr>
          <a:xfrm>
            <a:off x="439699" y="2668368"/>
            <a:ext cx="3944099" cy="2097035"/>
          </a:xfrm>
          <a:prstGeom prst="rect">
            <a:avLst/>
          </a:prstGeom>
          <a:noFill/>
          <a:ln>
            <a:noFill/>
          </a:ln>
        </p:spPr>
      </p:pic>
      <p:pic>
        <p:nvPicPr>
          <p:cNvPr id="869" name="Google Shape;869;p59"/>
          <p:cNvPicPr preferRelativeResize="0"/>
          <p:nvPr/>
        </p:nvPicPr>
        <p:blipFill>
          <a:blip r:embed="rId6">
            <a:alphaModFix/>
          </a:blip>
          <a:stretch>
            <a:fillRect/>
          </a:stretch>
        </p:blipFill>
        <p:spPr>
          <a:xfrm>
            <a:off x="4668491" y="2668368"/>
            <a:ext cx="4025400" cy="20853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pic>
        <p:nvPicPr>
          <p:cNvPr id="875" name="Google Shape;875;p60"/>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876" name="Google Shape;876;p60"/>
          <p:cNvGrpSpPr/>
          <p:nvPr/>
        </p:nvGrpSpPr>
        <p:grpSpPr>
          <a:xfrm>
            <a:off x="242301" y="434035"/>
            <a:ext cx="484808" cy="484808"/>
            <a:chOff x="1628775" y="1381125"/>
            <a:chExt cx="1352700" cy="1352700"/>
          </a:xfrm>
        </p:grpSpPr>
        <p:sp>
          <p:nvSpPr>
            <p:cNvPr id="877" name="Google Shape;877;p60"/>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878" name="Google Shape;878;p60"/>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879" name="Google Shape;879;p60"/>
          <p:cNvSpPr txBox="1"/>
          <p:nvPr/>
        </p:nvSpPr>
        <p:spPr>
          <a:xfrm>
            <a:off x="828975" y="521000"/>
            <a:ext cx="2718300" cy="9003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SzPts val="1100"/>
              <a:buNone/>
            </a:pPr>
            <a:r>
              <a:rPr lang="zh-TW" sz="1800" b="1">
                <a:solidFill>
                  <a:schemeClr val="dk1"/>
                </a:solidFill>
                <a:latin typeface="Microsoft JhengHei"/>
                <a:ea typeface="Microsoft JhengHei"/>
                <a:cs typeface="Microsoft JhengHei"/>
                <a:sym typeface="Microsoft JhengHei"/>
              </a:rPr>
              <a:t>Broadcom Inc (AVGO)</a:t>
            </a:r>
            <a:endParaRPr sz="1800" b="1">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SzPts val="1100"/>
              <a:buNone/>
            </a:pPr>
            <a:endParaRPr sz="1800" b="1">
              <a:solidFill>
                <a:schemeClr val="dk1"/>
              </a:solidFill>
              <a:latin typeface="Microsoft JhengHei"/>
              <a:ea typeface="Microsoft JhengHei"/>
              <a:cs typeface="Microsoft JhengHei"/>
              <a:sym typeface="Microsoft JhengHei"/>
            </a:endParaRPr>
          </a:p>
          <a:p>
            <a:pPr marL="0" marR="0" lvl="0" indent="0" algn="l" rtl="0">
              <a:spcBef>
                <a:spcPts val="0"/>
              </a:spcBef>
              <a:spcAft>
                <a:spcPts val="0"/>
              </a:spcAft>
              <a:buNone/>
            </a:pPr>
            <a:endParaRPr sz="1800" b="1">
              <a:solidFill>
                <a:schemeClr val="dk1"/>
              </a:solidFill>
              <a:latin typeface="Microsoft JhengHei"/>
              <a:ea typeface="Microsoft JhengHei"/>
              <a:cs typeface="Microsoft JhengHei"/>
              <a:sym typeface="Microsoft JhengHei"/>
            </a:endParaRPr>
          </a:p>
        </p:txBody>
      </p:sp>
      <p:cxnSp>
        <p:nvCxnSpPr>
          <p:cNvPr id="880" name="Google Shape;880;p60"/>
          <p:cNvCxnSpPr/>
          <p:nvPr/>
        </p:nvCxnSpPr>
        <p:spPr>
          <a:xfrm>
            <a:off x="384407" y="4869407"/>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881" name="Google Shape;881;p60"/>
          <p:cNvSpPr txBox="1"/>
          <p:nvPr/>
        </p:nvSpPr>
        <p:spPr>
          <a:xfrm>
            <a:off x="304806" y="4902050"/>
            <a:ext cx="72315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zh-TW" sz="1100" b="1">
                <a:solidFill>
                  <a:schemeClr val="dk1"/>
                </a:solidFill>
                <a:latin typeface="Microsoft JhengHei"/>
                <a:ea typeface="Microsoft JhengHei"/>
                <a:cs typeface="Microsoft JhengHei"/>
                <a:sym typeface="Microsoft JhengHei"/>
              </a:rPr>
              <a:t>資料來源：美股咩角專欄</a:t>
            </a:r>
            <a:endParaRPr sz="1100"/>
          </a:p>
        </p:txBody>
      </p:sp>
      <p:sp>
        <p:nvSpPr>
          <p:cNvPr id="882" name="Google Shape;882;p60"/>
          <p:cNvSpPr txBox="1">
            <a:spLocks noGrp="1"/>
          </p:cNvSpPr>
          <p:nvPr>
            <p:ph type="sldNum" idx="12"/>
          </p:nvPr>
        </p:nvSpPr>
        <p:spPr>
          <a:xfrm>
            <a:off x="6993260" y="4849589"/>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TW"/>
              <a:t>24</a:t>
            </a:fld>
            <a:endParaRPr/>
          </a:p>
        </p:txBody>
      </p:sp>
      <p:sp>
        <p:nvSpPr>
          <p:cNvPr id="883" name="Google Shape;883;p60"/>
          <p:cNvSpPr/>
          <p:nvPr/>
        </p:nvSpPr>
        <p:spPr>
          <a:xfrm>
            <a:off x="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結論</a:t>
            </a:r>
            <a:endParaRPr b="1">
              <a:solidFill>
                <a:srgbClr val="C9B4A5"/>
              </a:solidFill>
              <a:latin typeface="Microsoft JhengHei"/>
              <a:ea typeface="Microsoft JhengHei"/>
              <a:cs typeface="Microsoft JhengHei"/>
              <a:sym typeface="Microsoft JhengHei"/>
            </a:endParaRPr>
          </a:p>
        </p:txBody>
      </p:sp>
      <p:sp>
        <p:nvSpPr>
          <p:cNvPr id="884" name="Google Shape;884;p60"/>
          <p:cNvSpPr/>
          <p:nvPr/>
        </p:nvSpPr>
        <p:spPr>
          <a:xfrm>
            <a:off x="1529297"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產業介紹</a:t>
            </a:r>
            <a:endParaRPr sz="1100">
              <a:solidFill>
                <a:srgbClr val="C9B4A5"/>
              </a:solidFill>
            </a:endParaRPr>
          </a:p>
        </p:txBody>
      </p:sp>
      <p:sp>
        <p:nvSpPr>
          <p:cNvPr id="885" name="Google Shape;885;p60"/>
          <p:cNvSpPr/>
          <p:nvPr/>
        </p:nvSpPr>
        <p:spPr>
          <a:xfrm>
            <a:off x="305859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r>
              <a:rPr lang="zh-TW" b="1">
                <a:solidFill>
                  <a:srgbClr val="C9B4A5"/>
                </a:solidFill>
                <a:latin typeface="Microsoft JhengHei"/>
                <a:ea typeface="Microsoft JhengHei"/>
                <a:cs typeface="Microsoft JhengHei"/>
                <a:sym typeface="Microsoft JhengHei"/>
              </a:rPr>
              <a:t>成長動能</a:t>
            </a:r>
            <a:endParaRPr sz="1100">
              <a:solidFill>
                <a:srgbClr val="C9B4A5"/>
              </a:solidFill>
            </a:endParaRPr>
          </a:p>
        </p:txBody>
      </p:sp>
      <p:sp>
        <p:nvSpPr>
          <p:cNvPr id="886" name="Google Shape;886;p60"/>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zh-TW" b="1">
                <a:solidFill>
                  <a:srgbClr val="C9B4A5"/>
                </a:solidFill>
                <a:latin typeface="Microsoft JhengHei"/>
                <a:ea typeface="Microsoft JhengHei"/>
                <a:cs typeface="Microsoft JhengHei"/>
                <a:sym typeface="Microsoft JhengHei"/>
              </a:rPr>
              <a:t>潛在風險</a:t>
            </a:r>
            <a:endParaRPr sz="1100">
              <a:solidFill>
                <a:srgbClr val="C9B4A5"/>
              </a:solidFill>
            </a:endParaRPr>
          </a:p>
        </p:txBody>
      </p:sp>
      <p:sp>
        <p:nvSpPr>
          <p:cNvPr id="887" name="Google Shape;887;p60"/>
          <p:cNvSpPr/>
          <p:nvPr/>
        </p:nvSpPr>
        <p:spPr>
          <a:xfrm>
            <a:off x="6117186" y="-2"/>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r>
              <a:rPr lang="zh-TW" b="1">
                <a:solidFill>
                  <a:schemeClr val="lt1"/>
                </a:solidFill>
                <a:latin typeface="Microsoft JhengHei"/>
                <a:ea typeface="Microsoft JhengHei"/>
                <a:cs typeface="Microsoft JhengHei"/>
                <a:sym typeface="Microsoft JhengHei"/>
              </a:rPr>
              <a:t>投資標的</a:t>
            </a:r>
            <a:endParaRPr sz="1100">
              <a:solidFill>
                <a:schemeClr val="lt1"/>
              </a:solidFill>
            </a:endParaRPr>
          </a:p>
        </p:txBody>
      </p:sp>
      <p:sp>
        <p:nvSpPr>
          <p:cNvPr id="888" name="Google Shape;888;p60"/>
          <p:cNvSpPr/>
          <p:nvPr/>
        </p:nvSpPr>
        <p:spPr>
          <a:xfrm>
            <a:off x="764648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zh-TW" sz="1400" b="1">
                <a:solidFill>
                  <a:srgbClr val="C9B4A5"/>
                </a:solidFill>
                <a:latin typeface="Microsoft JhengHei"/>
                <a:ea typeface="Microsoft JhengHei"/>
                <a:cs typeface="Microsoft JhengHei"/>
                <a:sym typeface="Microsoft JhengHei"/>
              </a:rPr>
              <a:t>結論</a:t>
            </a:r>
            <a:endParaRPr sz="1100">
              <a:solidFill>
                <a:srgbClr val="C9B4A5"/>
              </a:solidFill>
            </a:endParaRPr>
          </a:p>
        </p:txBody>
      </p:sp>
      <p:graphicFrame>
        <p:nvGraphicFramePr>
          <p:cNvPr id="895" name="Google Shape;895;p60"/>
          <p:cNvGraphicFramePr/>
          <p:nvPr>
            <p:extLst>
              <p:ext uri="{D42A27DB-BD31-4B8C-83A1-F6EECF244321}">
                <p14:modId xmlns:p14="http://schemas.microsoft.com/office/powerpoint/2010/main" val="2060883303"/>
              </p:ext>
            </p:extLst>
          </p:nvPr>
        </p:nvGraphicFramePr>
        <p:xfrm>
          <a:off x="778499" y="982000"/>
          <a:ext cx="7614387" cy="1828680"/>
        </p:xfrm>
        <a:graphic>
          <a:graphicData uri="http://schemas.openxmlformats.org/drawingml/2006/table">
            <a:tbl>
              <a:tblPr>
                <a:noFill/>
                <a:tableStyleId>{B77ADD4D-7306-4690-B546-0812AD84124E}</a:tableStyleId>
              </a:tblPr>
              <a:tblGrid>
                <a:gridCol w="1242161">
                  <a:extLst>
                    <a:ext uri="{9D8B030D-6E8A-4147-A177-3AD203B41FA5}">
                      <a16:colId xmlns:a16="http://schemas.microsoft.com/office/drawing/2014/main" val="20000"/>
                    </a:ext>
                  </a:extLst>
                </a:gridCol>
                <a:gridCol w="6372226">
                  <a:extLst>
                    <a:ext uri="{9D8B030D-6E8A-4147-A177-3AD203B41FA5}">
                      <a16:colId xmlns:a16="http://schemas.microsoft.com/office/drawing/2014/main" val="20001"/>
                    </a:ext>
                  </a:extLst>
                </a:gridCol>
              </a:tblGrid>
              <a:tr h="322225">
                <a:tc gridSpan="2">
                  <a:txBody>
                    <a:bodyPr/>
                    <a:lstStyle/>
                    <a:p>
                      <a:pPr marL="0" lvl="0" indent="0" algn="ctr" rtl="0">
                        <a:spcBef>
                          <a:spcPts val="0"/>
                        </a:spcBef>
                        <a:spcAft>
                          <a:spcPts val="0"/>
                        </a:spcAft>
                        <a:buNone/>
                      </a:pPr>
                      <a:r>
                        <a:rPr lang="zh-TW" sz="1400" b="1" dirty="0">
                          <a:latin typeface="微軟正黑體" panose="020B0604030504040204" pitchFamily="34" charset="-120"/>
                          <a:ea typeface="微軟正黑體" panose="020B0604030504040204" pitchFamily="34" charset="-120"/>
                        </a:rPr>
                        <a:t>競爭優勢</a:t>
                      </a:r>
                      <a:endParaRPr sz="1400" b="1" dirty="0">
                        <a:latin typeface="微軟正黑體" panose="020B0604030504040204" pitchFamily="34" charset="-120"/>
                        <a:ea typeface="微軟正黑體" panose="020B0604030504040204" pitchFamily="34" charset="-120"/>
                      </a:endParaRPr>
                    </a:p>
                  </a:txBody>
                  <a:tcPr marL="91425" marR="91425" marT="91425" marB="91425">
                    <a:solidFill>
                      <a:srgbClr val="F1A539"/>
                    </a:solidFill>
                  </a:tcPr>
                </a:tc>
                <a:tc hMerge="1">
                  <a:txBody>
                    <a:bodyPr/>
                    <a:lstStyle/>
                    <a:p>
                      <a:pPr marL="0" lvl="0" indent="0" algn="ctr" rtl="0">
                        <a:spcBef>
                          <a:spcPts val="0"/>
                        </a:spcBef>
                        <a:spcAft>
                          <a:spcPts val="0"/>
                        </a:spcAft>
                        <a:buNone/>
                      </a:pP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0"/>
                  </a:ext>
                </a:extLst>
              </a:tr>
              <a:tr h="33750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技術</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擁有 SerDes、CPO 等關鍵 IP，主導 AI ASIC 前端設計架構。</a:t>
                      </a:r>
                      <a:endParaRPr sz="110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1"/>
                  </a:ext>
                </a:extLst>
              </a:tr>
              <a:tr h="31575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供應鏈</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與台灣後段設計服務廠（如世芯、創意）協同合作，形成高效率 AI 晶片製造鏈</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2"/>
                  </a:ext>
                </a:extLst>
              </a:tr>
              <a:tr h="33750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客戶綁定能力</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深度合作於 AWS、Meta、Google 等大型 CSP，長期專案穩定。</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商業模式</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以 turnkey 模式（設計到量產統包）強化營收穩定性</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4"/>
                  </a:ext>
                </a:extLst>
              </a:tr>
            </a:tbl>
          </a:graphicData>
        </a:graphic>
      </p:graphicFrame>
      <p:graphicFrame>
        <p:nvGraphicFramePr>
          <p:cNvPr id="896" name="Google Shape;896;p60"/>
          <p:cNvGraphicFramePr/>
          <p:nvPr>
            <p:extLst>
              <p:ext uri="{D42A27DB-BD31-4B8C-83A1-F6EECF244321}">
                <p14:modId xmlns:p14="http://schemas.microsoft.com/office/powerpoint/2010/main" val="651144088"/>
              </p:ext>
            </p:extLst>
          </p:nvPr>
        </p:nvGraphicFramePr>
        <p:xfrm>
          <a:off x="778500" y="2949663"/>
          <a:ext cx="7614386" cy="1859190"/>
        </p:xfrm>
        <a:graphic>
          <a:graphicData uri="http://schemas.openxmlformats.org/drawingml/2006/table">
            <a:tbl>
              <a:tblPr>
                <a:noFill/>
                <a:tableStyleId>{B77ADD4D-7306-4690-B546-0812AD84124E}</a:tableStyleId>
              </a:tblPr>
              <a:tblGrid>
                <a:gridCol w="1443829">
                  <a:extLst>
                    <a:ext uri="{9D8B030D-6E8A-4147-A177-3AD203B41FA5}">
                      <a16:colId xmlns:a16="http://schemas.microsoft.com/office/drawing/2014/main" val="20000"/>
                    </a:ext>
                  </a:extLst>
                </a:gridCol>
                <a:gridCol w="6170557">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zh-TW" sz="1400" b="1" dirty="0">
                          <a:latin typeface="微軟正黑體" panose="020B0604030504040204" pitchFamily="34" charset="-120"/>
                          <a:ea typeface="微軟正黑體" panose="020B0604030504040204" pitchFamily="34" charset="-120"/>
                        </a:rPr>
                        <a:t>潛在風險</a:t>
                      </a:r>
                      <a:endParaRPr sz="1400" b="1" dirty="0">
                        <a:latin typeface="微軟正黑體" panose="020B0604030504040204" pitchFamily="34" charset="-120"/>
                        <a:ea typeface="微軟正黑體" panose="020B0604030504040204" pitchFamily="34" charset="-120"/>
                      </a:endParaRPr>
                    </a:p>
                  </a:txBody>
                  <a:tcPr marL="91425" marR="91425" marT="91425" marB="91425">
                    <a:solidFill>
                      <a:srgbClr val="F1A539"/>
                    </a:solidFill>
                  </a:tcPr>
                </a:tc>
                <a:tc hMerge="1">
                  <a:txBody>
                    <a:bodyPr/>
                    <a:lstStyle/>
                    <a:p>
                      <a:pPr marL="0" lvl="0" indent="0" algn="ctr" rtl="0">
                        <a:spcBef>
                          <a:spcPts val="0"/>
                        </a:spcBef>
                        <a:spcAft>
                          <a:spcPts val="0"/>
                        </a:spcAft>
                        <a:buNone/>
                      </a:pP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市場競爭</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en-US" altLang="zh-TW" sz="1100" dirty="0">
                          <a:latin typeface="微軟正黑體" panose="020B0604030504040204" pitchFamily="34" charset="-120"/>
                          <a:ea typeface="微軟正黑體" panose="020B0604030504040204" pitchFamily="34" charset="-120"/>
                        </a:rPr>
                        <a:t>NVDIA</a:t>
                      </a:r>
                      <a:r>
                        <a:rPr lang="zh-TW" altLang="en-US" sz="1100" dirty="0">
                          <a:latin typeface="微軟正黑體" panose="020B0604030504040204" pitchFamily="34" charset="-120"/>
                          <a:ea typeface="微軟正黑體" panose="020B0604030504040204" pitchFamily="34" charset="-120"/>
                        </a:rPr>
                        <a:t> 壟斷 </a:t>
                      </a:r>
                      <a:r>
                        <a:rPr lang="en-US" altLang="zh-TW" sz="1100" dirty="0">
                          <a:latin typeface="微軟正黑體" panose="020B0604030504040204" pitchFamily="34" charset="-120"/>
                          <a:ea typeface="微軟正黑體" panose="020B0604030504040204" pitchFamily="34" charset="-120"/>
                        </a:rPr>
                        <a:t>AI </a:t>
                      </a:r>
                      <a:r>
                        <a:rPr lang="zh-TW" altLang="en-US" sz="1100" dirty="0">
                          <a:latin typeface="微軟正黑體" panose="020B0604030504040204" pitchFamily="34" charset="-120"/>
                          <a:ea typeface="微軟正黑體" panose="020B0604030504040204" pitchFamily="34" charset="-120"/>
                        </a:rPr>
                        <a:t>晶片訓練，短期內</a:t>
                      </a:r>
                      <a:r>
                        <a:rPr lang="en-US" altLang="zh-TW" sz="1100" dirty="0">
                          <a:latin typeface="微軟正黑體" panose="020B0604030504040204" pitchFamily="34" charset="-120"/>
                          <a:ea typeface="微軟正黑體" panose="020B0604030504040204" pitchFamily="34" charset="-120"/>
                        </a:rPr>
                        <a:t>GPU</a:t>
                      </a:r>
                      <a:r>
                        <a:rPr lang="zh-TW" altLang="en-US" sz="1100" dirty="0">
                          <a:latin typeface="微軟正黑體" panose="020B0604030504040204" pitchFamily="34" charset="-120"/>
                          <a:ea typeface="微軟正黑體" panose="020B0604030504040204" pitchFamily="34" charset="-120"/>
                        </a:rPr>
                        <a:t>替代難度高。</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需求波動</a:t>
                      </a:r>
                      <a:endParaRPr sz="110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若 CSP 資本支出增速放緩，短期成長可能受影響。</a:t>
                      </a:r>
                      <a:endParaRPr sz="110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2"/>
                  </a:ext>
                </a:extLst>
              </a:tr>
              <a:tr h="341825">
                <a:tc>
                  <a:txBody>
                    <a:bodyPr/>
                    <a:lstStyle/>
                    <a:p>
                      <a:pPr marL="0" lvl="0" indent="0" algn="ctr" rtl="0">
                        <a:spcBef>
                          <a:spcPts val="0"/>
                        </a:spcBef>
                        <a:spcAft>
                          <a:spcPts val="0"/>
                        </a:spcAft>
                        <a:buNone/>
                      </a:pPr>
                      <a:r>
                        <a:rPr lang="zh-TW" sz="1100">
                          <a:latin typeface="微軟正黑體" panose="020B0604030504040204" pitchFamily="34" charset="-120"/>
                          <a:ea typeface="微軟正黑體" panose="020B0604030504040204" pitchFamily="34" charset="-120"/>
                        </a:rPr>
                        <a:t>併購整合風險</a:t>
                      </a:r>
                      <a:endParaRPr sz="110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VMware 整合期仍需時間，短期管理複雜度上升。</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地緣政治風險</a:t>
                      </a:r>
                      <a:endParaRPr sz="1100" dirty="0">
                        <a:latin typeface="微軟正黑體" panose="020B0604030504040204" pitchFamily="34" charset="-120"/>
                        <a:ea typeface="微軟正黑體" panose="020B0604030504040204" pitchFamily="34" charset="-120"/>
                      </a:endParaRPr>
                    </a:p>
                  </a:txBody>
                  <a:tcPr marL="91425" marR="91425" marT="91425" marB="91425">
                    <a:solidFill>
                      <a:srgbClr val="FFF6ED"/>
                    </a:solidFill>
                  </a:tcPr>
                </a:tc>
                <a:tc>
                  <a:txBody>
                    <a:bodyPr/>
                    <a:lstStyle/>
                    <a:p>
                      <a:pPr marL="0" lvl="0" indent="0" algn="ctr" rtl="0">
                        <a:spcBef>
                          <a:spcPts val="0"/>
                        </a:spcBef>
                        <a:spcAft>
                          <a:spcPts val="0"/>
                        </a:spcAft>
                        <a:buNone/>
                      </a:pPr>
                      <a:r>
                        <a:rPr lang="zh-TW" sz="1100" dirty="0">
                          <a:latin typeface="微軟正黑體" panose="020B0604030504040204" pitchFamily="34" charset="-120"/>
                          <a:ea typeface="微軟正黑體" panose="020B0604030504040204" pitchFamily="34" charset="-120"/>
                        </a:rPr>
                        <a:t>中美科技管制可能影響供應鏈與客戶布局。</a:t>
                      </a:r>
                      <a:endParaRPr sz="1100" dirty="0">
                        <a:latin typeface="微軟正黑體" panose="020B0604030504040204" pitchFamily="34" charset="-120"/>
                        <a:ea typeface="微軟正黑體" panose="020B0604030504040204" pitchFamily="34" charset="-120"/>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61"/>
          <p:cNvSpPr/>
          <p:nvPr/>
        </p:nvSpPr>
        <p:spPr>
          <a:xfrm>
            <a:off x="6265158" y="1048038"/>
            <a:ext cx="303900" cy="3203100"/>
          </a:xfrm>
          <a:prstGeom prst="roundRect">
            <a:avLst>
              <a:gd name="adj" fmla="val 50000"/>
            </a:avLst>
          </a:prstGeom>
          <a:solidFill>
            <a:srgbClr val="7A6450"/>
          </a:solidFill>
          <a:ln>
            <a:noFill/>
          </a:ln>
          <a:effectLst>
            <a:outerShdw blurRad="241300" dist="38100" sx="102000" sy="102000" algn="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595959"/>
              </a:solidFill>
              <a:latin typeface="Calibri"/>
              <a:ea typeface="Calibri"/>
              <a:cs typeface="Calibri"/>
              <a:sym typeface="Calibri"/>
            </a:endParaRPr>
          </a:p>
        </p:txBody>
      </p:sp>
      <p:sp>
        <p:nvSpPr>
          <p:cNvPr id="905" name="Google Shape;905;p61"/>
          <p:cNvSpPr/>
          <p:nvPr/>
        </p:nvSpPr>
        <p:spPr>
          <a:xfrm>
            <a:off x="58" y="0"/>
            <a:ext cx="5790300" cy="5143500"/>
          </a:xfrm>
          <a:prstGeom prst="rect">
            <a:avLst/>
          </a:prstGeom>
          <a:solidFill>
            <a:srgbClr val="F1A63B"/>
          </a:solidFill>
          <a:ln>
            <a:noFill/>
          </a:ln>
          <a:effectLst>
            <a:outerShdw blurRad="469900" dist="38100" algn="l" rotWithShape="0">
              <a:srgbClr val="000000">
                <a:alpha val="3882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dk1"/>
              </a:solidFill>
              <a:latin typeface="Microsoft JhengHei"/>
              <a:ea typeface="Microsoft JhengHei"/>
              <a:cs typeface="Microsoft JhengHei"/>
              <a:sym typeface="Microsoft JhengHei"/>
            </a:endParaRPr>
          </a:p>
        </p:txBody>
      </p:sp>
      <p:pic>
        <p:nvPicPr>
          <p:cNvPr id="906" name="Google Shape;906;p61"/>
          <p:cNvPicPr preferRelativeResize="0"/>
          <p:nvPr/>
        </p:nvPicPr>
        <p:blipFill rotWithShape="1">
          <a:blip r:embed="rId3">
            <a:alphaModFix/>
          </a:blip>
          <a:srcRect/>
          <a:stretch/>
        </p:blipFill>
        <p:spPr>
          <a:xfrm>
            <a:off x="7646482" y="4902041"/>
            <a:ext cx="1085425" cy="168988"/>
          </a:xfrm>
          <a:prstGeom prst="rect">
            <a:avLst/>
          </a:prstGeom>
          <a:noFill/>
          <a:ln>
            <a:noFill/>
          </a:ln>
        </p:spPr>
      </p:pic>
      <p:sp>
        <p:nvSpPr>
          <p:cNvPr id="907" name="Google Shape;907;p61"/>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US" altLang="zh-TW"/>
              <a:t>25</a:t>
            </a:fld>
            <a:endParaRPr/>
          </a:p>
        </p:txBody>
      </p:sp>
      <p:sp>
        <p:nvSpPr>
          <p:cNvPr id="908" name="Google Shape;908;p61"/>
          <p:cNvSpPr txBox="1"/>
          <p:nvPr/>
        </p:nvSpPr>
        <p:spPr>
          <a:xfrm>
            <a:off x="6862496" y="703162"/>
            <a:ext cx="354900" cy="284700"/>
          </a:xfrm>
          <a:prstGeom prst="rect">
            <a:avLst/>
          </a:prstGeom>
          <a:noFill/>
          <a:ln>
            <a:noFill/>
          </a:ln>
        </p:spPr>
        <p:txBody>
          <a:bodyPr spcFirstLastPara="1" wrap="square" lIns="68575" tIns="34275" rIns="68575" bIns="34275" anchor="t" anchorCtr="0">
            <a:spAutoFit/>
          </a:bodyPr>
          <a:lstStyle/>
          <a:p>
            <a:pPr marL="215900" marR="0" lvl="0" indent="-127000" algn="l" rtl="0">
              <a:spcBef>
                <a:spcPts val="0"/>
              </a:spcBef>
              <a:spcAft>
                <a:spcPts val="0"/>
              </a:spcAft>
              <a:buClr>
                <a:schemeClr val="dk1"/>
              </a:buClr>
              <a:buSzPts val="1400"/>
              <a:buFont typeface="Noto Sans Symbols"/>
              <a:buNone/>
            </a:pPr>
            <a:endParaRPr sz="1400">
              <a:solidFill>
                <a:schemeClr val="dk1"/>
              </a:solidFill>
              <a:latin typeface="Calibri"/>
              <a:ea typeface="Calibri"/>
              <a:cs typeface="Calibri"/>
              <a:sym typeface="Calibri"/>
            </a:endParaRPr>
          </a:p>
        </p:txBody>
      </p:sp>
      <p:sp>
        <p:nvSpPr>
          <p:cNvPr id="909" name="Google Shape;909;p61"/>
          <p:cNvSpPr txBox="1"/>
          <p:nvPr/>
        </p:nvSpPr>
        <p:spPr>
          <a:xfrm>
            <a:off x="7109051" y="967048"/>
            <a:ext cx="1369500" cy="3209400"/>
          </a:xfrm>
          <a:prstGeom prst="rect">
            <a:avLst/>
          </a:prstGeom>
          <a:noFill/>
          <a:ln>
            <a:noFill/>
          </a:ln>
        </p:spPr>
        <p:txBody>
          <a:bodyPr spcFirstLastPara="1" wrap="square" lIns="68575" tIns="34275" rIns="68575" bIns="34275" anchor="t" anchorCtr="0">
            <a:spAutoFit/>
          </a:bodyPr>
          <a:lstStyle/>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產業介紹</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成長動能</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C9B4A5"/>
                </a:solidFill>
                <a:latin typeface="Microsoft JhengHei"/>
                <a:ea typeface="Microsoft JhengHei"/>
                <a:cs typeface="Microsoft JhengHei"/>
                <a:sym typeface="Microsoft JhengHei"/>
              </a:rPr>
              <a:t>潛在風險</a:t>
            </a:r>
            <a:endParaRPr sz="2400" b="1">
              <a:solidFill>
                <a:srgbClr val="C9B4A5"/>
              </a:solidFill>
              <a:latin typeface="Microsoft JhengHei"/>
              <a:ea typeface="Microsoft JhengHei"/>
              <a:cs typeface="Microsoft JhengHei"/>
              <a:sym typeface="Microsoft JhengHei"/>
            </a:endParaRPr>
          </a:p>
          <a:p>
            <a:pPr marL="0" lvl="0" indent="0" algn="l" rtl="0">
              <a:lnSpc>
                <a:spcPct val="187500"/>
              </a:lnSpc>
              <a:spcBef>
                <a:spcPts val="0"/>
              </a:spcBef>
              <a:spcAft>
                <a:spcPts val="0"/>
              </a:spcAft>
              <a:buClr>
                <a:schemeClr val="dk1"/>
              </a:buClr>
              <a:buFont typeface="Arial"/>
              <a:buNone/>
            </a:pPr>
            <a:r>
              <a:rPr lang="zh-TW" sz="2400" b="1">
                <a:solidFill>
                  <a:srgbClr val="C9B4A5"/>
                </a:solidFill>
                <a:latin typeface="Microsoft JhengHei"/>
                <a:ea typeface="Microsoft JhengHei"/>
                <a:cs typeface="Microsoft JhengHei"/>
                <a:sym typeface="Microsoft JhengHei"/>
              </a:rPr>
              <a:t>技術演進</a:t>
            </a:r>
            <a:endParaRPr sz="2400" b="1">
              <a:solidFill>
                <a:srgbClr val="C9B4A5"/>
              </a:solidFill>
              <a:latin typeface="Microsoft JhengHei"/>
              <a:ea typeface="Microsoft JhengHei"/>
              <a:cs typeface="Microsoft JhengHei"/>
              <a:sym typeface="Microsoft JhengHei"/>
            </a:endParaRPr>
          </a:p>
          <a:p>
            <a:pPr marL="0" marR="0" lvl="0" indent="0" algn="l" rtl="0">
              <a:lnSpc>
                <a:spcPct val="187500"/>
              </a:lnSpc>
              <a:spcBef>
                <a:spcPts val="0"/>
              </a:spcBef>
              <a:spcAft>
                <a:spcPts val="0"/>
              </a:spcAft>
              <a:buNone/>
            </a:pPr>
            <a:r>
              <a:rPr lang="zh-TW" sz="2400" b="1">
                <a:solidFill>
                  <a:srgbClr val="422108"/>
                </a:solidFill>
                <a:latin typeface="Microsoft JhengHei"/>
                <a:ea typeface="Microsoft JhengHei"/>
                <a:cs typeface="Microsoft JhengHei"/>
                <a:sym typeface="Microsoft JhengHei"/>
              </a:rPr>
              <a:t>結論</a:t>
            </a:r>
            <a:endParaRPr sz="2400" b="1">
              <a:solidFill>
                <a:srgbClr val="422108"/>
              </a:solidFill>
              <a:latin typeface="Microsoft JhengHei"/>
              <a:ea typeface="Microsoft JhengHei"/>
              <a:cs typeface="Microsoft JhengHei"/>
              <a:sym typeface="Microsoft JhengHei"/>
            </a:endParaRPr>
          </a:p>
        </p:txBody>
      </p:sp>
      <p:sp>
        <p:nvSpPr>
          <p:cNvPr id="910" name="Google Shape;910;p61"/>
          <p:cNvSpPr txBox="1"/>
          <p:nvPr/>
        </p:nvSpPr>
        <p:spPr>
          <a:xfrm>
            <a:off x="1440952" y="2260051"/>
            <a:ext cx="29085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zh-TW" sz="3600" b="1">
                <a:solidFill>
                  <a:srgbClr val="422108"/>
                </a:solidFill>
                <a:latin typeface="Microsoft JhengHei"/>
                <a:ea typeface="Microsoft JhengHei"/>
                <a:cs typeface="Microsoft JhengHei"/>
                <a:sym typeface="Microsoft JhengHei"/>
              </a:rPr>
              <a:t>結論</a:t>
            </a:r>
            <a:endParaRPr sz="3600">
              <a:solidFill>
                <a:srgbClr val="422108"/>
              </a:solidFill>
            </a:endParaRPr>
          </a:p>
        </p:txBody>
      </p:sp>
      <p:sp>
        <p:nvSpPr>
          <p:cNvPr id="911" name="Google Shape;911;p61"/>
          <p:cNvSpPr txBox="1"/>
          <p:nvPr/>
        </p:nvSpPr>
        <p:spPr>
          <a:xfrm>
            <a:off x="3086300" y="2501925"/>
            <a:ext cx="46437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pic>
        <p:nvPicPr>
          <p:cNvPr id="917" name="Google Shape;917;p62"/>
          <p:cNvPicPr preferRelativeResize="0"/>
          <p:nvPr/>
        </p:nvPicPr>
        <p:blipFill rotWithShape="1">
          <a:blip r:embed="rId3">
            <a:alphaModFix/>
          </a:blip>
          <a:srcRect/>
          <a:stretch/>
        </p:blipFill>
        <p:spPr>
          <a:xfrm>
            <a:off x="7646482" y="4902041"/>
            <a:ext cx="1085425" cy="168988"/>
          </a:xfrm>
          <a:prstGeom prst="rect">
            <a:avLst/>
          </a:prstGeom>
          <a:noFill/>
          <a:ln>
            <a:noFill/>
          </a:ln>
        </p:spPr>
      </p:pic>
      <p:grpSp>
        <p:nvGrpSpPr>
          <p:cNvPr id="918" name="Google Shape;918;p62"/>
          <p:cNvGrpSpPr/>
          <p:nvPr/>
        </p:nvGrpSpPr>
        <p:grpSpPr>
          <a:xfrm>
            <a:off x="242301" y="434035"/>
            <a:ext cx="484808" cy="484808"/>
            <a:chOff x="1628775" y="1381125"/>
            <a:chExt cx="1352700" cy="1352700"/>
          </a:xfrm>
        </p:grpSpPr>
        <p:sp>
          <p:nvSpPr>
            <p:cNvPr id="919" name="Google Shape;919;p62"/>
            <p:cNvSpPr/>
            <p:nvPr/>
          </p:nvSpPr>
          <p:spPr>
            <a:xfrm>
              <a:off x="1628775" y="1381125"/>
              <a:ext cx="1352700" cy="1352700"/>
            </a:xfrm>
            <a:prstGeom prst="ellipse">
              <a:avLst/>
            </a:prstGeom>
            <a:solidFill>
              <a:srgbClr val="F1A63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920" name="Google Shape;920;p62"/>
            <p:cNvPicPr preferRelativeResize="0"/>
            <p:nvPr/>
          </p:nvPicPr>
          <p:blipFill rotWithShape="1">
            <a:blip r:embed="rId4">
              <a:alphaModFix/>
            </a:blip>
            <a:srcRect/>
            <a:stretch/>
          </p:blipFill>
          <p:spPr>
            <a:xfrm>
              <a:off x="1760962" y="1929413"/>
              <a:ext cx="1134638" cy="309446"/>
            </a:xfrm>
            <a:prstGeom prst="rect">
              <a:avLst/>
            </a:prstGeom>
            <a:noFill/>
            <a:ln>
              <a:noFill/>
            </a:ln>
          </p:spPr>
        </p:pic>
      </p:grpSp>
      <p:sp>
        <p:nvSpPr>
          <p:cNvPr id="921" name="Google Shape;921;p62"/>
          <p:cNvSpPr txBox="1"/>
          <p:nvPr/>
        </p:nvSpPr>
        <p:spPr>
          <a:xfrm>
            <a:off x="727101" y="503338"/>
            <a:ext cx="79464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1" i="0" u="none" strike="noStrike" cap="none">
                <a:solidFill>
                  <a:srgbClr val="000000"/>
                </a:solidFill>
                <a:latin typeface="Microsoft JhengHei"/>
                <a:ea typeface="Microsoft JhengHei"/>
                <a:cs typeface="Microsoft JhengHei"/>
                <a:sym typeface="Microsoft JhengHei"/>
              </a:rPr>
              <a:t>結論</a:t>
            </a:r>
            <a:endParaRPr sz="1800" b="1" i="0" u="none" strike="noStrike" cap="none">
              <a:solidFill>
                <a:srgbClr val="000000"/>
              </a:solidFill>
              <a:latin typeface="Microsoft JhengHei"/>
              <a:ea typeface="Microsoft JhengHei"/>
              <a:cs typeface="Microsoft JhengHei"/>
              <a:sym typeface="Microsoft JhengHei"/>
            </a:endParaRPr>
          </a:p>
        </p:txBody>
      </p:sp>
      <p:cxnSp>
        <p:nvCxnSpPr>
          <p:cNvPr id="922" name="Google Shape;922;p62"/>
          <p:cNvCxnSpPr/>
          <p:nvPr/>
        </p:nvCxnSpPr>
        <p:spPr>
          <a:xfrm>
            <a:off x="356693" y="4834711"/>
            <a:ext cx="8347500" cy="0"/>
          </a:xfrm>
          <a:prstGeom prst="straightConnector1">
            <a:avLst/>
          </a:prstGeom>
          <a:noFill/>
          <a:ln w="28575" cap="flat" cmpd="sng">
            <a:solidFill>
              <a:srgbClr val="7F7F7F"/>
            </a:solidFill>
            <a:prstDash val="solid"/>
            <a:miter lim="800000"/>
            <a:headEnd type="none" w="sm" len="sm"/>
            <a:tailEnd type="none" w="sm" len="sm"/>
          </a:ln>
        </p:spPr>
      </p:cxnSp>
      <p:sp>
        <p:nvSpPr>
          <p:cNvPr id="923" name="Google Shape;923;p62"/>
          <p:cNvSpPr txBox="1"/>
          <p:nvPr/>
        </p:nvSpPr>
        <p:spPr>
          <a:xfrm>
            <a:off x="272775" y="4884250"/>
            <a:ext cx="62046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zh-TW" sz="1100" b="1" i="0" u="none" strike="noStrike" cap="none">
                <a:solidFill>
                  <a:schemeClr val="dk1"/>
                </a:solidFill>
                <a:latin typeface="Microsoft JhengHei"/>
                <a:ea typeface="Microsoft JhengHei"/>
                <a:cs typeface="Microsoft JhengHei"/>
                <a:sym typeface="Microsoft JhengHei"/>
              </a:rPr>
              <a:t>資料來源：自行整理</a:t>
            </a:r>
            <a:endParaRPr sz="1100" b="0" i="0" u="none" strike="noStrike" cap="none">
              <a:solidFill>
                <a:srgbClr val="000000"/>
              </a:solidFill>
              <a:latin typeface="Arial"/>
              <a:ea typeface="Arial"/>
              <a:cs typeface="Arial"/>
              <a:sym typeface="Arial"/>
            </a:endParaRPr>
          </a:p>
        </p:txBody>
      </p:sp>
      <p:sp>
        <p:nvSpPr>
          <p:cNvPr id="924" name="Google Shape;924;p62"/>
          <p:cNvSpPr txBox="1">
            <a:spLocks noGrp="1"/>
          </p:cNvSpPr>
          <p:nvPr>
            <p:ph type="sldNum" idx="12"/>
          </p:nvPr>
        </p:nvSpPr>
        <p:spPr>
          <a:xfrm>
            <a:off x="6982385" y="482105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26</a:t>
            </a:fld>
            <a:endParaRPr/>
          </a:p>
        </p:txBody>
      </p:sp>
      <p:sp>
        <p:nvSpPr>
          <p:cNvPr id="925" name="Google Shape;925;p62"/>
          <p:cNvSpPr/>
          <p:nvPr/>
        </p:nvSpPr>
        <p:spPr>
          <a:xfrm>
            <a:off x="3058584"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成長動能</a:t>
            </a:r>
            <a:endParaRPr sz="1100" b="0" i="0" u="none" strike="noStrike" cap="none">
              <a:solidFill>
                <a:srgbClr val="C9B4A5"/>
              </a:solidFill>
              <a:latin typeface="Arial"/>
              <a:ea typeface="Arial"/>
              <a:cs typeface="Arial"/>
              <a:sym typeface="Arial"/>
            </a:endParaRPr>
          </a:p>
        </p:txBody>
      </p:sp>
      <p:sp>
        <p:nvSpPr>
          <p:cNvPr id="926" name="Google Shape;926;p62"/>
          <p:cNvSpPr/>
          <p:nvPr/>
        </p:nvSpPr>
        <p:spPr>
          <a:xfrm>
            <a:off x="4587890"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潛在風險</a:t>
            </a:r>
            <a:endParaRPr sz="1100" b="0" i="0" u="none" strike="noStrike" cap="none">
              <a:solidFill>
                <a:srgbClr val="C9B4A5"/>
              </a:solidFill>
              <a:latin typeface="Arial"/>
              <a:ea typeface="Arial"/>
              <a:cs typeface="Arial"/>
              <a:sym typeface="Arial"/>
            </a:endParaRPr>
          </a:p>
        </p:txBody>
      </p:sp>
      <p:sp>
        <p:nvSpPr>
          <p:cNvPr id="927" name="Google Shape;927;p62"/>
          <p:cNvSpPr/>
          <p:nvPr/>
        </p:nvSpPr>
        <p:spPr>
          <a:xfrm>
            <a:off x="6117186"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Microsoft JhengHei"/>
                <a:ea typeface="Microsoft JhengHei"/>
                <a:cs typeface="Microsoft JhengHei"/>
                <a:sym typeface="Microsoft JhengHei"/>
              </a:rPr>
              <a:t>投資標的</a:t>
            </a:r>
            <a:endParaRPr sz="1100" b="0" i="0" u="none" strike="noStrike" cap="none">
              <a:solidFill>
                <a:srgbClr val="C9B4A5"/>
              </a:solidFill>
              <a:latin typeface="Arial"/>
              <a:ea typeface="Arial"/>
              <a:cs typeface="Arial"/>
              <a:sym typeface="Arial"/>
            </a:endParaRPr>
          </a:p>
        </p:txBody>
      </p:sp>
      <p:sp>
        <p:nvSpPr>
          <p:cNvPr id="928" name="Google Shape;928;p62"/>
          <p:cNvSpPr/>
          <p:nvPr/>
        </p:nvSpPr>
        <p:spPr>
          <a:xfrm>
            <a:off x="1529295" y="2136"/>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C9B4A5"/>
                </a:solidFill>
                <a:latin typeface="Arial"/>
                <a:ea typeface="Arial"/>
                <a:cs typeface="Arial"/>
                <a:sym typeface="Arial"/>
              </a:rPr>
              <a:t>產業介紹</a:t>
            </a:r>
            <a:endParaRPr sz="1400" b="1" i="0" u="none" strike="noStrike" cap="none">
              <a:solidFill>
                <a:srgbClr val="C9B4A5"/>
              </a:solidFill>
              <a:latin typeface="Arial"/>
              <a:ea typeface="Arial"/>
              <a:cs typeface="Arial"/>
              <a:sym typeface="Arial"/>
            </a:endParaRPr>
          </a:p>
        </p:txBody>
      </p:sp>
      <p:sp>
        <p:nvSpPr>
          <p:cNvPr id="929" name="Google Shape;929;p62"/>
          <p:cNvSpPr/>
          <p:nvPr/>
        </p:nvSpPr>
        <p:spPr>
          <a:xfrm>
            <a:off x="7646438" y="2123"/>
            <a:ext cx="1492200" cy="330000"/>
          </a:xfrm>
          <a:prstGeom prst="rect">
            <a:avLst/>
          </a:prstGeom>
          <a:solidFill>
            <a:srgbClr val="7A645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sz="1400" b="1" i="0" u="none" strike="noStrike" cap="none">
                <a:solidFill>
                  <a:srgbClr val="FFFFFF"/>
                </a:solidFill>
                <a:latin typeface="Microsoft JhengHei"/>
                <a:ea typeface="Microsoft JhengHei"/>
                <a:cs typeface="Microsoft JhengHei"/>
                <a:sym typeface="Microsoft JhengHei"/>
              </a:rPr>
              <a:t>結論</a:t>
            </a:r>
            <a:endParaRPr sz="1100" b="0" i="0" u="none" strike="noStrike" cap="none">
              <a:solidFill>
                <a:srgbClr val="000000"/>
              </a:solidFill>
              <a:latin typeface="Arial"/>
              <a:ea typeface="Arial"/>
              <a:cs typeface="Arial"/>
              <a:sym typeface="Arial"/>
            </a:endParaRPr>
          </a:p>
        </p:txBody>
      </p:sp>
      <p:sp>
        <p:nvSpPr>
          <p:cNvPr id="930" name="Google Shape;930;p62"/>
          <p:cNvSpPr/>
          <p:nvPr/>
        </p:nvSpPr>
        <p:spPr>
          <a:xfrm>
            <a:off x="-3" y="-2"/>
            <a:ext cx="1492200" cy="330000"/>
          </a:xfrm>
          <a:prstGeom prst="rect">
            <a:avLst/>
          </a:prstGeom>
          <a:solidFill>
            <a:srgbClr val="F5E5D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zh-TW" b="1">
                <a:solidFill>
                  <a:srgbClr val="C9B4A5"/>
                </a:solidFill>
                <a:latin typeface="Microsoft JhengHei"/>
                <a:ea typeface="Microsoft JhengHei"/>
                <a:cs typeface="Microsoft JhengHei"/>
                <a:sym typeface="Microsoft JhengHei"/>
              </a:rPr>
              <a:t>結論</a:t>
            </a:r>
            <a:endParaRPr sz="1100" b="0" i="0" u="none" strike="noStrike" cap="none">
              <a:solidFill>
                <a:srgbClr val="C9B4A5"/>
              </a:solidFill>
              <a:latin typeface="Arial"/>
              <a:ea typeface="Arial"/>
              <a:cs typeface="Arial"/>
              <a:sym typeface="Arial"/>
            </a:endParaRPr>
          </a:p>
        </p:txBody>
      </p:sp>
      <p:grpSp>
        <p:nvGrpSpPr>
          <p:cNvPr id="931" name="Google Shape;931;p62"/>
          <p:cNvGrpSpPr/>
          <p:nvPr/>
        </p:nvGrpSpPr>
        <p:grpSpPr>
          <a:xfrm>
            <a:off x="342674" y="1022878"/>
            <a:ext cx="8389126" cy="3634455"/>
            <a:chOff x="342674" y="1022875"/>
            <a:chExt cx="8389126" cy="3202445"/>
          </a:xfrm>
        </p:grpSpPr>
        <p:sp>
          <p:nvSpPr>
            <p:cNvPr id="932" name="Google Shape;932;p62"/>
            <p:cNvSpPr/>
            <p:nvPr/>
          </p:nvSpPr>
          <p:spPr>
            <a:xfrm>
              <a:off x="356700" y="1296775"/>
              <a:ext cx="8375100" cy="1198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33" name="Google Shape;933;p62"/>
            <p:cNvSpPr/>
            <p:nvPr/>
          </p:nvSpPr>
          <p:spPr>
            <a:xfrm>
              <a:off x="356700" y="1022875"/>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產業介紹</a:t>
              </a:r>
              <a:endParaRPr sz="1400" b="1" i="0" u="none" strike="noStrike" cap="none">
                <a:solidFill>
                  <a:srgbClr val="000000"/>
                </a:solidFill>
                <a:latin typeface="Microsoft JhengHei"/>
                <a:ea typeface="Microsoft JhengHei"/>
                <a:cs typeface="Microsoft JhengHei"/>
                <a:sym typeface="Microsoft JhengHei"/>
              </a:endParaRPr>
            </a:p>
          </p:txBody>
        </p:sp>
        <p:sp>
          <p:nvSpPr>
            <p:cNvPr id="934" name="Google Shape;934;p62"/>
            <p:cNvSpPr/>
            <p:nvPr/>
          </p:nvSpPr>
          <p:spPr>
            <a:xfrm>
              <a:off x="356550" y="2839050"/>
              <a:ext cx="8375100" cy="7386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35" name="Google Shape;935;p62"/>
            <p:cNvSpPr/>
            <p:nvPr/>
          </p:nvSpPr>
          <p:spPr>
            <a:xfrm>
              <a:off x="356700" y="2579950"/>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成長動能</a:t>
              </a:r>
              <a:endParaRPr sz="1400" b="1" i="0" u="none" strike="noStrike" cap="none">
                <a:solidFill>
                  <a:srgbClr val="000000"/>
                </a:solidFill>
                <a:latin typeface="Microsoft JhengHei"/>
                <a:ea typeface="Microsoft JhengHei"/>
                <a:cs typeface="Microsoft JhengHei"/>
                <a:sym typeface="Microsoft JhengHei"/>
              </a:endParaRPr>
            </a:p>
          </p:txBody>
        </p:sp>
        <p:sp>
          <p:nvSpPr>
            <p:cNvPr id="936" name="Google Shape;936;p62"/>
            <p:cNvSpPr txBox="1"/>
            <p:nvPr/>
          </p:nvSpPr>
          <p:spPr>
            <a:xfrm>
              <a:off x="356400" y="1315250"/>
              <a:ext cx="8375100" cy="10104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雲端 AI ASIC 市場持續高速成長，預估2030 年市場規模將達 500 億美元，CAGR 約 25%。</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ASIC 雖在絕對算力和晶片間互聯方面無顯著勝於 GPU ，但 AI ASIC 的可訂製化及成本優勢依舊為其在推論端鞏固市場定位。</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AI ASIC 供應鏈採台美分工，美方掌握前端設計與 IP，台廠專注特定應用與後端整合設計，雙方互補推動產業發展。</a:t>
              </a:r>
              <a:endParaRPr sz="1400" i="0" u="none" strike="noStrike" cap="none">
                <a:solidFill>
                  <a:schemeClr val="dk1"/>
                </a:solidFill>
                <a:latin typeface="Microsoft JhengHei"/>
                <a:ea typeface="Microsoft JhengHei"/>
                <a:cs typeface="Microsoft JhengHei"/>
                <a:sym typeface="Microsoft JhengHei"/>
              </a:endParaRPr>
            </a:p>
          </p:txBody>
        </p:sp>
        <p:sp>
          <p:nvSpPr>
            <p:cNvPr id="937" name="Google Shape;937;p62"/>
            <p:cNvSpPr txBox="1"/>
            <p:nvPr/>
          </p:nvSpPr>
          <p:spPr>
            <a:xfrm>
              <a:off x="356400" y="2845150"/>
              <a:ext cx="8361600" cy="6306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全球 CSP 持續擴張資本支出，自研 ASIC 以維持晶片自主與滿足低成本、高效運算需求。</a:t>
              </a:r>
              <a:endParaRPr sz="1400" i="0" u="none" strike="noStrike" cap="none">
                <a:solidFill>
                  <a:schemeClr val="dk1"/>
                </a:solidFill>
                <a:latin typeface="Microsoft JhengHei"/>
                <a:ea typeface="Microsoft JhengHei"/>
                <a:cs typeface="Microsoft JhengHei"/>
                <a:sym typeface="Microsoft JhengHei"/>
              </a:endParaRPr>
            </a:p>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隨著 AI 應用逐步進入推論階段，晶片設計將更注重成本效益與特定場景優化，呈現客製化、高性價比及區域化趨勢，進一步推動 ASIC 需求成長。</a:t>
              </a:r>
              <a:endParaRPr sz="1400" i="0" u="none" strike="noStrike" cap="none">
                <a:solidFill>
                  <a:schemeClr val="dk1"/>
                </a:solidFill>
                <a:latin typeface="Microsoft JhengHei"/>
                <a:ea typeface="Microsoft JhengHei"/>
                <a:cs typeface="Microsoft JhengHei"/>
                <a:sym typeface="Microsoft JhengHei"/>
              </a:endParaRPr>
            </a:p>
          </p:txBody>
        </p:sp>
        <p:sp>
          <p:nvSpPr>
            <p:cNvPr id="938" name="Google Shape;938;p62"/>
            <p:cNvSpPr/>
            <p:nvPr/>
          </p:nvSpPr>
          <p:spPr>
            <a:xfrm>
              <a:off x="342975" y="3670620"/>
              <a:ext cx="8375100" cy="273900"/>
            </a:xfrm>
            <a:prstGeom prst="rect">
              <a:avLst/>
            </a:prstGeom>
            <a:solidFill>
              <a:srgbClr val="F1A6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zh-TW" sz="1400" b="1" i="0" u="none" strike="noStrike" cap="none">
                  <a:solidFill>
                    <a:srgbClr val="000000"/>
                  </a:solidFill>
                  <a:latin typeface="Microsoft JhengHei"/>
                  <a:ea typeface="Microsoft JhengHei"/>
                  <a:cs typeface="Microsoft JhengHei"/>
                  <a:sym typeface="Microsoft JhengHei"/>
                </a:rPr>
                <a:t>推薦個股</a:t>
              </a:r>
              <a:endParaRPr sz="1400" b="1" i="0" u="none" strike="noStrike" cap="none">
                <a:solidFill>
                  <a:srgbClr val="000000"/>
                </a:solidFill>
                <a:latin typeface="Microsoft JhengHei"/>
                <a:ea typeface="Microsoft JhengHei"/>
                <a:cs typeface="Microsoft JhengHei"/>
                <a:sym typeface="Microsoft JhengHei"/>
              </a:endParaRPr>
            </a:p>
          </p:txBody>
        </p:sp>
        <p:sp>
          <p:nvSpPr>
            <p:cNvPr id="939" name="Google Shape;939;p62"/>
            <p:cNvSpPr/>
            <p:nvPr/>
          </p:nvSpPr>
          <p:spPr>
            <a:xfrm>
              <a:off x="342825" y="3944520"/>
              <a:ext cx="8375100" cy="280800"/>
            </a:xfrm>
            <a:prstGeom prst="rect">
              <a:avLst/>
            </a:prstGeom>
            <a:solidFill>
              <a:srgbClr val="FFF6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40" name="Google Shape;940;p62"/>
            <p:cNvSpPr txBox="1"/>
            <p:nvPr/>
          </p:nvSpPr>
          <p:spPr>
            <a:xfrm>
              <a:off x="342674" y="3937811"/>
              <a:ext cx="5513700" cy="250800"/>
            </a:xfrm>
            <a:prstGeom prst="rect">
              <a:avLst/>
            </a:prstGeom>
            <a:noFill/>
            <a:ln>
              <a:noFill/>
            </a:ln>
          </p:spPr>
          <p:txBody>
            <a:bodyPr spcFirstLastPara="1" wrap="square" lIns="68575" tIns="34275" rIns="68575" bIns="34275" anchor="t" anchorCtr="0">
              <a:spAutoFit/>
            </a:bodyPr>
            <a:lstStyle/>
            <a:p>
              <a:pPr marL="425450" marR="0" lvl="0" indent="-285750" algn="l" rtl="0">
                <a:lnSpc>
                  <a:spcPct val="100000"/>
                </a:lnSpc>
                <a:spcBef>
                  <a:spcPts val="0"/>
                </a:spcBef>
                <a:spcAft>
                  <a:spcPts val="0"/>
                </a:spcAft>
                <a:buClr>
                  <a:schemeClr val="dk1"/>
                </a:buClr>
                <a:buSzPts val="1400"/>
                <a:buFont typeface="Microsoft JhengHei"/>
                <a:buChar char="•"/>
              </a:pPr>
              <a:r>
                <a:rPr lang="zh-TW" sz="1400" i="0" u="none" strike="noStrike" cap="none">
                  <a:solidFill>
                    <a:schemeClr val="dk1"/>
                  </a:solidFill>
                  <a:latin typeface="Microsoft JhengHei"/>
                  <a:ea typeface="Microsoft JhengHei"/>
                  <a:cs typeface="Microsoft JhengHei"/>
                  <a:sym typeface="Microsoft JhengHei"/>
                </a:rPr>
                <a:t>博通( AVGO )</a:t>
              </a:r>
              <a:endParaRPr sz="1400" i="0" u="none" strike="noStrike" cap="none">
                <a:solidFill>
                  <a:schemeClr val="dk1"/>
                </a:solidFill>
                <a:latin typeface="Microsoft JhengHei"/>
                <a:ea typeface="Microsoft JhengHei"/>
                <a:cs typeface="Microsoft JhengHei"/>
                <a:sym typeface="Microsoft JhengHei"/>
              </a:endParaRPr>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4419</Words>
  <Application>Microsoft Office PowerPoint</Application>
  <PresentationFormat>如螢幕大小 (16:9)</PresentationFormat>
  <Paragraphs>589</Paragraphs>
  <Slides>26</Slides>
  <Notes>26</Notes>
  <HiddenSlides>0</HiddenSlides>
  <MMClips>0</MMClips>
  <ScaleCrop>false</ScaleCrop>
  <HeadingPairs>
    <vt:vector size="6" baseType="variant">
      <vt:variant>
        <vt:lpstr>使用字型</vt:lpstr>
      </vt:variant>
      <vt:variant>
        <vt:i4>5</vt:i4>
      </vt:variant>
      <vt:variant>
        <vt:lpstr>佈景主題</vt:lpstr>
      </vt:variant>
      <vt:variant>
        <vt:i4>3</vt:i4>
      </vt:variant>
      <vt:variant>
        <vt:lpstr>投影片標題</vt:lpstr>
      </vt:variant>
      <vt:variant>
        <vt:i4>26</vt:i4>
      </vt:variant>
    </vt:vector>
  </HeadingPairs>
  <TitlesOfParts>
    <vt:vector size="34" baseType="lpstr">
      <vt:lpstr>Noto Sans Symbols</vt:lpstr>
      <vt:lpstr>微軟正黑體</vt:lpstr>
      <vt:lpstr>微軟正黑體</vt:lpstr>
      <vt:lpstr>Arial</vt:lpstr>
      <vt:lpstr>Calibri</vt:lpstr>
      <vt:lpstr>Simple Light</vt:lpstr>
      <vt:lpstr>Office 佈景主題</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方翊倫</cp:lastModifiedBy>
  <cp:revision>1</cp:revision>
  <dcterms:modified xsi:type="dcterms:W3CDTF">2025-11-22T07:24:34Z</dcterms:modified>
</cp:coreProperties>
</file>